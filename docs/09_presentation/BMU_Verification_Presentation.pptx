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verification objective: establish expected behavior and expose defects reproducibly. This is a training verification submission, not a claim of correct RTL. Ask the audience to remember one question: how do we know an output is right?</a:t>
            </a:r>
          </a:p>
          <a:p/>
          <a:p>
            <a:r>
              <a:t>Evidence / source files:</a:t>
            </a:r>
          </a:p>
          <a:p>
            <a:r>
              <a:t>README.md; docs/08_signoff/BMU_Signoff_Report.md</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 roughly 25–30 minutes for the main story. Use the appendix for detailed questions. The cards are internal PowerPoint hyperlinks, active in Slide Show mode.</a:t>
            </a:r>
          </a:p>
          <a:p/>
          <a:p>
            <a:r>
              <a:t>Evidence / source files:</a:t>
            </a:r>
          </a:p>
          <a:p>
            <a:r>
              <a:t>README.md; presentation navigation</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design without listing every mnemonic verbally. There are 17 operation classes; SLT and SLTU share one class. CSR write means selecting write data, not storing a CSR. Ask: what should CPOP of FFFF0000 return? Answer 16; revisit this in the bug discussion.</a:t>
            </a:r>
          </a:p>
          <a:p/>
          <a:p>
            <a:r>
              <a:t>Evidence / source files:</a:t>
            </a:r>
          </a:p>
          <a:p>
            <a:r>
              <a:t>README.md §2; docs/00_spec/BMU_Specification_v1.2.pdf</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requirements before writing stimulus. For MAX, distinguish data semantics from legal controls. Missing SUB should produce error=1 and captured result=0. Timing assumptions are documented separately. Traceability connects the requirement to a test, oracle, coverage target, and evidence.</a:t>
            </a:r>
          </a:p>
          <a:p/>
          <a:p>
            <a:r>
              <a:t>Evidence / source files:</a:t>
            </a:r>
          </a:p>
          <a:p>
            <a:r>
              <a:t>docs/02_test_plan/traceability_matrix.md; docs/03_clarifications_log/spec_clarifications_log.md; tb/packages/bmu_types_package.sv</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Clock period is 10 ns. The driver changes the request at a falling edge. The monitor uses rising-edge input #0 sampling after nonblocking updates, pairing the observed request with its captured output. Reset clears result synchronously; error is live and suppressed during reset. These timing choices follow CLARIF-001.</a:t>
            </a:r>
          </a:p>
          <a:p/>
          <a:p>
            <a:r>
              <a:t>Evidence / source files:</a:t>
            </a:r>
          </a:p>
          <a:p>
            <a:r>
              <a:t>tb/interface/bmu_interface.sv; tb/top/bmu_tb_top.sv; tb/sequences/reset_ops/latency_check_seq.sv</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abstraction of the original RTL. The design combines masked path outputs with bitwise OR, then forces result data to zero on error. The error decoder implements only some required guards. Broader branch/prediction internals are outside the project functional scope. Clock/reset/enable control the final register.</a:t>
            </a:r>
          </a:p>
          <a:p/>
          <a:p>
            <a:r>
              <a:t>Evidence / source files:</a:t>
            </a:r>
          </a:p>
          <a:p>
            <a:r>
              <a:t>rtl/Bit_Manipulation_Unit.sv; rtl/rtl_param.sv</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active agent: sequencer, driver, monitor. The sequence is a transaction producer. The virtual interface bridges classes to static signals. The monitor publishes the same observed transaction to the predictor, actual scoreboard input, and coverage. Predictor output connects to expected scoreboard input. Assertions observe interface signals independently.</a:t>
            </a:r>
          </a:p>
          <a:p/>
          <a:p>
            <a:r>
              <a:t>Evidence / source files:</a:t>
            </a:r>
          </a:p>
          <a:p>
            <a:r>
              <a:t>tb/env/bmu_environment.sv; tb/env/agents/bmu_agent/bmu_agent.sv; tb/top/bmu_tb_top.sv</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audience to choose the expected result and error. The legal control pair is max=1, sub=1. Every unlisted control is zero, CSR read is disabled, scan mode is zero, reset is high. bmu_sequence_item stores randomized request fields and nonrandom observed outputs. Click Continue to move to signal timing.</a:t>
            </a:r>
          </a:p>
          <a:p/>
          <a:p>
            <a:r>
              <a:t>Evidence / source files:</a:t>
            </a:r>
          </a:p>
          <a:p>
            <a:r>
              <a:t>tb/env/agents/bmu_agent/bmu_sequence_item.sv; tb/sequences/smoke/bmu_bug_seq.sv; results/bugs/BMU-BUG-010.txt</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 is a teaching sketch of the UVM handshake, not copied implementation. start_item/finish_item submit the transaction. The driver gets the next item, drives through cb_drv, then acknowledges it. The captured mismatch in the isolated MAX test is at 15 ns. Avoid suggesting item_done means DUT data correctness.</a:t>
            </a:r>
          </a:p>
          <a:p/>
          <a:p>
            <a:r>
              <a:t>Evidence / source files:</a:t>
            </a:r>
          </a:p>
          <a:p>
            <a:r>
              <a:t>tb/env/agents/bmu_agent/driver/bmu_driver.sv; tb/interface/bmu_interface.sv; results/bugs/BMU-BUG-010.txt</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the actual result 10. The reference model predicts signed max 20 from observed inputs and legal controls. Both error outputs are zero, so a guard assertion alone would not catch this data-selection defect. The coverage bin still gets hit. At 15 ns, the retained log records the mismatch. Two total comparisons include the reset sample.</a:t>
            </a:r>
          </a:p>
          <a:p/>
          <a:p>
            <a:r>
              <a:t>Evidence / source files:</a:t>
            </a:r>
          </a:p>
          <a:p>
            <a:r>
              <a:t>results/bugs/BMU-BUG-010.txt; tb/env/reference_model/bmu_reference_model.sv; tb/env/scoreboard/bmu_scoreboard.sv</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865 predictor self-checks pass. They include legal cases, forbidden controls, modes, count boundaries, and reset/hold state. The predictor is independent from RTL datapaths, but classification helpers are shared with functional coverage. Four-state equality exposes X/Z differences; it is not a blanket proof of unknown rejection. Scoreboard checks no stimulus and unmatched queues. Timing tests protect sampling alignment.</a:t>
            </a:r>
          </a:p>
          <a:p/>
          <a:p>
            <a:r>
              <a:t>Evidence / source files:</a:t>
            </a:r>
          </a:p>
          <a:p>
            <a:r>
              <a:t>tb/tests/bmu_model_self_test.sv; tb/env/scoreboard/bmu_checker.sv; tb/env/scoreboard/bmu_scoreboard.sv; results/reports/regression_summary.csv</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directed examples from exhaustive finite sweeps and random exploration. Explain why CTZ zero, high-half CPOP, and SEXT.B bit7 are powerful. Negative requests check error and data behavior. Hold checks must preserve previous result while error remains live. An isolated bug test makes debugging reproducible.</a:t>
            </a:r>
          </a:p>
          <a:p/>
          <a:p>
            <a:r>
              <a:t>Evidence / source files:</a:t>
            </a:r>
          </a:p>
          <a:p>
            <a:r>
              <a:t>tb/sequences; docs/02_test_plan/BMU_Test_Plan.md</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Legal random covers all 17 operation classes and allowed modifiers. Corner random independently picks a and b; pairing the same corner for both would miss important comparisons. Error random selects among ten invalid-request classes; the systematic guard matrix is broader. Seeds use Xcelium -svseed, and actual effective seeds are reported. Repeatability applies to stimulus under the same source/tool/configuration, not byte-identical timestamped logs.</a:t>
            </a:r>
          </a:p>
          <a:p/>
          <a:p>
            <a:r>
              <a:t>Evidence / source files:</a:t>
            </a:r>
          </a:p>
          <a:p>
            <a:r>
              <a:t>tb/sequences/base/random_legal_seq.sv; tb/sequences/base/random_corner_weighted_seq.sv; tb/sequences/error_injection/random_error_seq.sv; regression/configs/full.cfg</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preponed sampling semantics before reading the implication. This exact property uses non-overlapped implication: a low valid sample requires stability at the next sampled edge, consistent with the enabled register. Reset disables this property. The timing sequence separately checks pre-edge behavior. There are 13 properties, including required-control and live-error checks.</a:t>
            </a:r>
          </a:p>
          <a:p/>
          <a:p>
            <a:r>
              <a:t>Evidence / source files:</a:t>
            </a:r>
          </a:p>
          <a:p>
            <a:r>
              <a:t>tb/assertions/bmu_protocol_assertions.sv; tb/sequences/reset_ops/latency_check_seq.sv</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previous question: yes, error is live even while result is held. Functional coverage measures specified scenarios, crosses, and boundaries. Code coverage measures instrumented structures, not requirement correctness. Assertion coverage is distinct from assertion pass/fail. Some covered properties also fail. There is no FSM report. Ask whether 100% functional coverage can coexist with failing tests; answer yes, demonstrated by this project.</a:t>
            </a:r>
          </a:p>
          <a:p/>
          <a:p>
            <a:r>
              <a:t>Evidence / source files:</a:t>
            </a:r>
          </a:p>
          <a:p>
            <a:r>
              <a:t>docs/07_coverage_reports/final_coverage_summary.md; tb/env/coverage/bmu_coverage.sv</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guard matrix mutates forbidden fields one at a time from legal requests, with both valid states, CSR conflicts, and required-modifier removal. SUB plus SLT/MAX can be a legal transition, not automatically a conflict. Closure sweeps all indices and count values. SEXT.B uses all 256 low bytes with upper-bit variation. Coverage exclusions represent impossible classification crosses rather than waived DUT failures. Provenance includes input and log SHA-256 hashes.</a:t>
            </a:r>
          </a:p>
          <a:p/>
          <a:p>
            <a:r>
              <a:t>Evidence / source files:</a:t>
            </a:r>
          </a:p>
          <a:p>
            <a:r>
              <a:t>tb/sequences/smoke/bmu_guard_matrix_seq.sv; tb/sequences/smoke/bmu_coverage_closure_seq.sv; results/reports/run_manifest.json</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 full-regression runs: 3 passing tests are model self-test, OR smoke, timing/reset. The other 23 fail, with zero UVM fatals. Coverage run has 5036 comparisons: 3488 match and 1548 mismatch; 513 native assertion failure messages. Code coverage is cumulative within bmu_tb_top.dut. Expression coverage is only three scored items, not complete condition coverage. Assertion coverage 11/13 is not a pass rate.</a:t>
            </a:r>
          </a:p>
          <a:p/>
          <a:p>
            <a:r>
              <a:t>Evidence / source files:</a:t>
            </a:r>
          </a:p>
          <a:p>
            <a:r>
              <a:t>results/reports/regression_summary.csv; results/reports/dut_coverage.txt; results/reports/assertion_coverage.txt; docs/07_coverage_reports/final_coverage_summary.md</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CPOP FFFF0000 should return 16, but returns 0 because the implementation counts only low 16 bits. Group findings to explain design failure patterns. BUG006 is critical; the others are major. BUG008 is confirmed against the adopted GREV invalid-encoding assumption. BUG004 was withdrawn and its ID is not reused. Appendix gives exact examples.</a:t>
            </a:r>
          </a:p>
          <a:p/>
          <a:p>
            <a:r>
              <a:t>Evidence / source files:</a:t>
            </a:r>
          </a:p>
          <a:p>
            <a:r>
              <a:t>docs/04_bug_reports/BMU_Bug_Log.md; results/bugs</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original RTL assigns bitmanip_minmax_sel_a = ge ^ ap_max. For a=10, b=20: ge=0, ap_max=1, so selector is 1 and chooses a. That is 10 rather than 20. The corrected variant expresses the signed comparison directly. Do not confuse a minimal suspected edit with validated closure of all signed comparisons.</a:t>
            </a:r>
          </a:p>
          <a:p/>
          <a:p>
            <a:r>
              <a:t>Evidence / source files:</a:t>
            </a:r>
          </a:p>
          <a:p>
            <a:r>
              <a:t>rtl/Bit_Manipulation_Unit.sv:396; results/bugs/BMU-BUG-010.txt; docs/04_bug_reports/BMU_Bug_Log.md</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expressions are from the existing exploratory fixed variant. MAX uses an explicit signed comparison, CPOP iterates all 32 bits, PACK and GREV are reassembled correctly, CSR data selection is restored, CTZ scans from low bit with default 32. The fixed variant also has its own guard implementation. Do not claim this variant meets all legal masks or passes current regression: the submitted baseline does not establish that.</a:t>
            </a:r>
          </a:p>
          <a:p/>
          <a:p>
            <a:r>
              <a:t>Evidence / source files:</a:t>
            </a:r>
          </a:p>
          <a:p>
            <a:r>
              <a:t>rtl/Bit_Manipulation_Unit_fix_v1.sv:175–227; sim/filelists/xcelium_fix.f; tb/top/bmu_tb_top_fix_v1.sv</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a counterfactual original-vs-fixed comparison. Keep the original failing test and run the same stimulus on the corrected DUT. Add related signed boundaries, equality, reversed operands and invalid MAX controls. Regress all scoped behavior and investigate any remaining/new failures. Update the bug only with exact source, tool, seed, and evidence. Current project leaves nine original-DUT findings open.</a:t>
            </a:r>
          </a:p>
          <a:p/>
          <a:p>
            <a:r>
              <a:t>Evidence / source files:</a:t>
            </a:r>
          </a:p>
          <a:p>
            <a:r>
              <a:t>docs/04_bug_reports/BMU_Bug_Log.md; docs/08_signoff/BMU_Signoff_Report.md</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the real achievement: an executable verification method and nine isolated findings. Functional coverage closure applies to defined bins only. Remaining risks: timing/scan, unsupported GREV encoding, pure CSR interpretation, incomplete toggle coverage, excluded operations, and no validated fixed-DUT baseline. Invite questions; click a reference card to jump into the appendix.</a:t>
            </a:r>
          </a:p>
          <a:p/>
          <a:p>
            <a:r>
              <a:t>Evidence / source files:</a:t>
            </a:r>
          </a:p>
          <a:p>
            <a:r>
              <a:t>docs/08_signoff/BMU_Signoff_Report.md; docs/03_clarifications_log/spec_clarifications_log.md</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as a quick reference, not a slide to read aloud. SLT signedness is a mode within one operation class. The project excludes standalone unspecified operation behavior while testing those control bits as forbidden companions.</a:t>
            </a:r>
          </a:p>
          <a:p/>
          <a:p>
            <a:r>
              <a:t>Evidence / source files:</a:t>
            </a:r>
          </a:p>
          <a:p>
            <a:r>
              <a:t>README.md §2; docs/00_spec/BMU_Specification_v1.2.pdf</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BUG003 has both mode directions in the evidence. BUG005 is the valid encoding and is distinct from invalid GREV guard BUG008. Each file results/bugs/BMU-BUG-NNN.txt includes command, source log hash, exact mismatch and UVM totals.</a:t>
            </a:r>
          </a:p>
          <a:p/>
          <a:p>
            <a:r>
              <a:t>Evidence / source files:</a:t>
            </a:r>
          </a:p>
          <a:p>
            <a:r>
              <a:t>results/bugs/BMU-BUG-001.txt; results/bugs/BMU-BUG-002.txt; results/bugs/BMU-BUG-003.txt; results/bugs/BMU-BUG-005.txt; results/bugs/BMU-BUG-009.txt; results/bugs/BMU-BUG-010.txt</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BUG006 empty control example result remains zero but error is incorrectly zero; broad matrix finds additional missing guard paths. BUG007 SLT without SUB uses a=FFFFFFFF,b=1; MAX without SUB uses 10,20 and returns20 with no error. BUG008 uses b=5 and expected invalid rejection per CLARIF004. Three assumption-tagged items are not design-team confirmations.</a:t>
            </a:r>
          </a:p>
          <a:p/>
          <a:p>
            <a:r>
              <a:t>Evidence / source files:</a:t>
            </a:r>
          </a:p>
          <a:p>
            <a:r>
              <a:t>results/bugs/BMU-BUG-006.txt; results/bugs/BMU-BUG-007.txt; results/bugs/BMU-BUG-008.txt; docs/03_clarifications_log/spec_clarifications_log.md</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 all 13 actual property names for technical questions. valid_result_is_registered checks a known result, not complete capture timing; directed timing tests cover the latter. Coverage cross exclusions remove impossible classification pairs, not DUT failures. No code refinement exclusions or complete reachability proof were applied.</a:t>
            </a:r>
          </a:p>
          <a:p/>
          <a:p>
            <a:r>
              <a:t>Evidence / source files:</a:t>
            </a:r>
          </a:p>
          <a:p>
            <a:r>
              <a:t>tb/assertions/bmu_protocol_assertions.sv; tb/env/coverage/bmu_coverage.sv; docs/07_coverage_reports/coverage_waivers.md</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regression and isolated bug tests return nonzero on the original DUT. Run IMC separately after simulation, not chained with &amp;&amp;. The IMC script loads the seed4 coverage database. Focused regression rewrites local summary/manifest; preserve baseline evidence before recording new measurements. Makefile supports Xcelium; VCS/Questa are not supported.</a:t>
            </a:r>
          </a:p>
          <a:p/>
          <a:p>
            <a:r>
              <a:t>Evidence / source files:</a:t>
            </a:r>
          </a:p>
          <a:p>
            <a:r>
              <a:t>sim/Makefile; sim/scripts/report_coverage.tcl; regression/configs/full.cfg; README.md §10</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the audience to the retained compact evidence rather than untracked generated databases. Raw logs, coverage DB and waveforms are regenerated locally. The run manifest records hashes of measured verification sources and logs. The README and presentation can evolve without implying that the simulation baseline was rerun.</a:t>
            </a:r>
          </a:p>
          <a:p/>
          <a:p>
            <a:r>
              <a:t>Evidence / source files:</a:t>
            </a:r>
          </a:p>
          <a:p>
            <a:r>
              <a:t>README.md; docs/README.md; results/reports/run_manifest.json</a:t>
            </a:r>
          </a:p>
          <a:p/>
          <a:p>
            <a:r>
              <a:t>Presentation note: slides 1–22 form the main talk. Slides 23–28 are reference material. Use MENU to return to the clickable agenda. All measurements describe the original DUT unless explicitly labelled exploratory.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 Id="rId7" Type="http://schemas.openxmlformats.org/officeDocument/2006/relationships/slide" Target="slide15.xml"/><Relationship Id="rId8" Type="http://schemas.openxmlformats.org/officeDocument/2006/relationships/slide" Target="slide20.xml"/><Relationship Id="rId9" Type="http://schemas.openxmlformats.org/officeDocument/2006/relationships/slide" Target="slide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slide" Target="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slide" Target="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slide" Target="slide2.xml"/><Relationship Id="rId4" Type="http://schemas.openxmlformats.org/officeDocument/2006/relationships/slide" Target="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slide" Target="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slide" Target="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slide" Target="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slide" Target="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slide" Target="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slide" Target="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slide" Target="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slide" Target="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slide" Target="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slide" Target="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slide" Target="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slide" Target="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slide" Target="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slide" Target="slid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slide" Target="slid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slide" Target="slide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slide" Target="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BMU VERIFICATION PROJECT</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From specification to bug evidence</a:t>
            </a:r>
          </a:p>
        </p:txBody>
      </p:sp>
      <p:sp>
        <p:nvSpPr>
          <p:cNvPr id="5" name="TextBox 4"/>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6" name="TextBox 5">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7" name="TextBox 6"/>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01</a:t>
            </a:r>
          </a:p>
        </p:txBody>
      </p:sp>
      <p:sp>
        <p:nvSpPr>
          <p:cNvPr id="8" name="TextBox 7"/>
          <p:cNvSpPr txBox="1"/>
          <p:nvPr/>
        </p:nvSpPr>
        <p:spPr>
          <a:xfrm>
            <a:off x="594360" y="1828800"/>
            <a:ext cx="6400800" cy="1508760"/>
          </a:xfrm>
          <a:prstGeom prst="rect">
            <a:avLst/>
          </a:prstGeom>
          <a:noFill/>
        </p:spPr>
        <p:txBody>
          <a:bodyPr wrap="square" lIns="0" rIns="0" tIns="18288" bIns="0">
            <a:spAutoFit/>
          </a:bodyPr>
          <a:lstStyle/>
          <a:p>
            <a:pPr algn="l">
              <a:lnSpc>
                <a:spcPct val="110000"/>
              </a:lnSpc>
              <a:spcBef>
                <a:spcPts val="0"/>
              </a:spcBef>
              <a:spcAft>
                <a:spcPts val="500"/>
              </a:spcAft>
              <a:defRPr sz="3200" b="1">
                <a:solidFill>
                  <a:srgbClr val="20334E"/>
                </a:solidFill>
                <a:latin typeface="Aptos"/>
              </a:defRPr>
            </a:pPr>
            <a:r>
              <a:t>A 32-bit BMU.</a:t>
            </a:r>
          </a:p>
          <a:p>
            <a:pPr algn="l">
              <a:lnSpc>
                <a:spcPct val="110000"/>
              </a:lnSpc>
              <a:spcBef>
                <a:spcPts val="0"/>
              </a:spcBef>
              <a:spcAft>
                <a:spcPts val="500"/>
              </a:spcAft>
              <a:defRPr sz="3200" b="1">
                <a:solidFill>
                  <a:srgbClr val="20334E"/>
                </a:solidFill>
                <a:latin typeface="Aptos"/>
              </a:defRPr>
            </a:pPr>
            <a:r>
              <a:t>A complete verification story.</a:t>
            </a:r>
          </a:p>
        </p:txBody>
      </p:sp>
      <p:sp>
        <p:nvSpPr>
          <p:cNvPr id="9" name="TextBox 8"/>
          <p:cNvSpPr txBox="1"/>
          <p:nvPr/>
        </p:nvSpPr>
        <p:spPr>
          <a:xfrm>
            <a:off x="594360" y="3611880"/>
            <a:ext cx="6309360" cy="914400"/>
          </a:xfrm>
          <a:prstGeom prst="rect">
            <a:avLst/>
          </a:prstGeom>
          <a:noFill/>
        </p:spPr>
        <p:txBody>
          <a:bodyPr wrap="square" lIns="0" rIns="0" tIns="18288" bIns="0">
            <a:spAutoFit/>
          </a:bodyPr>
          <a:lstStyle/>
          <a:p>
            <a:pPr algn="l">
              <a:lnSpc>
                <a:spcPct val="110000"/>
              </a:lnSpc>
              <a:spcBef>
                <a:spcPts val="0"/>
              </a:spcBef>
              <a:spcAft>
                <a:spcPts val="500"/>
              </a:spcAft>
              <a:defRPr sz="1750" b="0">
                <a:solidFill>
                  <a:srgbClr val="586B82"/>
                </a:solidFill>
                <a:latin typeface="Aptos"/>
              </a:defRPr>
            </a:pPr>
            <a:r>
              <a:t>SystemVerilog + UVM</a:t>
            </a:r>
          </a:p>
          <a:p>
            <a:pPr algn="l">
              <a:lnSpc>
                <a:spcPct val="110000"/>
              </a:lnSpc>
              <a:spcBef>
                <a:spcPts val="0"/>
              </a:spcBef>
              <a:spcAft>
                <a:spcPts val="500"/>
              </a:spcAft>
              <a:defRPr sz="1750" b="0">
                <a:solidFill>
                  <a:srgbClr val="586B82"/>
                </a:solidFill>
                <a:latin typeface="Aptos"/>
              </a:defRPr>
            </a:pPr>
            <a:r>
              <a:t>Directed + random testing</a:t>
            </a:r>
          </a:p>
          <a:p>
            <a:pPr algn="l">
              <a:lnSpc>
                <a:spcPct val="110000"/>
              </a:lnSpc>
              <a:spcBef>
                <a:spcPts val="0"/>
              </a:spcBef>
              <a:spcAft>
                <a:spcPts val="500"/>
              </a:spcAft>
              <a:defRPr sz="1750" b="0">
                <a:solidFill>
                  <a:srgbClr val="586B82"/>
                </a:solidFill>
                <a:latin typeface="Aptos"/>
              </a:defRPr>
            </a:pPr>
            <a:r>
              <a:t>Assertions + coverage</a:t>
            </a:r>
          </a:p>
        </p:txBody>
      </p:sp>
      <p:sp>
        <p:nvSpPr>
          <p:cNvPr id="10" name="Rounded Rectangle 9"/>
          <p:cNvSpPr/>
          <p:nvPr/>
        </p:nvSpPr>
        <p:spPr>
          <a:xfrm>
            <a:off x="7452360" y="1810512"/>
            <a:ext cx="4096512" cy="1060704"/>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1810512"/>
            <a:ext cx="50292" cy="1060704"/>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35240" y="1901952"/>
            <a:ext cx="3730752" cy="393192"/>
          </a:xfrm>
          <a:prstGeom prst="rect">
            <a:avLst/>
          </a:prstGeom>
          <a:noFill/>
        </p:spPr>
        <p:txBody>
          <a:bodyPr wrap="square" lIns="0" rIns="0" tIns="18288" bIns="0">
            <a:spAutoFit/>
          </a:bodyPr>
          <a:lstStyle/>
          <a:p>
            <a:pPr algn="l">
              <a:lnSpc>
                <a:spcPct val="110000"/>
              </a:lnSpc>
              <a:spcBef>
                <a:spcPts val="0"/>
              </a:spcBef>
              <a:spcAft>
                <a:spcPts val="500"/>
              </a:spcAft>
              <a:defRPr sz="2500" b="1">
                <a:solidFill>
                  <a:srgbClr val="2563B7"/>
                </a:solidFill>
                <a:latin typeface="Aptos"/>
              </a:defRPr>
            </a:pPr>
            <a:r>
              <a:t>17</a:t>
            </a:r>
          </a:p>
        </p:txBody>
      </p:sp>
      <p:sp>
        <p:nvSpPr>
          <p:cNvPr id="13" name="TextBox 12"/>
          <p:cNvSpPr txBox="1"/>
          <p:nvPr/>
        </p:nvSpPr>
        <p:spPr>
          <a:xfrm>
            <a:off x="7635240" y="2368296"/>
            <a:ext cx="3730752" cy="475487"/>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operation classes</a:t>
            </a:r>
          </a:p>
        </p:txBody>
      </p:sp>
      <p:sp>
        <p:nvSpPr>
          <p:cNvPr id="14" name="Rounded Rectangle 13"/>
          <p:cNvSpPr/>
          <p:nvPr/>
        </p:nvSpPr>
        <p:spPr>
          <a:xfrm>
            <a:off x="7452360" y="3044952"/>
            <a:ext cx="4096512" cy="1060704"/>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3044952"/>
            <a:ext cx="50292" cy="1060704"/>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35240" y="3136392"/>
            <a:ext cx="3730752" cy="393192"/>
          </a:xfrm>
          <a:prstGeom prst="rect">
            <a:avLst/>
          </a:prstGeom>
          <a:noFill/>
        </p:spPr>
        <p:txBody>
          <a:bodyPr wrap="square" lIns="0" rIns="0" tIns="18288" bIns="0">
            <a:spAutoFit/>
          </a:bodyPr>
          <a:lstStyle/>
          <a:p>
            <a:pPr algn="l">
              <a:lnSpc>
                <a:spcPct val="110000"/>
              </a:lnSpc>
              <a:spcBef>
                <a:spcPts val="0"/>
              </a:spcBef>
              <a:spcAft>
                <a:spcPts val="500"/>
              </a:spcAft>
              <a:defRPr sz="2500" b="1">
                <a:solidFill>
                  <a:srgbClr val="087F83"/>
                </a:solidFill>
                <a:latin typeface="Aptos"/>
              </a:defRPr>
            </a:pPr>
            <a:r>
              <a:t>562</a:t>
            </a:r>
          </a:p>
        </p:txBody>
      </p:sp>
      <p:sp>
        <p:nvSpPr>
          <p:cNvPr id="17" name="TextBox 16"/>
          <p:cNvSpPr txBox="1"/>
          <p:nvPr/>
        </p:nvSpPr>
        <p:spPr>
          <a:xfrm>
            <a:off x="7635240" y="3602736"/>
            <a:ext cx="3730752" cy="475487"/>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functional bins hit</a:t>
            </a:r>
          </a:p>
        </p:txBody>
      </p:sp>
      <p:sp>
        <p:nvSpPr>
          <p:cNvPr id="18" name="Rounded Rectangle 17"/>
          <p:cNvSpPr/>
          <p:nvPr/>
        </p:nvSpPr>
        <p:spPr>
          <a:xfrm>
            <a:off x="7452360" y="4279392"/>
            <a:ext cx="4096512" cy="1060704"/>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52360" y="4279392"/>
            <a:ext cx="50292" cy="1060704"/>
          </a:xfrm>
          <a:prstGeom prst="rect">
            <a:avLst/>
          </a:prstGeom>
          <a:solidFill>
            <a:srgbClr val="C6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35240" y="4370831"/>
            <a:ext cx="3730752" cy="393192"/>
          </a:xfrm>
          <a:prstGeom prst="rect">
            <a:avLst/>
          </a:prstGeom>
          <a:noFill/>
        </p:spPr>
        <p:txBody>
          <a:bodyPr wrap="square" lIns="0" rIns="0" tIns="18288" bIns="0">
            <a:spAutoFit/>
          </a:bodyPr>
          <a:lstStyle/>
          <a:p>
            <a:pPr algn="l">
              <a:lnSpc>
                <a:spcPct val="110000"/>
              </a:lnSpc>
              <a:spcBef>
                <a:spcPts val="0"/>
              </a:spcBef>
              <a:spcAft>
                <a:spcPts val="500"/>
              </a:spcAft>
              <a:defRPr sz="2500" b="1">
                <a:solidFill>
                  <a:srgbClr val="C66A20"/>
                </a:solidFill>
                <a:latin typeface="Aptos"/>
              </a:defRPr>
            </a:pPr>
            <a:r>
              <a:t>9</a:t>
            </a:r>
          </a:p>
        </p:txBody>
      </p:sp>
      <p:sp>
        <p:nvSpPr>
          <p:cNvPr id="21" name="TextBox 20"/>
          <p:cNvSpPr txBox="1"/>
          <p:nvPr/>
        </p:nvSpPr>
        <p:spPr>
          <a:xfrm>
            <a:off x="7635240" y="4837176"/>
            <a:ext cx="3730752" cy="475487"/>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open DUT findings</a:t>
            </a:r>
          </a:p>
        </p:txBody>
      </p:sp>
      <p:sp>
        <p:nvSpPr>
          <p:cNvPr id="22" name="TextBox 21"/>
          <p:cNvSpPr txBox="1"/>
          <p:nvPr/>
        </p:nvSpPr>
        <p:spPr>
          <a:xfrm>
            <a:off x="594360" y="4910328"/>
            <a:ext cx="6172200" cy="530352"/>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087F83"/>
                </a:solidFill>
                <a:latin typeface="Aptos"/>
              </a:defRPr>
            </a:pPr>
            <a:r>
              <a:t>Original RTL. Reproducible failures.</a:t>
            </a:r>
          </a:p>
        </p:txBody>
      </p:sp>
      <p:sp>
        <p:nvSpPr>
          <p:cNvPr id="23" name="Rounded Rectangle 22"/>
          <p:cNvSpPr/>
          <p:nvPr/>
        </p:nvSpPr>
        <p:spPr>
          <a:xfrm>
            <a:off x="502920" y="5797296"/>
            <a:ext cx="11183112" cy="48463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2563B7"/>
                </a:solidFill>
                <a:latin typeface="Aptos"/>
              </a:defRPr>
            </a:pPr>
            <a:r>
              <a:t>Follow one MAX request from sequence creation to root-cause evidence.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INTERACTIVE AGENDA</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The route through the project</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Click a section to jump there. Use MENU on any slide to return.</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02</a:t>
            </a:r>
          </a:p>
        </p:txBody>
      </p:sp>
      <p:sp>
        <p:nvSpPr>
          <p:cNvPr id="9" name="Rounded Rectangle 8">
            <a:hlinkClick action="ppaction://hlinksldjump" r:id="rId4"/>
          </p:cNvPr>
          <p:cNvSpPr/>
          <p:nvPr/>
        </p:nvSpPr>
        <p:spPr>
          <a:xfrm>
            <a:off x="502920" y="2011680"/>
            <a:ext cx="3593592" cy="144475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hlinkClick action="ppaction://hlinksldjump" r:id="rId4"/>
          </p:cNvPr>
          <p:cNvSpPr/>
          <p:nvPr/>
        </p:nvSpPr>
        <p:spPr>
          <a:xfrm>
            <a:off x="502920" y="2011680"/>
            <a:ext cx="50292" cy="1444752"/>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4"/>
          </p:cNvPr>
          <p:cNvSpPr txBox="1"/>
          <p:nvPr/>
        </p:nvSpPr>
        <p:spPr>
          <a:xfrm>
            <a:off x="685800" y="2148840"/>
            <a:ext cx="3227832"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2563B7"/>
                </a:solidFill>
                <a:latin typeface="Aptos"/>
              </a:defRPr>
            </a:pPr>
            <a:r>
              <a:t>01  Understand</a:t>
            </a:r>
          </a:p>
        </p:txBody>
      </p:sp>
      <p:sp>
        <p:nvSpPr>
          <p:cNvPr id="12" name="TextBox 11">
            <a:hlinkClick action="ppaction://hlinksldjump" r:id="rId4"/>
          </p:cNvPr>
          <p:cNvSpPr txBox="1"/>
          <p:nvPr/>
        </p:nvSpPr>
        <p:spPr>
          <a:xfrm>
            <a:off x="685800" y="2724912"/>
            <a:ext cx="3227832" cy="65836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Specification, controls, timing, DUT</a:t>
            </a:r>
          </a:p>
        </p:txBody>
      </p:sp>
      <p:sp>
        <p:nvSpPr>
          <p:cNvPr id="13" name="Rounded Rectangle 12">
            <a:hlinkClick action="ppaction://hlinksldjump" r:id="rId5"/>
          </p:cNvPr>
          <p:cNvSpPr/>
          <p:nvPr/>
        </p:nvSpPr>
        <p:spPr>
          <a:xfrm>
            <a:off x="4297680" y="2011680"/>
            <a:ext cx="3593592" cy="1444752"/>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a:hlinkClick action="ppaction://hlinksldjump" r:id="rId5"/>
          </p:cNvPr>
          <p:cNvSpPr/>
          <p:nvPr/>
        </p:nvSpPr>
        <p:spPr>
          <a:xfrm>
            <a:off x="4297680" y="2011680"/>
            <a:ext cx="50292" cy="1444752"/>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5"/>
          </p:cNvPr>
          <p:cNvSpPr txBox="1"/>
          <p:nvPr/>
        </p:nvSpPr>
        <p:spPr>
          <a:xfrm>
            <a:off x="4480560" y="2148840"/>
            <a:ext cx="3227832"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7352AD"/>
                </a:solidFill>
                <a:latin typeface="Aptos"/>
              </a:defRPr>
            </a:pPr>
            <a:r>
              <a:t>02  Follow a request</a:t>
            </a:r>
          </a:p>
        </p:txBody>
      </p:sp>
      <p:sp>
        <p:nvSpPr>
          <p:cNvPr id="16" name="TextBox 15">
            <a:hlinkClick action="ppaction://hlinksldjump" r:id="rId5"/>
          </p:cNvPr>
          <p:cNvSpPr txBox="1"/>
          <p:nvPr/>
        </p:nvSpPr>
        <p:spPr>
          <a:xfrm>
            <a:off x="4480560" y="2724912"/>
            <a:ext cx="3227832" cy="65836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Environment and MAX transaction</a:t>
            </a:r>
          </a:p>
        </p:txBody>
      </p:sp>
      <p:sp>
        <p:nvSpPr>
          <p:cNvPr id="17" name="Rounded Rectangle 16">
            <a:hlinkClick action="ppaction://hlinksldjump" r:id="rId6"/>
          </p:cNvPr>
          <p:cNvSpPr/>
          <p:nvPr/>
        </p:nvSpPr>
        <p:spPr>
          <a:xfrm>
            <a:off x="8092440" y="2011680"/>
            <a:ext cx="3593592" cy="1444752"/>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a:hlinkClick action="ppaction://hlinksldjump" r:id="rId6"/>
          </p:cNvPr>
          <p:cNvSpPr/>
          <p:nvPr/>
        </p:nvSpPr>
        <p:spPr>
          <a:xfrm>
            <a:off x="8092440" y="2011680"/>
            <a:ext cx="50292" cy="1444752"/>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hlinkClick action="ppaction://hlinksldjump" r:id="rId6"/>
          </p:cNvPr>
          <p:cNvSpPr txBox="1"/>
          <p:nvPr/>
        </p:nvSpPr>
        <p:spPr>
          <a:xfrm>
            <a:off x="8275320" y="2148840"/>
            <a:ext cx="3227832"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087F83"/>
                </a:solidFill>
                <a:latin typeface="Aptos"/>
              </a:defRPr>
            </a:pPr>
            <a:r>
              <a:t>03  Test the design</a:t>
            </a:r>
          </a:p>
        </p:txBody>
      </p:sp>
      <p:sp>
        <p:nvSpPr>
          <p:cNvPr id="20" name="TextBox 19">
            <a:hlinkClick action="ppaction://hlinksldjump" r:id="rId6"/>
          </p:cNvPr>
          <p:cNvSpPr txBox="1"/>
          <p:nvPr/>
        </p:nvSpPr>
        <p:spPr>
          <a:xfrm>
            <a:off x="8275320" y="2724912"/>
            <a:ext cx="3227832" cy="65836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Directed, random, assertions</a:t>
            </a:r>
          </a:p>
        </p:txBody>
      </p:sp>
      <p:sp>
        <p:nvSpPr>
          <p:cNvPr id="21" name="Rounded Rectangle 20">
            <a:hlinkClick action="ppaction://hlinksldjump" r:id="rId7"/>
          </p:cNvPr>
          <p:cNvSpPr/>
          <p:nvPr/>
        </p:nvSpPr>
        <p:spPr>
          <a:xfrm>
            <a:off x="502920" y="3685032"/>
            <a:ext cx="3593592" cy="1444752"/>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hlinkClick action="ppaction://hlinksldjump" r:id="rId7"/>
          </p:cNvPr>
          <p:cNvSpPr/>
          <p:nvPr/>
        </p:nvSpPr>
        <p:spPr>
          <a:xfrm>
            <a:off x="502920" y="3685032"/>
            <a:ext cx="50292" cy="1444752"/>
          </a:xfrm>
          <a:prstGeom prst="rect">
            <a:avLst/>
          </a:prstGeom>
          <a:solidFill>
            <a:srgbClr val="C6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a:hlinkClick action="ppaction://hlinksldjump" r:id="rId7"/>
          </p:cNvPr>
          <p:cNvSpPr txBox="1"/>
          <p:nvPr/>
        </p:nvSpPr>
        <p:spPr>
          <a:xfrm>
            <a:off x="685800" y="3822192"/>
            <a:ext cx="3227832" cy="448056"/>
          </a:xfrm>
          <a:prstGeom prst="rect">
            <a:avLst/>
          </a:prstGeom>
          <a:noFill/>
        </p:spPr>
        <p:txBody>
          <a:bodyPr wrap="square" lIns="0" rIns="0" tIns="18288" bIns="0">
            <a:spAutoFit/>
          </a:bodyPr>
          <a:lstStyle/>
          <a:p>
            <a:pPr algn="l">
              <a:lnSpc>
                <a:spcPct val="110000"/>
              </a:lnSpc>
              <a:spcBef>
                <a:spcPts val="0"/>
              </a:spcBef>
              <a:spcAft>
                <a:spcPts val="500"/>
              </a:spcAft>
              <a:defRPr sz="2150" b="1">
                <a:solidFill>
                  <a:srgbClr val="C66A20"/>
                </a:solidFill>
                <a:latin typeface="Aptos"/>
              </a:defRPr>
            </a:pPr>
            <a:r>
              <a:t>04  Measure + debug</a:t>
            </a:r>
          </a:p>
        </p:txBody>
      </p:sp>
      <p:sp>
        <p:nvSpPr>
          <p:cNvPr id="24" name="TextBox 23">
            <a:hlinkClick action="ppaction://hlinksldjump" r:id="rId7"/>
          </p:cNvPr>
          <p:cNvSpPr txBox="1"/>
          <p:nvPr/>
        </p:nvSpPr>
        <p:spPr>
          <a:xfrm>
            <a:off x="685800" y="4398264"/>
            <a:ext cx="3227832" cy="65836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Coverage, results, nine findings</a:t>
            </a:r>
          </a:p>
        </p:txBody>
      </p:sp>
      <p:sp>
        <p:nvSpPr>
          <p:cNvPr id="25" name="Rounded Rectangle 24">
            <a:hlinkClick action="ppaction://hlinksldjump" r:id="rId8"/>
          </p:cNvPr>
          <p:cNvSpPr/>
          <p:nvPr/>
        </p:nvSpPr>
        <p:spPr>
          <a:xfrm>
            <a:off x="4297680" y="3685032"/>
            <a:ext cx="3593592" cy="144475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a:hlinkClick action="ppaction://hlinksldjump" r:id="rId8"/>
          </p:cNvPr>
          <p:cNvSpPr/>
          <p:nvPr/>
        </p:nvSpPr>
        <p:spPr>
          <a:xfrm>
            <a:off x="4297680" y="3685032"/>
            <a:ext cx="50292" cy="1444752"/>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a:hlinkClick action="ppaction://hlinksldjump" r:id="rId8"/>
          </p:cNvPr>
          <p:cNvSpPr txBox="1"/>
          <p:nvPr/>
        </p:nvSpPr>
        <p:spPr>
          <a:xfrm>
            <a:off x="4480560" y="3822192"/>
            <a:ext cx="3227832"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2563B7"/>
                </a:solidFill>
                <a:latin typeface="Aptos"/>
              </a:defRPr>
            </a:pPr>
            <a:r>
              <a:t>05  Correct + close</a:t>
            </a:r>
          </a:p>
        </p:txBody>
      </p:sp>
      <p:sp>
        <p:nvSpPr>
          <p:cNvPr id="28" name="TextBox 27">
            <a:hlinkClick action="ppaction://hlinksldjump" r:id="rId8"/>
          </p:cNvPr>
          <p:cNvSpPr txBox="1"/>
          <p:nvPr/>
        </p:nvSpPr>
        <p:spPr>
          <a:xfrm>
            <a:off x="4480560" y="4398264"/>
            <a:ext cx="3227832" cy="65836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Existing fix code and validation gate</a:t>
            </a:r>
          </a:p>
        </p:txBody>
      </p:sp>
      <p:sp>
        <p:nvSpPr>
          <p:cNvPr id="29" name="Rounded Rectangle 28">
            <a:hlinkClick action="ppaction://hlinksldjump" r:id="rId9"/>
          </p:cNvPr>
          <p:cNvSpPr/>
          <p:nvPr/>
        </p:nvSpPr>
        <p:spPr>
          <a:xfrm>
            <a:off x="8092440" y="3685032"/>
            <a:ext cx="3593592" cy="1444752"/>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a:hlinkClick action="ppaction://hlinksldjump" r:id="rId9"/>
          </p:cNvPr>
          <p:cNvSpPr/>
          <p:nvPr/>
        </p:nvSpPr>
        <p:spPr>
          <a:xfrm>
            <a:off x="8092440" y="3685032"/>
            <a:ext cx="50292" cy="1444752"/>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9"/>
          </p:cNvPr>
          <p:cNvSpPr txBox="1"/>
          <p:nvPr/>
        </p:nvSpPr>
        <p:spPr>
          <a:xfrm>
            <a:off x="8275320" y="3822192"/>
            <a:ext cx="3227832"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7352AD"/>
                </a:solidFill>
                <a:latin typeface="Aptos"/>
              </a:defRPr>
            </a:pPr>
            <a:r>
              <a:t>06  Explore details</a:t>
            </a:r>
          </a:p>
        </p:txBody>
      </p:sp>
      <p:sp>
        <p:nvSpPr>
          <p:cNvPr id="32" name="TextBox 31">
            <a:hlinkClick action="ppaction://hlinksldjump" r:id="rId9"/>
          </p:cNvPr>
          <p:cNvSpPr txBox="1"/>
          <p:nvPr/>
        </p:nvSpPr>
        <p:spPr>
          <a:xfrm>
            <a:off x="8275320" y="4398264"/>
            <a:ext cx="3227832" cy="65836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Operations, evidence, commands</a:t>
            </a:r>
          </a:p>
        </p:txBody>
      </p:sp>
      <p:sp>
        <p:nvSpPr>
          <p:cNvPr id="33" name="Rounded Rectangle 32"/>
          <p:cNvSpPr/>
          <p:nvPr/>
        </p:nvSpPr>
        <p:spPr>
          <a:xfrm>
            <a:off x="502920" y="5797296"/>
            <a:ext cx="11183112" cy="48463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2563B7"/>
                </a:solidFill>
                <a:latin typeface="Aptos"/>
              </a:defRPr>
            </a:pPr>
            <a:r>
              <a:t>Audience checkpoints: predict a result • classify a failure • interpret coverage.</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01 / UNDERSTAND</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What does this BMU do?</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32-bit operands in; a registered result and a live error out.</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03</a:t>
            </a:r>
          </a:p>
        </p:txBody>
      </p:sp>
      <p:sp>
        <p:nvSpPr>
          <p:cNvPr id="9" name="Rounded Rectangle 8"/>
          <p:cNvSpPr/>
          <p:nvPr/>
        </p:nvSpPr>
        <p:spPr>
          <a:xfrm>
            <a:off x="502920" y="1956816"/>
            <a:ext cx="5486400" cy="1463040"/>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56816"/>
            <a:ext cx="50292" cy="1463040"/>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93976"/>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100" b="1">
                <a:solidFill>
                  <a:srgbClr val="2563B7"/>
                </a:solidFill>
                <a:latin typeface="Aptos"/>
              </a:defRPr>
            </a:pPr>
            <a:r>
              <a:t>Logic and shift</a:t>
            </a:r>
          </a:p>
        </p:txBody>
      </p:sp>
      <p:sp>
        <p:nvSpPr>
          <p:cNvPr id="12" name="TextBox 11"/>
          <p:cNvSpPr txBox="1"/>
          <p:nvPr/>
        </p:nvSpPr>
        <p:spPr>
          <a:xfrm>
            <a:off x="685800" y="2670048"/>
            <a:ext cx="5120640" cy="676656"/>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OR, XOR, SRL, SRA, ROR, BINV</a:t>
            </a:r>
          </a:p>
        </p:txBody>
      </p:sp>
      <p:sp>
        <p:nvSpPr>
          <p:cNvPr id="13" name="Rounded Rectangle 12"/>
          <p:cNvSpPr/>
          <p:nvPr/>
        </p:nvSpPr>
        <p:spPr>
          <a:xfrm>
            <a:off x="6199632" y="1956816"/>
            <a:ext cx="5486400" cy="1463040"/>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956816"/>
            <a:ext cx="50292" cy="1463040"/>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093976"/>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100" b="1">
                <a:solidFill>
                  <a:srgbClr val="2563B7"/>
                </a:solidFill>
                <a:latin typeface="Aptos"/>
              </a:defRPr>
            </a:pPr>
            <a:r>
              <a:t>Arithmetic and compare</a:t>
            </a:r>
          </a:p>
        </p:txBody>
      </p:sp>
      <p:sp>
        <p:nvSpPr>
          <p:cNvPr id="16" name="TextBox 15"/>
          <p:cNvSpPr txBox="1"/>
          <p:nvPr/>
        </p:nvSpPr>
        <p:spPr>
          <a:xfrm>
            <a:off x="6382512" y="2670048"/>
            <a:ext cx="5120640" cy="676656"/>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SH2ADD, SUB, SLT/SLTU, signed MAX</a:t>
            </a:r>
          </a:p>
        </p:txBody>
      </p:sp>
      <p:sp>
        <p:nvSpPr>
          <p:cNvPr id="17" name="Rounded Rectangle 16"/>
          <p:cNvSpPr/>
          <p:nvPr/>
        </p:nvSpPr>
        <p:spPr>
          <a:xfrm>
            <a:off x="502920" y="3666744"/>
            <a:ext cx="5486400" cy="1463040"/>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3666744"/>
            <a:ext cx="50292" cy="146304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803904"/>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100" b="1">
                <a:solidFill>
                  <a:srgbClr val="087F83"/>
                </a:solidFill>
                <a:latin typeface="Aptos"/>
              </a:defRPr>
            </a:pPr>
            <a:r>
              <a:t>Count and rearrange</a:t>
            </a:r>
          </a:p>
        </p:txBody>
      </p:sp>
      <p:sp>
        <p:nvSpPr>
          <p:cNvPr id="20" name="TextBox 19"/>
          <p:cNvSpPr txBox="1"/>
          <p:nvPr/>
        </p:nvSpPr>
        <p:spPr>
          <a:xfrm>
            <a:off x="685800" y="4379976"/>
            <a:ext cx="5120640" cy="676656"/>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CTZ, CPOP, SEXT.B, PACK, GREV</a:t>
            </a:r>
          </a:p>
        </p:txBody>
      </p:sp>
      <p:sp>
        <p:nvSpPr>
          <p:cNvPr id="21" name="Rounded Rectangle 20"/>
          <p:cNvSpPr/>
          <p:nvPr/>
        </p:nvSpPr>
        <p:spPr>
          <a:xfrm>
            <a:off x="6199632" y="3666744"/>
            <a:ext cx="5486400" cy="1463040"/>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2" y="3666744"/>
            <a:ext cx="50292" cy="146304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3803904"/>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100" b="1">
                <a:solidFill>
                  <a:srgbClr val="087F83"/>
                </a:solidFill>
                <a:latin typeface="Aptos"/>
              </a:defRPr>
            </a:pPr>
            <a:r>
              <a:t>CSR data paths</a:t>
            </a:r>
          </a:p>
        </p:txBody>
      </p:sp>
      <p:sp>
        <p:nvSpPr>
          <p:cNvPr id="24" name="TextBox 23"/>
          <p:cNvSpPr txBox="1"/>
          <p:nvPr/>
        </p:nvSpPr>
        <p:spPr>
          <a:xfrm>
            <a:off x="6382512" y="4379976"/>
            <a:ext cx="5120640" cy="676656"/>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Bypass read and write-data selection</a:t>
            </a:r>
          </a:p>
        </p:txBody>
      </p:sp>
      <p:sp>
        <p:nvSpPr>
          <p:cNvPr id="25" name="Rounded Rectangle 24"/>
          <p:cNvSpPr/>
          <p:nvPr/>
        </p:nvSpPr>
        <p:spPr>
          <a:xfrm>
            <a:off x="502920" y="5797296"/>
            <a:ext cx="11183112" cy="484632"/>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C66A20"/>
                </a:solidFill>
                <a:latin typeface="Aptos"/>
              </a:defRPr>
            </a:pPr>
            <a:r>
              <a:t>Predict: CPOP(0xFFFF0000) = ?   Keep your answer for the bug review.</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01 / UNDERSTAND</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Turn the specification into checks</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Example requirement: signed MAX selects the larger operand and requires SUB.</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04</a:t>
            </a:r>
          </a:p>
        </p:txBody>
      </p:sp>
      <p:sp>
        <p:nvSpPr>
          <p:cNvPr id="9" name="Rounded Rectangle 8"/>
          <p:cNvSpPr/>
          <p:nvPr/>
        </p:nvSpPr>
        <p:spPr>
          <a:xfrm>
            <a:off x="502920" y="2240280"/>
            <a:ext cx="2633472" cy="1709928"/>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240280"/>
            <a:ext cx="50292" cy="170992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377440"/>
            <a:ext cx="2267712" cy="448056"/>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2563B7"/>
                </a:solidFill>
                <a:latin typeface="Aptos"/>
              </a:defRPr>
            </a:pPr>
            <a:r>
              <a:t>REQUIREMENT</a:t>
            </a:r>
          </a:p>
        </p:txBody>
      </p:sp>
      <p:sp>
        <p:nvSpPr>
          <p:cNvPr id="12" name="TextBox 11"/>
          <p:cNvSpPr txBox="1"/>
          <p:nvPr/>
        </p:nvSpPr>
        <p:spPr>
          <a:xfrm>
            <a:off x="685800" y="2953512"/>
            <a:ext cx="2267712" cy="923544"/>
          </a:xfrm>
          <a:prstGeom prst="rect">
            <a:avLst/>
          </a:prstGeom>
          <a:noFill/>
        </p:spPr>
        <p:txBody>
          <a:bodyPr wrap="square" lIns="0" rIns="0" tIns="18288" bIns="0">
            <a:spAutoFit/>
          </a:bodyPr>
          <a:lstStyle/>
          <a:p>
            <a:pPr algn="l">
              <a:lnSpc>
                <a:spcPct val="110000"/>
              </a:lnSpc>
              <a:spcBef>
                <a:spcPts val="0"/>
              </a:spcBef>
              <a:spcAft>
                <a:spcPts val="500"/>
              </a:spcAft>
              <a:defRPr sz="2100" b="0">
                <a:solidFill>
                  <a:srgbClr val="20334E"/>
                </a:solidFill>
                <a:latin typeface="Aptos"/>
              </a:defRPr>
            </a:pPr>
            <a:r>
              <a:t>Signed MAX</a:t>
            </a:r>
          </a:p>
          <a:p>
            <a:pPr algn="l">
              <a:lnSpc>
                <a:spcPct val="110000"/>
              </a:lnSpc>
              <a:spcBef>
                <a:spcPts val="0"/>
              </a:spcBef>
              <a:spcAft>
                <a:spcPts val="500"/>
              </a:spcAft>
              <a:defRPr sz="2100" b="0">
                <a:solidFill>
                  <a:srgbClr val="20334E"/>
                </a:solidFill>
                <a:latin typeface="Aptos"/>
              </a:defRPr>
            </a:pPr>
            <a:r>
              <a:t>max=1, sub=1</a:t>
            </a:r>
          </a:p>
        </p:txBody>
      </p:sp>
      <p:cxnSp>
        <p:nvCxnSpPr>
          <p:cNvPr id="13" name="Connector 12"/>
          <p:cNvCxnSpPr/>
          <p:nvPr/>
        </p:nvCxnSpPr>
        <p:spPr>
          <a:xfrm>
            <a:off x="3154680" y="3108960"/>
            <a:ext cx="173736" cy="0"/>
          </a:xfrm>
          <a:prstGeom prst="line">
            <a:avLst/>
          </a:prstGeom>
          <a:ln w="25400">
            <a:solidFill>
              <a:srgbClr val="2563B7"/>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55848" y="2240280"/>
            <a:ext cx="2633472" cy="1709928"/>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55848" y="2240280"/>
            <a:ext cx="50292" cy="170992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8728" y="2377440"/>
            <a:ext cx="2267712" cy="448056"/>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2563B7"/>
                </a:solidFill>
                <a:latin typeface="Aptos"/>
              </a:defRPr>
            </a:pPr>
            <a:r>
              <a:t>STIMULUS</a:t>
            </a:r>
          </a:p>
        </p:txBody>
      </p:sp>
      <p:sp>
        <p:nvSpPr>
          <p:cNvPr id="17" name="TextBox 16"/>
          <p:cNvSpPr txBox="1"/>
          <p:nvPr/>
        </p:nvSpPr>
        <p:spPr>
          <a:xfrm>
            <a:off x="3538728" y="2953512"/>
            <a:ext cx="2267712" cy="923544"/>
          </a:xfrm>
          <a:prstGeom prst="rect">
            <a:avLst/>
          </a:prstGeom>
          <a:noFill/>
        </p:spPr>
        <p:txBody>
          <a:bodyPr wrap="square" lIns="0" rIns="0" tIns="18288" bIns="0">
            <a:spAutoFit/>
          </a:bodyPr>
          <a:lstStyle/>
          <a:p>
            <a:pPr algn="l">
              <a:lnSpc>
                <a:spcPct val="110000"/>
              </a:lnSpc>
              <a:spcBef>
                <a:spcPts val="0"/>
              </a:spcBef>
              <a:spcAft>
                <a:spcPts val="500"/>
              </a:spcAft>
              <a:defRPr sz="2100" b="0">
                <a:solidFill>
                  <a:srgbClr val="20334E"/>
                </a:solidFill>
                <a:latin typeface="Aptos"/>
              </a:defRPr>
            </a:pPr>
            <a:r>
              <a:t>a=10, b=20</a:t>
            </a:r>
          </a:p>
          <a:p>
            <a:pPr algn="l">
              <a:lnSpc>
                <a:spcPct val="110000"/>
              </a:lnSpc>
              <a:spcBef>
                <a:spcPts val="0"/>
              </a:spcBef>
              <a:spcAft>
                <a:spcPts val="500"/>
              </a:spcAft>
              <a:defRPr sz="2100" b="0">
                <a:solidFill>
                  <a:srgbClr val="20334E"/>
                </a:solidFill>
                <a:latin typeface="Aptos"/>
              </a:defRPr>
            </a:pPr>
            <a:r>
              <a:t>valid_in=1</a:t>
            </a:r>
          </a:p>
        </p:txBody>
      </p:sp>
      <p:cxnSp>
        <p:nvCxnSpPr>
          <p:cNvPr id="18" name="Connector 17"/>
          <p:cNvCxnSpPr/>
          <p:nvPr/>
        </p:nvCxnSpPr>
        <p:spPr>
          <a:xfrm>
            <a:off x="6007608" y="3108960"/>
            <a:ext cx="173736" cy="0"/>
          </a:xfrm>
          <a:prstGeom prst="line">
            <a:avLst/>
          </a:prstGeom>
          <a:ln w="25400">
            <a:solidFill>
              <a:srgbClr val="2563B7"/>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08776" y="2240280"/>
            <a:ext cx="2633472" cy="1709928"/>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08776" y="2240280"/>
            <a:ext cx="50292" cy="170992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2377440"/>
            <a:ext cx="2267712" cy="448056"/>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2563B7"/>
                </a:solidFill>
                <a:latin typeface="Aptos"/>
              </a:defRPr>
            </a:pPr>
            <a:r>
              <a:t>ORACLE</a:t>
            </a:r>
          </a:p>
        </p:txBody>
      </p:sp>
      <p:sp>
        <p:nvSpPr>
          <p:cNvPr id="22" name="TextBox 21"/>
          <p:cNvSpPr txBox="1"/>
          <p:nvPr/>
        </p:nvSpPr>
        <p:spPr>
          <a:xfrm>
            <a:off x="6391656" y="2953512"/>
            <a:ext cx="2267712" cy="923544"/>
          </a:xfrm>
          <a:prstGeom prst="rect">
            <a:avLst/>
          </a:prstGeom>
          <a:noFill/>
        </p:spPr>
        <p:txBody>
          <a:bodyPr wrap="square" lIns="0" rIns="0" tIns="18288" bIns="0">
            <a:spAutoFit/>
          </a:bodyPr>
          <a:lstStyle/>
          <a:p>
            <a:pPr algn="l">
              <a:lnSpc>
                <a:spcPct val="110000"/>
              </a:lnSpc>
              <a:spcBef>
                <a:spcPts val="0"/>
              </a:spcBef>
              <a:spcAft>
                <a:spcPts val="500"/>
              </a:spcAft>
              <a:defRPr sz="2100" b="0">
                <a:solidFill>
                  <a:srgbClr val="20334E"/>
                </a:solidFill>
                <a:latin typeface="Aptos"/>
              </a:defRPr>
            </a:pPr>
            <a:r>
              <a:t>result=20</a:t>
            </a:r>
          </a:p>
          <a:p>
            <a:pPr algn="l">
              <a:lnSpc>
                <a:spcPct val="110000"/>
              </a:lnSpc>
              <a:spcBef>
                <a:spcPts val="0"/>
              </a:spcBef>
              <a:spcAft>
                <a:spcPts val="500"/>
              </a:spcAft>
              <a:defRPr sz="2100" b="0">
                <a:solidFill>
                  <a:srgbClr val="20334E"/>
                </a:solidFill>
                <a:latin typeface="Aptos"/>
              </a:defRPr>
            </a:pPr>
            <a:r>
              <a:t>error=0</a:t>
            </a:r>
          </a:p>
        </p:txBody>
      </p:sp>
      <p:cxnSp>
        <p:nvCxnSpPr>
          <p:cNvPr id="23" name="Connector 22"/>
          <p:cNvCxnSpPr/>
          <p:nvPr/>
        </p:nvCxnSpPr>
        <p:spPr>
          <a:xfrm>
            <a:off x="8860536" y="3108960"/>
            <a:ext cx="173736" cy="0"/>
          </a:xfrm>
          <a:prstGeom prst="line">
            <a:avLst/>
          </a:prstGeom>
          <a:ln w="25400">
            <a:solidFill>
              <a:srgbClr val="2563B7"/>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61704" y="2240280"/>
            <a:ext cx="2633472" cy="1709928"/>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61704" y="2240280"/>
            <a:ext cx="50292" cy="170992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44584" y="2377440"/>
            <a:ext cx="2267712" cy="448056"/>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2563B7"/>
                </a:solidFill>
                <a:latin typeface="Aptos"/>
              </a:defRPr>
            </a:pPr>
            <a:r>
              <a:t>EVIDENCE</a:t>
            </a:r>
          </a:p>
        </p:txBody>
      </p:sp>
      <p:sp>
        <p:nvSpPr>
          <p:cNvPr id="27" name="TextBox 26"/>
          <p:cNvSpPr txBox="1"/>
          <p:nvPr/>
        </p:nvSpPr>
        <p:spPr>
          <a:xfrm>
            <a:off x="9244584" y="2953512"/>
            <a:ext cx="2267712" cy="923544"/>
          </a:xfrm>
          <a:prstGeom prst="rect">
            <a:avLst/>
          </a:prstGeom>
          <a:noFill/>
        </p:spPr>
        <p:txBody>
          <a:bodyPr wrap="square" lIns="0" rIns="0" tIns="18288" bIns="0">
            <a:spAutoFit/>
          </a:bodyPr>
          <a:lstStyle/>
          <a:p>
            <a:pPr algn="l">
              <a:lnSpc>
                <a:spcPct val="110000"/>
              </a:lnSpc>
              <a:spcBef>
                <a:spcPts val="0"/>
              </a:spcBef>
              <a:spcAft>
                <a:spcPts val="500"/>
              </a:spcAft>
              <a:defRPr sz="2100" b="0">
                <a:solidFill>
                  <a:srgbClr val="20334E"/>
                </a:solidFill>
                <a:latin typeface="Aptos"/>
              </a:defRPr>
            </a:pPr>
            <a:r>
              <a:t>Compare + log</a:t>
            </a:r>
          </a:p>
          <a:p>
            <a:pPr algn="l">
              <a:lnSpc>
                <a:spcPct val="110000"/>
              </a:lnSpc>
              <a:spcBef>
                <a:spcPts val="0"/>
              </a:spcBef>
              <a:spcAft>
                <a:spcPts val="500"/>
              </a:spcAft>
              <a:defRPr sz="2100" b="0">
                <a:solidFill>
                  <a:srgbClr val="20334E"/>
                </a:solidFill>
                <a:latin typeface="Aptos"/>
              </a:defRPr>
            </a:pPr>
            <a:r>
              <a:t>cover scenario</a:t>
            </a:r>
          </a:p>
        </p:txBody>
      </p:sp>
      <p:sp>
        <p:nvSpPr>
          <p:cNvPr id="28" name="Rounded Rectangle 27"/>
          <p:cNvSpPr/>
          <p:nvPr/>
        </p:nvSpPr>
        <p:spPr>
          <a:xfrm>
            <a:off x="502920" y="4315968"/>
            <a:ext cx="5486400" cy="1069848"/>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4315968"/>
            <a:ext cx="50292" cy="1069848"/>
          </a:xfrm>
          <a:prstGeom prst="rect">
            <a:avLst/>
          </a:prstGeom>
          <a:solidFill>
            <a:srgbClr val="C6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407407"/>
            <a:ext cx="5120640" cy="393192"/>
          </a:xfrm>
          <a:prstGeom prst="rect">
            <a:avLst/>
          </a:prstGeom>
          <a:noFill/>
        </p:spPr>
        <p:txBody>
          <a:bodyPr wrap="square" lIns="0" rIns="0" tIns="18288" bIns="0">
            <a:spAutoFit/>
          </a:bodyPr>
          <a:lstStyle/>
          <a:p>
            <a:pPr algn="l">
              <a:lnSpc>
                <a:spcPct val="110000"/>
              </a:lnSpc>
              <a:spcBef>
                <a:spcPts val="0"/>
              </a:spcBef>
              <a:spcAft>
                <a:spcPts val="500"/>
              </a:spcAft>
              <a:defRPr sz="2000" b="1">
                <a:solidFill>
                  <a:srgbClr val="C66A20"/>
                </a:solidFill>
                <a:latin typeface="Aptos"/>
              </a:defRPr>
            </a:pPr>
            <a:r>
              <a:t>Negative companion test</a:t>
            </a:r>
          </a:p>
        </p:txBody>
      </p:sp>
      <p:sp>
        <p:nvSpPr>
          <p:cNvPr id="31" name="TextBox 30"/>
          <p:cNvSpPr txBox="1"/>
          <p:nvPr/>
        </p:nvSpPr>
        <p:spPr>
          <a:xfrm>
            <a:off x="685800" y="4873752"/>
            <a:ext cx="5120640" cy="484631"/>
          </a:xfrm>
          <a:prstGeom prst="rect">
            <a:avLst/>
          </a:prstGeom>
          <a:noFill/>
        </p:spPr>
        <p:txBody>
          <a:bodyPr wrap="square" lIns="0" rIns="0" tIns="18288" bIns="0">
            <a:spAutoFit/>
          </a:bodyPr>
          <a:lstStyle/>
          <a:p>
            <a:pPr algn="l">
              <a:lnSpc>
                <a:spcPct val="110000"/>
              </a:lnSpc>
              <a:spcBef>
                <a:spcPts val="0"/>
              </a:spcBef>
              <a:spcAft>
                <a:spcPts val="500"/>
              </a:spcAft>
              <a:defRPr sz="1500" b="0">
                <a:solidFill>
                  <a:srgbClr val="20334E"/>
                </a:solidFill>
                <a:latin typeface="Aptos"/>
              </a:defRPr>
            </a:pPr>
            <a:r>
              <a:t>Remove SUB: require error=1 and captured result=0.</a:t>
            </a:r>
          </a:p>
        </p:txBody>
      </p:sp>
      <p:sp>
        <p:nvSpPr>
          <p:cNvPr id="32" name="Rounded Rectangle 31"/>
          <p:cNvSpPr/>
          <p:nvPr/>
        </p:nvSpPr>
        <p:spPr>
          <a:xfrm>
            <a:off x="6199632" y="4315968"/>
            <a:ext cx="5486400" cy="1069848"/>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99632" y="4315968"/>
            <a:ext cx="50292" cy="1069848"/>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82512" y="4407407"/>
            <a:ext cx="5120640" cy="393192"/>
          </a:xfrm>
          <a:prstGeom prst="rect">
            <a:avLst/>
          </a:prstGeom>
          <a:noFill/>
        </p:spPr>
        <p:txBody>
          <a:bodyPr wrap="square" lIns="0" rIns="0" tIns="18288" bIns="0">
            <a:spAutoFit/>
          </a:bodyPr>
          <a:lstStyle/>
          <a:p>
            <a:pPr algn="l">
              <a:lnSpc>
                <a:spcPct val="110000"/>
              </a:lnSpc>
              <a:spcBef>
                <a:spcPts val="0"/>
              </a:spcBef>
              <a:spcAft>
                <a:spcPts val="500"/>
              </a:spcAft>
              <a:defRPr sz="2000" b="1">
                <a:solidFill>
                  <a:srgbClr val="7352AD"/>
                </a:solidFill>
                <a:latin typeface="Aptos"/>
              </a:defRPr>
            </a:pPr>
            <a:r>
              <a:t>Record ambiguities</a:t>
            </a:r>
          </a:p>
        </p:txBody>
      </p:sp>
      <p:sp>
        <p:nvSpPr>
          <p:cNvPr id="35" name="TextBox 34"/>
          <p:cNvSpPr txBox="1"/>
          <p:nvPr/>
        </p:nvSpPr>
        <p:spPr>
          <a:xfrm>
            <a:off x="6382512" y="4873752"/>
            <a:ext cx="5120640" cy="484631"/>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Timing, GREV invalid encoding, CSR conflicts.</a:t>
            </a:r>
          </a:p>
        </p:txBody>
      </p:sp>
      <p:sp>
        <p:nvSpPr>
          <p:cNvPr id="36" name="Rounded Rectangle 35"/>
          <p:cNvSpPr/>
          <p:nvPr/>
        </p:nvSpPr>
        <p:spPr>
          <a:xfrm>
            <a:off x="502920" y="5797296"/>
            <a:ext cx="11183112" cy="48463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700" b="1">
                <a:solidFill>
                  <a:srgbClr val="2563B7"/>
                </a:solidFill>
                <a:latin typeface="Aptos"/>
              </a:defRPr>
            </a:pPr>
            <a:r>
              <a:t>One selected operation can require several control bits. “Legal” is not simply one-hot.</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01 / UNDERSTAND</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The interface contract determines sampling</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No ready signal. No output-valid handshake. valid_in enables result capture.</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05</a:t>
            </a:r>
          </a:p>
        </p:txBody>
      </p:sp>
      <p:sp>
        <p:nvSpPr>
          <p:cNvPr id="9" name="Rounded Rectangle 8"/>
          <p:cNvSpPr/>
          <p:nvPr/>
        </p:nvSpPr>
        <p:spPr>
          <a:xfrm>
            <a:off x="502920" y="1965960"/>
            <a:ext cx="3172968" cy="3429000"/>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65960"/>
            <a:ext cx="50292" cy="3429000"/>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103120"/>
            <a:ext cx="2807208" cy="448056"/>
          </a:xfrm>
          <a:prstGeom prst="rect">
            <a:avLst/>
          </a:prstGeom>
          <a:noFill/>
        </p:spPr>
        <p:txBody>
          <a:bodyPr wrap="square" lIns="0" rIns="0" tIns="18288" bIns="0">
            <a:spAutoFit/>
          </a:bodyPr>
          <a:lstStyle/>
          <a:p>
            <a:pPr algn="l">
              <a:lnSpc>
                <a:spcPct val="110000"/>
              </a:lnSpc>
              <a:spcBef>
                <a:spcPts val="0"/>
              </a:spcBef>
              <a:spcAft>
                <a:spcPts val="500"/>
              </a:spcAft>
              <a:defRPr sz="2100" b="1">
                <a:solidFill>
                  <a:srgbClr val="2563B7"/>
                </a:solidFill>
                <a:latin typeface="Aptos"/>
              </a:defRPr>
            </a:pPr>
            <a:r>
              <a:t>Inputs</a:t>
            </a:r>
          </a:p>
        </p:txBody>
      </p:sp>
      <p:sp>
        <p:nvSpPr>
          <p:cNvPr id="12" name="TextBox 11"/>
          <p:cNvSpPr txBox="1"/>
          <p:nvPr/>
        </p:nvSpPr>
        <p:spPr>
          <a:xfrm>
            <a:off x="685800" y="2679191"/>
            <a:ext cx="2807208" cy="2642616"/>
          </a:xfrm>
          <a:prstGeom prst="rect">
            <a:avLst/>
          </a:prstGeom>
          <a:noFill/>
        </p:spPr>
        <p:txBody>
          <a:bodyPr wrap="square" lIns="0" rIns="0" tIns="18288" bIns="0">
            <a:spAutoFit/>
          </a:bodyPr>
          <a:lstStyle/>
          <a:p>
            <a:pPr algn="l">
              <a:lnSpc>
                <a:spcPct val="110000"/>
              </a:lnSpc>
              <a:spcBef>
                <a:spcPts val="0"/>
              </a:spcBef>
              <a:spcAft>
                <a:spcPts val="500"/>
              </a:spcAft>
              <a:defRPr sz="2100" b="0">
                <a:solidFill>
                  <a:srgbClr val="20334E"/>
                </a:solidFill>
                <a:latin typeface="Aptos"/>
              </a:defRPr>
            </a:pPr>
            <a:r>
              <a:t>a_in, b_in: 32 bits</a:t>
            </a:r>
          </a:p>
          <a:p>
            <a:pPr algn="l">
              <a:lnSpc>
                <a:spcPct val="110000"/>
              </a:lnSpc>
              <a:spcBef>
                <a:spcPts val="0"/>
              </a:spcBef>
              <a:spcAft>
                <a:spcPts val="500"/>
              </a:spcAft>
              <a:defRPr sz="2100" b="0">
                <a:solidFill>
                  <a:srgbClr val="20334E"/>
                </a:solidFill>
                <a:latin typeface="Aptos"/>
              </a:defRPr>
            </a:pPr>
            <a:r>
              <a:t>ap: 42 control bits</a:t>
            </a:r>
          </a:p>
          <a:p>
            <a:pPr algn="l">
              <a:lnSpc>
                <a:spcPct val="110000"/>
              </a:lnSpc>
              <a:spcBef>
                <a:spcPts val="0"/>
              </a:spcBef>
              <a:spcAft>
                <a:spcPts val="500"/>
              </a:spcAft>
              <a:defRPr sz="2100" b="0">
                <a:solidFill>
                  <a:srgbClr val="20334E"/>
                </a:solidFill>
                <a:latin typeface="Aptos"/>
              </a:defRPr>
            </a:pPr>
            <a:r>
              <a:t>CSR enable + read data</a:t>
            </a:r>
          </a:p>
          <a:p>
            <a:pPr algn="l">
              <a:lnSpc>
                <a:spcPct val="110000"/>
              </a:lnSpc>
              <a:spcBef>
                <a:spcPts val="0"/>
              </a:spcBef>
              <a:spcAft>
                <a:spcPts val="500"/>
              </a:spcAft>
              <a:defRPr sz="2100" b="0">
                <a:solidFill>
                  <a:srgbClr val="20334E"/>
                </a:solidFill>
                <a:latin typeface="Aptos"/>
              </a:defRPr>
            </a:pPr>
            <a:r>
              <a:t>rst_l, valid_in, scan_mode</a:t>
            </a:r>
          </a:p>
        </p:txBody>
      </p:sp>
      <p:sp>
        <p:nvSpPr>
          <p:cNvPr id="13" name="Rounded Rectangle 12"/>
          <p:cNvSpPr/>
          <p:nvPr/>
        </p:nvSpPr>
        <p:spPr>
          <a:xfrm>
            <a:off x="4023360" y="1965960"/>
            <a:ext cx="7662672" cy="1005840"/>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23360" y="1965960"/>
            <a:ext cx="50292" cy="1005840"/>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057400"/>
            <a:ext cx="7296912" cy="393192"/>
          </a:xfrm>
          <a:prstGeom prst="rect">
            <a:avLst/>
          </a:prstGeom>
          <a:noFill/>
        </p:spPr>
        <p:txBody>
          <a:bodyPr wrap="square" lIns="0" rIns="0" tIns="18288" bIns="0">
            <a:spAutoFit/>
          </a:bodyPr>
          <a:lstStyle/>
          <a:p>
            <a:pPr algn="l">
              <a:lnSpc>
                <a:spcPct val="110000"/>
              </a:lnSpc>
              <a:spcBef>
                <a:spcPts val="0"/>
              </a:spcBef>
              <a:spcAft>
                <a:spcPts val="500"/>
              </a:spcAft>
              <a:defRPr sz="2000" b="1">
                <a:solidFill>
                  <a:srgbClr val="2563B7"/>
                </a:solidFill>
                <a:latin typeface="Aptos"/>
              </a:defRPr>
            </a:pPr>
            <a:r>
              <a:t>Falling edge</a:t>
            </a:r>
          </a:p>
        </p:txBody>
      </p:sp>
      <p:sp>
        <p:nvSpPr>
          <p:cNvPr id="16" name="TextBox 15"/>
          <p:cNvSpPr txBox="1"/>
          <p:nvPr/>
        </p:nvSpPr>
        <p:spPr>
          <a:xfrm>
            <a:off x="4206240" y="2523744"/>
            <a:ext cx="7296912" cy="420624"/>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Driver applies request</a:t>
            </a:r>
          </a:p>
        </p:txBody>
      </p:sp>
      <p:sp>
        <p:nvSpPr>
          <p:cNvPr id="17" name="Rounded Rectangle 16"/>
          <p:cNvSpPr/>
          <p:nvPr/>
        </p:nvSpPr>
        <p:spPr>
          <a:xfrm>
            <a:off x="4023360" y="3136391"/>
            <a:ext cx="7662672" cy="1005840"/>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3360" y="3136391"/>
            <a:ext cx="50292" cy="1005840"/>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06240" y="3227832"/>
            <a:ext cx="7296912" cy="393192"/>
          </a:xfrm>
          <a:prstGeom prst="rect">
            <a:avLst/>
          </a:prstGeom>
          <a:noFill/>
        </p:spPr>
        <p:txBody>
          <a:bodyPr wrap="square" lIns="0" rIns="0" tIns="18288" bIns="0">
            <a:spAutoFit/>
          </a:bodyPr>
          <a:lstStyle/>
          <a:p>
            <a:pPr algn="l">
              <a:lnSpc>
                <a:spcPct val="110000"/>
              </a:lnSpc>
              <a:spcBef>
                <a:spcPts val="0"/>
              </a:spcBef>
              <a:spcAft>
                <a:spcPts val="500"/>
              </a:spcAft>
              <a:defRPr sz="2000" b="1">
                <a:solidFill>
                  <a:srgbClr val="7352AD"/>
                </a:solidFill>
                <a:latin typeface="Aptos"/>
              </a:defRPr>
            </a:pPr>
            <a:r>
              <a:t>Between edges</a:t>
            </a:r>
          </a:p>
        </p:txBody>
      </p:sp>
      <p:sp>
        <p:nvSpPr>
          <p:cNvPr id="20" name="TextBox 19"/>
          <p:cNvSpPr txBox="1"/>
          <p:nvPr/>
        </p:nvSpPr>
        <p:spPr>
          <a:xfrm>
            <a:off x="4206240" y="3694176"/>
            <a:ext cx="7296912" cy="420624"/>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Combinational paths settle</a:t>
            </a:r>
          </a:p>
        </p:txBody>
      </p:sp>
      <p:sp>
        <p:nvSpPr>
          <p:cNvPr id="21" name="Rounded Rectangle 20"/>
          <p:cNvSpPr/>
          <p:nvPr/>
        </p:nvSpPr>
        <p:spPr>
          <a:xfrm>
            <a:off x="4023360" y="4306824"/>
            <a:ext cx="7662672" cy="1005840"/>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023360" y="4306824"/>
            <a:ext cx="50292" cy="100584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06240" y="4398264"/>
            <a:ext cx="7296912" cy="393192"/>
          </a:xfrm>
          <a:prstGeom prst="rect">
            <a:avLst/>
          </a:prstGeom>
          <a:noFill/>
        </p:spPr>
        <p:txBody>
          <a:bodyPr wrap="square" lIns="0" rIns="0" tIns="18288" bIns="0">
            <a:spAutoFit/>
          </a:bodyPr>
          <a:lstStyle/>
          <a:p>
            <a:pPr algn="l">
              <a:lnSpc>
                <a:spcPct val="110000"/>
              </a:lnSpc>
              <a:spcBef>
                <a:spcPts val="0"/>
              </a:spcBef>
              <a:spcAft>
                <a:spcPts val="500"/>
              </a:spcAft>
              <a:defRPr sz="2000" b="1">
                <a:solidFill>
                  <a:srgbClr val="087F83"/>
                </a:solidFill>
                <a:latin typeface="Aptos"/>
              </a:defRPr>
            </a:pPr>
            <a:r>
              <a:t>Rising edge</a:t>
            </a:r>
          </a:p>
        </p:txBody>
      </p:sp>
      <p:sp>
        <p:nvSpPr>
          <p:cNvPr id="24" name="TextBox 23"/>
          <p:cNvSpPr txBox="1"/>
          <p:nvPr/>
        </p:nvSpPr>
        <p:spPr>
          <a:xfrm>
            <a:off x="4206240" y="4864608"/>
            <a:ext cx="7296912" cy="420624"/>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Capture result; monitor samples</a:t>
            </a:r>
          </a:p>
        </p:txBody>
      </p:sp>
      <p:sp>
        <p:nvSpPr>
          <p:cNvPr id="25" name="Rounded Rectangle 24"/>
          <p:cNvSpPr/>
          <p:nvPr/>
        </p:nvSpPr>
        <p:spPr>
          <a:xfrm>
            <a:off x="502920" y="5797296"/>
            <a:ext cx="11183112" cy="484632"/>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C66A20"/>
                </a:solidFill>
                <a:latin typeface="Aptos"/>
              </a:defRPr>
            </a:pPr>
            <a:r>
              <a:t>valid_in=0 → result holds. Invalid controls can still assert the live error output.</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01 / UNDERSTAND</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Inside the DUT</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Parallel datapaths feed a combined result; implemented error logic gates capture data.</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06</a:t>
            </a:r>
          </a:p>
        </p:txBody>
      </p:sp>
      <p:sp>
        <p:nvSpPr>
          <p:cNvPr id="9" name="Rounded Rectangle 8"/>
          <p:cNvSpPr/>
          <p:nvPr/>
        </p:nvSpPr>
        <p:spPr>
          <a:xfrm>
            <a:off x="502920" y="2423160"/>
            <a:ext cx="1920240" cy="1645920"/>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423160"/>
            <a:ext cx="50292" cy="1645920"/>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60320"/>
            <a:ext cx="1554480" cy="448056"/>
          </a:xfrm>
          <a:prstGeom prst="rect">
            <a:avLst/>
          </a:prstGeom>
          <a:noFill/>
        </p:spPr>
        <p:txBody>
          <a:bodyPr wrap="square" lIns="0" rIns="0" tIns="18288" bIns="0">
            <a:spAutoFit/>
          </a:bodyPr>
          <a:lstStyle/>
          <a:p>
            <a:pPr algn="l">
              <a:lnSpc>
                <a:spcPct val="110000"/>
              </a:lnSpc>
              <a:spcBef>
                <a:spcPts val="0"/>
              </a:spcBef>
              <a:spcAft>
                <a:spcPts val="500"/>
              </a:spcAft>
              <a:defRPr sz="2100" b="1">
                <a:solidFill>
                  <a:srgbClr val="2563B7"/>
                </a:solidFill>
                <a:latin typeface="Aptos"/>
              </a:defRPr>
            </a:pPr>
            <a:r>
              <a:t>Inputs</a:t>
            </a:r>
          </a:p>
        </p:txBody>
      </p:sp>
      <p:sp>
        <p:nvSpPr>
          <p:cNvPr id="12" name="TextBox 11"/>
          <p:cNvSpPr txBox="1"/>
          <p:nvPr/>
        </p:nvSpPr>
        <p:spPr>
          <a:xfrm>
            <a:off x="685800" y="3136391"/>
            <a:ext cx="1554480" cy="859536"/>
          </a:xfrm>
          <a:prstGeom prst="rect">
            <a:avLst/>
          </a:prstGeom>
          <a:noFill/>
        </p:spPr>
        <p:txBody>
          <a:bodyPr wrap="square" lIns="0" rIns="0" tIns="18288" bIns="0">
            <a:spAutoFit/>
          </a:bodyPr>
          <a:lstStyle/>
          <a:p>
            <a:pPr algn="l">
              <a:lnSpc>
                <a:spcPct val="110000"/>
              </a:lnSpc>
              <a:spcBef>
                <a:spcPts val="0"/>
              </a:spcBef>
              <a:spcAft>
                <a:spcPts val="500"/>
              </a:spcAft>
              <a:defRPr sz="2000" b="0">
                <a:solidFill>
                  <a:srgbClr val="20334E"/>
                </a:solidFill>
                <a:latin typeface="Aptos"/>
              </a:defRPr>
            </a:pPr>
            <a:r>
              <a:t>a, b, ap</a:t>
            </a:r>
          </a:p>
          <a:p>
            <a:pPr algn="l">
              <a:lnSpc>
                <a:spcPct val="110000"/>
              </a:lnSpc>
              <a:spcBef>
                <a:spcPts val="0"/>
              </a:spcBef>
              <a:spcAft>
                <a:spcPts val="500"/>
              </a:spcAft>
              <a:defRPr sz="2000" b="0">
                <a:solidFill>
                  <a:srgbClr val="20334E"/>
                </a:solidFill>
                <a:latin typeface="Aptos"/>
              </a:defRPr>
            </a:pPr>
            <a:r>
              <a:t>CSR signals</a:t>
            </a:r>
          </a:p>
        </p:txBody>
      </p:sp>
      <p:sp>
        <p:nvSpPr>
          <p:cNvPr id="13" name="Rounded Rectangle 12"/>
          <p:cNvSpPr/>
          <p:nvPr/>
        </p:nvSpPr>
        <p:spPr>
          <a:xfrm>
            <a:off x="2880360" y="1920240"/>
            <a:ext cx="2834640" cy="713232"/>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1920240"/>
            <a:ext cx="50292" cy="713232"/>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63240" y="2039112"/>
            <a:ext cx="2468880" cy="512064"/>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7352AD"/>
                </a:solidFill>
                <a:latin typeface="Aptos"/>
              </a:defRPr>
            </a:pPr>
            <a:r>
              <a:t>Logic / CSR read</a:t>
            </a:r>
          </a:p>
        </p:txBody>
      </p:sp>
      <p:cxnSp>
        <p:nvCxnSpPr>
          <p:cNvPr id="16" name="Connector 15"/>
          <p:cNvCxnSpPr/>
          <p:nvPr/>
        </p:nvCxnSpPr>
        <p:spPr>
          <a:xfrm flipV="1">
            <a:off x="2441448" y="2276856"/>
            <a:ext cx="411480" cy="969264"/>
          </a:xfrm>
          <a:prstGeom prst="line">
            <a:avLst/>
          </a:prstGeom>
          <a:ln w="25400">
            <a:solidFill>
              <a:srgbClr val="2563B7"/>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733288" y="2276856"/>
            <a:ext cx="758952" cy="969264"/>
          </a:xfrm>
          <a:prstGeom prst="line">
            <a:avLst/>
          </a:prstGeom>
          <a:ln w="25400">
            <a:solidFill>
              <a:srgbClr val="7352AD"/>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880360" y="2788920"/>
            <a:ext cx="2834640" cy="713232"/>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80360" y="2788920"/>
            <a:ext cx="50292" cy="713232"/>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63240" y="2907791"/>
            <a:ext cx="2468880" cy="512064"/>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7352AD"/>
                </a:solidFill>
                <a:latin typeface="Aptos"/>
              </a:defRPr>
            </a:pPr>
            <a:r>
              <a:t>Adder / compare</a:t>
            </a:r>
          </a:p>
        </p:txBody>
      </p:sp>
      <p:cxnSp>
        <p:nvCxnSpPr>
          <p:cNvPr id="21" name="Connector 20"/>
          <p:cNvCxnSpPr/>
          <p:nvPr/>
        </p:nvCxnSpPr>
        <p:spPr>
          <a:xfrm flipV="1">
            <a:off x="2441448" y="3145536"/>
            <a:ext cx="411480" cy="100584"/>
          </a:xfrm>
          <a:prstGeom prst="line">
            <a:avLst/>
          </a:prstGeom>
          <a:ln w="25400">
            <a:solidFill>
              <a:srgbClr val="2563B7"/>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733288" y="3145536"/>
            <a:ext cx="758952" cy="100584"/>
          </a:xfrm>
          <a:prstGeom prst="line">
            <a:avLst/>
          </a:prstGeom>
          <a:ln w="25400">
            <a:solidFill>
              <a:srgbClr val="7352AD"/>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880360" y="3657600"/>
            <a:ext cx="2834640" cy="713232"/>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880360" y="3657600"/>
            <a:ext cx="50292" cy="713232"/>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63240" y="3776472"/>
            <a:ext cx="2468880" cy="512064"/>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7352AD"/>
                </a:solidFill>
                <a:latin typeface="Aptos"/>
              </a:defRPr>
            </a:pPr>
            <a:r>
              <a:t>Shift / rotate</a:t>
            </a:r>
          </a:p>
        </p:txBody>
      </p:sp>
      <p:cxnSp>
        <p:nvCxnSpPr>
          <p:cNvPr id="26" name="Connector 25"/>
          <p:cNvCxnSpPr/>
          <p:nvPr/>
        </p:nvCxnSpPr>
        <p:spPr>
          <a:xfrm>
            <a:off x="2441448" y="3246120"/>
            <a:ext cx="411480" cy="768095"/>
          </a:xfrm>
          <a:prstGeom prst="line">
            <a:avLst/>
          </a:prstGeom>
          <a:ln w="25400">
            <a:solidFill>
              <a:srgbClr val="2563B7"/>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733288" y="3246120"/>
            <a:ext cx="758952" cy="768095"/>
          </a:xfrm>
          <a:prstGeom prst="line">
            <a:avLst/>
          </a:prstGeom>
          <a:ln w="25400">
            <a:solidFill>
              <a:srgbClr val="7352AD"/>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880360" y="4526280"/>
            <a:ext cx="2834640" cy="713232"/>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880360" y="4526280"/>
            <a:ext cx="50292" cy="713232"/>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63240" y="4645152"/>
            <a:ext cx="2468880" cy="512064"/>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7352AD"/>
                </a:solidFill>
                <a:latin typeface="Aptos"/>
              </a:defRPr>
            </a:pPr>
            <a:r>
              <a:t>Count / pack / bits</a:t>
            </a:r>
          </a:p>
        </p:txBody>
      </p:sp>
      <p:cxnSp>
        <p:nvCxnSpPr>
          <p:cNvPr id="31" name="Connector 30"/>
          <p:cNvCxnSpPr/>
          <p:nvPr/>
        </p:nvCxnSpPr>
        <p:spPr>
          <a:xfrm>
            <a:off x="2441448" y="3246120"/>
            <a:ext cx="411480" cy="1636776"/>
          </a:xfrm>
          <a:prstGeom prst="line">
            <a:avLst/>
          </a:prstGeom>
          <a:ln w="25400">
            <a:solidFill>
              <a:srgbClr val="2563B7"/>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733288" y="3246120"/>
            <a:ext cx="758952" cy="1636776"/>
          </a:xfrm>
          <a:prstGeom prst="line">
            <a:avLst/>
          </a:prstGeom>
          <a:ln w="25400">
            <a:solidFill>
              <a:srgbClr val="7352AD"/>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519672" y="2468880"/>
            <a:ext cx="2084831" cy="1618488"/>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519672" y="2468880"/>
            <a:ext cx="50292" cy="1618488"/>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02552" y="2606040"/>
            <a:ext cx="1719072" cy="448056"/>
          </a:xfrm>
          <a:prstGeom prst="rect">
            <a:avLst/>
          </a:prstGeom>
          <a:noFill/>
        </p:spPr>
        <p:txBody>
          <a:bodyPr wrap="square" lIns="0" rIns="0" tIns="18288" bIns="0">
            <a:spAutoFit/>
          </a:bodyPr>
          <a:lstStyle/>
          <a:p>
            <a:pPr algn="l">
              <a:lnSpc>
                <a:spcPct val="110000"/>
              </a:lnSpc>
              <a:spcBef>
                <a:spcPts val="0"/>
              </a:spcBef>
              <a:spcAft>
                <a:spcPts val="500"/>
              </a:spcAft>
              <a:defRPr sz="2100" b="1">
                <a:solidFill>
                  <a:srgbClr val="087F83"/>
                </a:solidFill>
                <a:latin typeface="Aptos"/>
              </a:defRPr>
            </a:pPr>
            <a:r>
              <a:t>Combine</a:t>
            </a:r>
          </a:p>
        </p:txBody>
      </p:sp>
      <p:sp>
        <p:nvSpPr>
          <p:cNvPr id="36" name="TextBox 35"/>
          <p:cNvSpPr txBox="1"/>
          <p:nvPr/>
        </p:nvSpPr>
        <p:spPr>
          <a:xfrm>
            <a:off x="6702552" y="3182112"/>
            <a:ext cx="1719072" cy="832104"/>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Masked OR</a:t>
            </a:r>
          </a:p>
          <a:p>
            <a:pPr algn="l">
              <a:lnSpc>
                <a:spcPct val="110000"/>
              </a:lnSpc>
              <a:spcBef>
                <a:spcPts val="0"/>
              </a:spcBef>
              <a:spcAft>
                <a:spcPts val="500"/>
              </a:spcAft>
              <a:defRPr sz="1900" b="0">
                <a:solidFill>
                  <a:srgbClr val="20334E"/>
                </a:solidFill>
                <a:latin typeface="Aptos"/>
              </a:defRPr>
            </a:pPr>
            <a:r>
              <a:t>error → zero</a:t>
            </a:r>
          </a:p>
        </p:txBody>
      </p:sp>
      <p:sp>
        <p:nvSpPr>
          <p:cNvPr id="37" name="Rounded Rectangle 36"/>
          <p:cNvSpPr/>
          <p:nvPr/>
        </p:nvSpPr>
        <p:spPr>
          <a:xfrm>
            <a:off x="9144000" y="2468880"/>
            <a:ext cx="2542032" cy="1618488"/>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2468880"/>
            <a:ext cx="50292" cy="161848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26880" y="2606040"/>
            <a:ext cx="2176272" cy="448056"/>
          </a:xfrm>
          <a:prstGeom prst="rect">
            <a:avLst/>
          </a:prstGeom>
          <a:noFill/>
        </p:spPr>
        <p:txBody>
          <a:bodyPr wrap="square" lIns="0" rIns="0" tIns="18288" bIns="0">
            <a:spAutoFit/>
          </a:bodyPr>
          <a:lstStyle/>
          <a:p>
            <a:pPr algn="l">
              <a:lnSpc>
                <a:spcPct val="110000"/>
              </a:lnSpc>
              <a:spcBef>
                <a:spcPts val="0"/>
              </a:spcBef>
              <a:spcAft>
                <a:spcPts val="500"/>
              </a:spcAft>
              <a:defRPr sz="2000" b="1">
                <a:solidFill>
                  <a:srgbClr val="2563B7"/>
                </a:solidFill>
                <a:latin typeface="Aptos"/>
              </a:defRPr>
            </a:pPr>
            <a:r>
              <a:t>Result register</a:t>
            </a:r>
          </a:p>
        </p:txBody>
      </p:sp>
      <p:sp>
        <p:nvSpPr>
          <p:cNvPr id="40" name="TextBox 39"/>
          <p:cNvSpPr txBox="1"/>
          <p:nvPr/>
        </p:nvSpPr>
        <p:spPr>
          <a:xfrm>
            <a:off x="9326880" y="3182112"/>
            <a:ext cx="2176272" cy="832104"/>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result_ff[31:0]</a:t>
            </a:r>
          </a:p>
          <a:p>
            <a:pPr algn="l">
              <a:lnSpc>
                <a:spcPct val="110000"/>
              </a:lnSpc>
              <a:spcBef>
                <a:spcPts val="0"/>
              </a:spcBef>
              <a:spcAft>
                <a:spcPts val="500"/>
              </a:spcAft>
              <a:defRPr sz="1700" b="0">
                <a:solidFill>
                  <a:srgbClr val="20334E"/>
                </a:solidFill>
                <a:latin typeface="Aptos"/>
              </a:defRPr>
            </a:pPr>
            <a:r>
              <a:t>reset / enable / hold</a:t>
            </a:r>
          </a:p>
        </p:txBody>
      </p:sp>
      <p:cxnSp>
        <p:nvCxnSpPr>
          <p:cNvPr id="41" name="Connector 40"/>
          <p:cNvCxnSpPr/>
          <p:nvPr/>
        </p:nvCxnSpPr>
        <p:spPr>
          <a:xfrm>
            <a:off x="8631936" y="3246120"/>
            <a:ext cx="466344" cy="0"/>
          </a:xfrm>
          <a:prstGeom prst="line">
            <a:avLst/>
          </a:prstGeom>
          <a:ln w="25400">
            <a:solidFill>
              <a:srgbClr val="087F83"/>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6519672" y="4434840"/>
            <a:ext cx="5166360" cy="832104"/>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19672" y="4434840"/>
            <a:ext cx="50292" cy="832104"/>
          </a:xfrm>
          <a:prstGeom prst="rect">
            <a:avLst/>
          </a:prstGeom>
          <a:solidFill>
            <a:srgbClr val="C6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02552" y="4553712"/>
            <a:ext cx="4800600" cy="630936"/>
          </a:xfrm>
          <a:prstGeom prst="rect">
            <a:avLst/>
          </a:prstGeom>
          <a:noFill/>
        </p:spPr>
        <p:txBody>
          <a:bodyPr wrap="square" lIns="0" rIns="0" tIns="18288" bIns="0">
            <a:spAutoFit/>
          </a:bodyPr>
          <a:lstStyle/>
          <a:p>
            <a:pPr algn="l">
              <a:lnSpc>
                <a:spcPct val="110000"/>
              </a:lnSpc>
              <a:spcBef>
                <a:spcPts val="0"/>
              </a:spcBef>
              <a:spcAft>
                <a:spcPts val="500"/>
              </a:spcAft>
              <a:defRPr sz="1850" b="1">
                <a:solidFill>
                  <a:srgbClr val="C66A20"/>
                </a:solidFill>
                <a:latin typeface="Aptos"/>
              </a:defRPr>
            </a:pPr>
            <a:r>
              <a:t>Live error: implemented guards are incomplete</a:t>
            </a:r>
          </a:p>
        </p:txBody>
      </p:sp>
      <p:cxnSp>
        <p:nvCxnSpPr>
          <p:cNvPr id="45" name="Connector 44"/>
          <p:cNvCxnSpPr/>
          <p:nvPr/>
        </p:nvCxnSpPr>
        <p:spPr>
          <a:xfrm flipV="1">
            <a:off x="7543800" y="4105656"/>
            <a:ext cx="0" cy="301752"/>
          </a:xfrm>
          <a:prstGeom prst="line">
            <a:avLst/>
          </a:prstGeom>
          <a:ln w="25400">
            <a:solidFill>
              <a:srgbClr val="C66A20"/>
            </a:solidFill>
            <a:tailEnd type="triangle"/>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502920" y="5797296"/>
            <a:ext cx="11183112" cy="48463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2563B7"/>
                </a:solidFill>
                <a:latin typeface="Aptos"/>
              </a:defRPr>
            </a:pPr>
            <a:r>
              <a:t>Data bugs and missing control guards need different checks.</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02 / FOLLOW A REQUEST</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The UVM environment: two flows, one verdict</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Stimulus travels toward the DUT. Observations fan out to checking and coverage.</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07</a:t>
            </a:r>
          </a:p>
        </p:txBody>
      </p:sp>
      <p:sp>
        <p:nvSpPr>
          <p:cNvPr id="9" name="Rounded Rectangle 8"/>
          <p:cNvSpPr/>
          <p:nvPr/>
        </p:nvSpPr>
        <p:spPr>
          <a:xfrm>
            <a:off x="502920" y="1993392"/>
            <a:ext cx="1856231" cy="822960"/>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93392"/>
            <a:ext cx="50292" cy="822960"/>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112264"/>
            <a:ext cx="1490472" cy="621792"/>
          </a:xfrm>
          <a:prstGeom prst="rect">
            <a:avLst/>
          </a:prstGeom>
          <a:noFill/>
        </p:spPr>
        <p:txBody>
          <a:bodyPr wrap="square" lIns="0" rIns="0" tIns="18288" bIns="0">
            <a:spAutoFit/>
          </a:bodyPr>
          <a:lstStyle/>
          <a:p>
            <a:pPr algn="l">
              <a:lnSpc>
                <a:spcPct val="110000"/>
              </a:lnSpc>
              <a:spcBef>
                <a:spcPts val="0"/>
              </a:spcBef>
              <a:spcAft>
                <a:spcPts val="500"/>
              </a:spcAft>
              <a:defRPr sz="1900" b="1">
                <a:solidFill>
                  <a:srgbClr val="2563B7"/>
                </a:solidFill>
                <a:latin typeface="Aptos"/>
              </a:defRPr>
            </a:pPr>
            <a:r>
              <a:t>Sequence</a:t>
            </a:r>
          </a:p>
        </p:txBody>
      </p:sp>
      <p:sp>
        <p:nvSpPr>
          <p:cNvPr id="12" name="Rounded Rectangle 11"/>
          <p:cNvSpPr/>
          <p:nvPr/>
        </p:nvSpPr>
        <p:spPr>
          <a:xfrm>
            <a:off x="2743200" y="1993392"/>
            <a:ext cx="1856231" cy="822960"/>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0" y="1993392"/>
            <a:ext cx="50292" cy="822960"/>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0" y="2112264"/>
            <a:ext cx="1490472" cy="621792"/>
          </a:xfrm>
          <a:prstGeom prst="rect">
            <a:avLst/>
          </a:prstGeom>
          <a:noFill/>
        </p:spPr>
        <p:txBody>
          <a:bodyPr wrap="square" lIns="0" rIns="0" tIns="18288" bIns="0">
            <a:spAutoFit/>
          </a:bodyPr>
          <a:lstStyle/>
          <a:p>
            <a:pPr algn="l">
              <a:lnSpc>
                <a:spcPct val="110000"/>
              </a:lnSpc>
              <a:spcBef>
                <a:spcPts val="0"/>
              </a:spcBef>
              <a:spcAft>
                <a:spcPts val="500"/>
              </a:spcAft>
              <a:defRPr sz="1900" b="1">
                <a:solidFill>
                  <a:srgbClr val="2563B7"/>
                </a:solidFill>
                <a:latin typeface="Aptos"/>
              </a:defRPr>
            </a:pPr>
            <a:r>
              <a:t>Sequencer</a:t>
            </a:r>
          </a:p>
        </p:txBody>
      </p:sp>
      <p:sp>
        <p:nvSpPr>
          <p:cNvPr id="15" name="Rounded Rectangle 14"/>
          <p:cNvSpPr/>
          <p:nvPr/>
        </p:nvSpPr>
        <p:spPr>
          <a:xfrm>
            <a:off x="4983480" y="1993392"/>
            <a:ext cx="1856231" cy="822960"/>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83480" y="1993392"/>
            <a:ext cx="50292" cy="822960"/>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112264"/>
            <a:ext cx="1490472" cy="621792"/>
          </a:xfrm>
          <a:prstGeom prst="rect">
            <a:avLst/>
          </a:prstGeom>
          <a:noFill/>
        </p:spPr>
        <p:txBody>
          <a:bodyPr wrap="square" lIns="0" rIns="0" tIns="18288" bIns="0">
            <a:spAutoFit/>
          </a:bodyPr>
          <a:lstStyle/>
          <a:p>
            <a:pPr algn="l">
              <a:lnSpc>
                <a:spcPct val="110000"/>
              </a:lnSpc>
              <a:spcBef>
                <a:spcPts val="0"/>
              </a:spcBef>
              <a:spcAft>
                <a:spcPts val="500"/>
              </a:spcAft>
              <a:defRPr sz="1900" b="1">
                <a:solidFill>
                  <a:srgbClr val="2563B7"/>
                </a:solidFill>
                <a:latin typeface="Aptos"/>
              </a:defRPr>
            </a:pPr>
            <a:r>
              <a:t>Driver</a:t>
            </a:r>
          </a:p>
        </p:txBody>
      </p:sp>
      <p:sp>
        <p:nvSpPr>
          <p:cNvPr id="18" name="Rounded Rectangle 17"/>
          <p:cNvSpPr/>
          <p:nvPr/>
        </p:nvSpPr>
        <p:spPr>
          <a:xfrm>
            <a:off x="7223760" y="1993392"/>
            <a:ext cx="1856231" cy="822960"/>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23760" y="1993392"/>
            <a:ext cx="50292" cy="822960"/>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0" y="2112264"/>
            <a:ext cx="1490472" cy="621792"/>
          </a:xfrm>
          <a:prstGeom prst="rect">
            <a:avLst/>
          </a:prstGeom>
          <a:noFill/>
        </p:spPr>
        <p:txBody>
          <a:bodyPr wrap="square" lIns="0" rIns="0" tIns="18288" bIns="0">
            <a:spAutoFit/>
          </a:bodyPr>
          <a:lstStyle/>
          <a:p>
            <a:pPr algn="l">
              <a:lnSpc>
                <a:spcPct val="110000"/>
              </a:lnSpc>
              <a:spcBef>
                <a:spcPts val="0"/>
              </a:spcBef>
              <a:spcAft>
                <a:spcPts val="500"/>
              </a:spcAft>
              <a:defRPr sz="1900" b="1">
                <a:solidFill>
                  <a:srgbClr val="2563B7"/>
                </a:solidFill>
                <a:latin typeface="Aptos"/>
              </a:defRPr>
            </a:pPr>
            <a:r>
              <a:t>Interface</a:t>
            </a:r>
          </a:p>
        </p:txBody>
      </p:sp>
      <p:sp>
        <p:nvSpPr>
          <p:cNvPr id="21" name="Rounded Rectangle 20"/>
          <p:cNvSpPr/>
          <p:nvPr/>
        </p:nvSpPr>
        <p:spPr>
          <a:xfrm>
            <a:off x="9464040" y="1993392"/>
            <a:ext cx="2221992" cy="822960"/>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64040" y="1993392"/>
            <a:ext cx="50292" cy="822960"/>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46919" y="2112264"/>
            <a:ext cx="1856232" cy="621792"/>
          </a:xfrm>
          <a:prstGeom prst="rect">
            <a:avLst/>
          </a:prstGeom>
          <a:noFill/>
        </p:spPr>
        <p:txBody>
          <a:bodyPr wrap="square" lIns="0" rIns="0" tIns="18288" bIns="0">
            <a:spAutoFit/>
          </a:bodyPr>
          <a:lstStyle/>
          <a:p>
            <a:pPr algn="l">
              <a:lnSpc>
                <a:spcPct val="110000"/>
              </a:lnSpc>
              <a:spcBef>
                <a:spcPts val="0"/>
              </a:spcBef>
              <a:spcAft>
                <a:spcPts val="500"/>
              </a:spcAft>
              <a:defRPr sz="1900" b="1">
                <a:solidFill>
                  <a:srgbClr val="2563B7"/>
                </a:solidFill>
                <a:latin typeface="Aptos"/>
              </a:defRPr>
            </a:pPr>
            <a:r>
              <a:t>DUT</a:t>
            </a:r>
          </a:p>
        </p:txBody>
      </p:sp>
      <p:cxnSp>
        <p:nvCxnSpPr>
          <p:cNvPr id="24" name="Connector 23"/>
          <p:cNvCxnSpPr/>
          <p:nvPr/>
        </p:nvCxnSpPr>
        <p:spPr>
          <a:xfrm>
            <a:off x="2377440" y="2395728"/>
            <a:ext cx="310896" cy="0"/>
          </a:xfrm>
          <a:prstGeom prst="line">
            <a:avLst/>
          </a:prstGeom>
          <a:ln w="25400">
            <a:solidFill>
              <a:srgbClr val="2563B7"/>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617720" y="2395728"/>
            <a:ext cx="310896" cy="0"/>
          </a:xfrm>
          <a:prstGeom prst="line">
            <a:avLst/>
          </a:prstGeom>
          <a:ln w="25400">
            <a:solidFill>
              <a:srgbClr val="2563B7"/>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858000" y="2395728"/>
            <a:ext cx="310896" cy="0"/>
          </a:xfrm>
          <a:prstGeom prst="line">
            <a:avLst/>
          </a:prstGeom>
          <a:ln w="25400">
            <a:solidFill>
              <a:srgbClr val="2563B7"/>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098280" y="2395728"/>
            <a:ext cx="310896" cy="0"/>
          </a:xfrm>
          <a:prstGeom prst="line">
            <a:avLst/>
          </a:prstGeom>
          <a:ln w="25400">
            <a:solidFill>
              <a:srgbClr val="2563B7"/>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223760" y="3355848"/>
            <a:ext cx="1856231" cy="822960"/>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23760" y="3355848"/>
            <a:ext cx="50292" cy="822960"/>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0" y="3474720"/>
            <a:ext cx="1490472" cy="621792"/>
          </a:xfrm>
          <a:prstGeom prst="rect">
            <a:avLst/>
          </a:prstGeom>
          <a:noFill/>
        </p:spPr>
        <p:txBody>
          <a:bodyPr wrap="square" lIns="0" rIns="0" tIns="18288" bIns="0">
            <a:spAutoFit/>
          </a:bodyPr>
          <a:lstStyle/>
          <a:p>
            <a:pPr algn="l">
              <a:lnSpc>
                <a:spcPct val="110000"/>
              </a:lnSpc>
              <a:spcBef>
                <a:spcPts val="0"/>
              </a:spcBef>
              <a:spcAft>
                <a:spcPts val="500"/>
              </a:spcAft>
              <a:defRPr sz="1900" b="1">
                <a:solidFill>
                  <a:srgbClr val="2563B7"/>
                </a:solidFill>
                <a:latin typeface="Aptos"/>
              </a:defRPr>
            </a:pPr>
            <a:r>
              <a:t>Monitor</a:t>
            </a:r>
          </a:p>
        </p:txBody>
      </p:sp>
      <p:cxnSp>
        <p:nvCxnSpPr>
          <p:cNvPr id="31" name="Connector 30"/>
          <p:cNvCxnSpPr/>
          <p:nvPr/>
        </p:nvCxnSpPr>
        <p:spPr>
          <a:xfrm>
            <a:off x="8147304" y="2834640"/>
            <a:ext cx="0" cy="475488"/>
          </a:xfrm>
          <a:prstGeom prst="line">
            <a:avLst/>
          </a:prstGeom>
          <a:ln w="25400">
            <a:solidFill>
              <a:srgbClr val="2563B7"/>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3977639" y="3355848"/>
            <a:ext cx="2468880" cy="822960"/>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77639" y="3355848"/>
            <a:ext cx="50292" cy="822960"/>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60520" y="3474720"/>
            <a:ext cx="2103120" cy="621792"/>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7352AD"/>
                </a:solidFill>
                <a:latin typeface="Aptos"/>
              </a:defRPr>
            </a:pPr>
            <a:r>
              <a:t>Reference model</a:t>
            </a:r>
          </a:p>
        </p:txBody>
      </p:sp>
      <p:cxnSp>
        <p:nvCxnSpPr>
          <p:cNvPr id="35" name="Connector 34"/>
          <p:cNvCxnSpPr/>
          <p:nvPr/>
        </p:nvCxnSpPr>
        <p:spPr>
          <a:xfrm flipH="1">
            <a:off x="6483096" y="3767328"/>
            <a:ext cx="713232" cy="0"/>
          </a:xfrm>
          <a:prstGeom prst="line">
            <a:avLst/>
          </a:prstGeom>
          <a:ln w="25400">
            <a:solidFill>
              <a:srgbClr val="7352AD"/>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977639" y="4773168"/>
            <a:ext cx="2468880" cy="822960"/>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977639" y="4773168"/>
            <a:ext cx="50292" cy="82296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60520" y="4892040"/>
            <a:ext cx="2103120" cy="621792"/>
          </a:xfrm>
          <a:prstGeom prst="rect">
            <a:avLst/>
          </a:prstGeom>
          <a:noFill/>
        </p:spPr>
        <p:txBody>
          <a:bodyPr wrap="square" lIns="0" rIns="0" tIns="18288" bIns="0">
            <a:spAutoFit/>
          </a:bodyPr>
          <a:lstStyle/>
          <a:p>
            <a:pPr algn="l">
              <a:lnSpc>
                <a:spcPct val="110000"/>
              </a:lnSpc>
              <a:spcBef>
                <a:spcPts val="0"/>
              </a:spcBef>
              <a:spcAft>
                <a:spcPts val="500"/>
              </a:spcAft>
              <a:defRPr sz="1700" b="1">
                <a:solidFill>
                  <a:srgbClr val="087F83"/>
                </a:solidFill>
                <a:latin typeface="Aptos"/>
              </a:defRPr>
            </a:pPr>
            <a:r>
              <a:t>Scoreboard + checker</a:t>
            </a:r>
          </a:p>
        </p:txBody>
      </p:sp>
      <p:cxnSp>
        <p:nvCxnSpPr>
          <p:cNvPr id="39" name="Connector 38"/>
          <p:cNvCxnSpPr/>
          <p:nvPr/>
        </p:nvCxnSpPr>
        <p:spPr>
          <a:xfrm>
            <a:off x="5212080" y="4206240"/>
            <a:ext cx="0" cy="530352"/>
          </a:xfrm>
          <a:prstGeom prst="line">
            <a:avLst/>
          </a:prstGeom>
          <a:ln w="25400">
            <a:solidFill>
              <a:srgbClr val="7352AD"/>
            </a:solidFill>
            <a:tailEnd type="triangle"/>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096512" y="4315968"/>
            <a:ext cx="1005840" cy="228600"/>
          </a:xfrm>
          <a:prstGeom prst="rect">
            <a:avLst/>
          </a:prstGeom>
          <a:noFill/>
        </p:spPr>
        <p:txBody>
          <a:bodyPr wrap="square" lIns="0" rIns="0" tIns="18288" bIns="0">
            <a:spAutoFit/>
          </a:bodyPr>
          <a:lstStyle/>
          <a:p>
            <a:pPr algn="l">
              <a:lnSpc>
                <a:spcPct val="110000"/>
              </a:lnSpc>
              <a:spcBef>
                <a:spcPts val="0"/>
              </a:spcBef>
              <a:spcAft>
                <a:spcPts val="500"/>
              </a:spcAft>
              <a:defRPr sz="1100" b="0">
                <a:solidFill>
                  <a:srgbClr val="7352AD"/>
                </a:solidFill>
                <a:latin typeface="Aptos"/>
              </a:defRPr>
            </a:pPr>
            <a:r>
              <a:t>expected</a:t>
            </a:r>
          </a:p>
        </p:txBody>
      </p:sp>
      <p:cxnSp>
        <p:nvCxnSpPr>
          <p:cNvPr id="41" name="Connector 40"/>
          <p:cNvCxnSpPr/>
          <p:nvPr/>
        </p:nvCxnSpPr>
        <p:spPr>
          <a:xfrm flipH="1">
            <a:off x="6483096" y="4215384"/>
            <a:ext cx="1289304" cy="859536"/>
          </a:xfrm>
          <a:prstGeom prst="line">
            <a:avLst/>
          </a:prstGeom>
          <a:ln w="25400">
            <a:solidFill>
              <a:srgbClr val="087F83"/>
            </a:solidFill>
            <a:tailEnd type="triangle"/>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903720" y="4517136"/>
            <a:ext cx="548640" cy="228600"/>
          </a:xfrm>
          <a:prstGeom prst="rect">
            <a:avLst/>
          </a:prstGeom>
          <a:noFill/>
        </p:spPr>
        <p:txBody>
          <a:bodyPr wrap="square" lIns="0" rIns="0" tIns="18288" bIns="0">
            <a:spAutoFit/>
          </a:bodyPr>
          <a:lstStyle/>
          <a:p>
            <a:pPr algn="l">
              <a:lnSpc>
                <a:spcPct val="110000"/>
              </a:lnSpc>
              <a:spcBef>
                <a:spcPts val="0"/>
              </a:spcBef>
              <a:spcAft>
                <a:spcPts val="500"/>
              </a:spcAft>
              <a:defRPr sz="1100" b="0">
                <a:solidFill>
                  <a:srgbClr val="087F83"/>
                </a:solidFill>
                <a:latin typeface="Aptos"/>
              </a:defRPr>
            </a:pPr>
            <a:r>
              <a:t>actual</a:t>
            </a:r>
          </a:p>
        </p:txBody>
      </p:sp>
      <p:sp>
        <p:nvSpPr>
          <p:cNvPr id="43" name="Rounded Rectangle 42"/>
          <p:cNvSpPr/>
          <p:nvPr/>
        </p:nvSpPr>
        <p:spPr>
          <a:xfrm>
            <a:off x="9464040" y="4389120"/>
            <a:ext cx="2221992" cy="941832"/>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464040" y="4389120"/>
            <a:ext cx="50292" cy="941832"/>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646919" y="4480559"/>
            <a:ext cx="1856232" cy="393192"/>
          </a:xfrm>
          <a:prstGeom prst="rect">
            <a:avLst/>
          </a:prstGeom>
          <a:noFill/>
        </p:spPr>
        <p:txBody>
          <a:bodyPr wrap="square" lIns="0" rIns="0" tIns="18288" bIns="0">
            <a:spAutoFit/>
          </a:bodyPr>
          <a:lstStyle/>
          <a:p>
            <a:pPr algn="l">
              <a:lnSpc>
                <a:spcPct val="110000"/>
              </a:lnSpc>
              <a:spcBef>
                <a:spcPts val="0"/>
              </a:spcBef>
              <a:spcAft>
                <a:spcPts val="500"/>
              </a:spcAft>
              <a:defRPr sz="1900" b="1">
                <a:solidFill>
                  <a:srgbClr val="087F83"/>
                </a:solidFill>
                <a:latin typeface="Aptos"/>
              </a:defRPr>
            </a:pPr>
            <a:r>
              <a:t>Coverage</a:t>
            </a:r>
          </a:p>
        </p:txBody>
      </p:sp>
      <p:sp>
        <p:nvSpPr>
          <p:cNvPr id="46" name="TextBox 45"/>
          <p:cNvSpPr txBox="1"/>
          <p:nvPr/>
        </p:nvSpPr>
        <p:spPr>
          <a:xfrm>
            <a:off x="9646919" y="4946904"/>
            <a:ext cx="1856232" cy="356616"/>
          </a:xfrm>
          <a:prstGeom prst="rect">
            <a:avLst/>
          </a:prstGeom>
          <a:noFill/>
        </p:spPr>
        <p:txBody>
          <a:bodyPr wrap="square" lIns="0" rIns="0" tIns="18288" bIns="0">
            <a:spAutoFit/>
          </a:bodyPr>
          <a:lstStyle/>
          <a:p>
            <a:pPr algn="l">
              <a:lnSpc>
                <a:spcPct val="110000"/>
              </a:lnSpc>
              <a:spcBef>
                <a:spcPts val="0"/>
              </a:spcBef>
              <a:spcAft>
                <a:spcPts val="500"/>
              </a:spcAft>
              <a:defRPr sz="1400" b="0">
                <a:solidFill>
                  <a:srgbClr val="20334E"/>
                </a:solidFill>
                <a:latin typeface="Aptos"/>
              </a:defRPr>
            </a:pPr>
            <a:r>
              <a:t>Scenarios exercised</a:t>
            </a:r>
          </a:p>
        </p:txBody>
      </p:sp>
      <p:cxnSp>
        <p:nvCxnSpPr>
          <p:cNvPr id="47" name="Connector 46"/>
          <p:cNvCxnSpPr/>
          <p:nvPr/>
        </p:nvCxnSpPr>
        <p:spPr>
          <a:xfrm>
            <a:off x="9107424" y="3794760"/>
            <a:ext cx="1362456" cy="566928"/>
          </a:xfrm>
          <a:prstGeom prst="line">
            <a:avLst/>
          </a:prstGeom>
          <a:ln w="25400">
            <a:solidFill>
              <a:srgbClr val="087F83"/>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464040" y="3154680"/>
            <a:ext cx="2221992" cy="822960"/>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464040" y="3154680"/>
            <a:ext cx="50292" cy="822960"/>
          </a:xfrm>
          <a:prstGeom prst="rect">
            <a:avLst/>
          </a:prstGeom>
          <a:solidFill>
            <a:srgbClr val="C6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46919" y="3273552"/>
            <a:ext cx="1856232" cy="621792"/>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C66A20"/>
                </a:solidFill>
                <a:latin typeface="Aptos"/>
              </a:defRPr>
            </a:pPr>
            <a:r>
              <a:t>Assertions</a:t>
            </a:r>
          </a:p>
        </p:txBody>
      </p:sp>
      <p:cxnSp>
        <p:nvCxnSpPr>
          <p:cNvPr id="51" name="Connector 50"/>
          <p:cNvCxnSpPr/>
          <p:nvPr/>
        </p:nvCxnSpPr>
        <p:spPr>
          <a:xfrm>
            <a:off x="8869680" y="2852928"/>
            <a:ext cx="548640" cy="667512"/>
          </a:xfrm>
          <a:prstGeom prst="line">
            <a:avLst/>
          </a:prstGeom>
          <a:ln w="25400">
            <a:solidFill>
              <a:srgbClr val="C66A20"/>
            </a:solidFill>
            <a:tailEnd type="triangle"/>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9089136" y="2990088"/>
            <a:ext cx="374904" cy="0"/>
          </a:xfrm>
          <a:prstGeom prst="line">
            <a:avLst/>
          </a:prstGeom>
          <a:ln w="25400">
            <a:solidFill>
              <a:srgbClr val="2563B7"/>
            </a:solidFill>
            <a:tailEnd type="triangle"/>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491472" y="2807208"/>
            <a:ext cx="1828800" cy="219456"/>
          </a:xfrm>
          <a:prstGeom prst="rect">
            <a:avLst/>
          </a:prstGeom>
          <a:noFill/>
        </p:spPr>
        <p:txBody>
          <a:bodyPr wrap="square" lIns="0" rIns="0" tIns="18288" bIns="0">
            <a:spAutoFit/>
          </a:bodyPr>
          <a:lstStyle/>
          <a:p>
            <a:pPr algn="l">
              <a:lnSpc>
                <a:spcPct val="110000"/>
              </a:lnSpc>
              <a:spcBef>
                <a:spcPts val="0"/>
              </a:spcBef>
              <a:spcAft>
                <a:spcPts val="500"/>
              </a:spcAft>
              <a:defRPr sz="1000" b="0">
                <a:solidFill>
                  <a:srgbClr val="586B82"/>
                </a:solidFill>
                <a:latin typeface="Aptos"/>
              </a:defRPr>
            </a:pPr>
            <a:r>
              <a:t>DUT outputs to interface</a:t>
            </a:r>
          </a:p>
        </p:txBody>
      </p:sp>
      <p:sp>
        <p:nvSpPr>
          <p:cNvPr id="54" name="TextBox 53"/>
          <p:cNvSpPr txBox="1"/>
          <p:nvPr/>
        </p:nvSpPr>
        <p:spPr>
          <a:xfrm>
            <a:off x="594360" y="3355848"/>
            <a:ext cx="2926080" cy="886968"/>
          </a:xfrm>
          <a:prstGeom prst="rect">
            <a:avLst/>
          </a:prstGeom>
          <a:noFill/>
        </p:spPr>
        <p:txBody>
          <a:bodyPr wrap="square" lIns="0" rIns="0" tIns="18288" bIns="0">
            <a:spAutoFit/>
          </a:bodyPr>
          <a:lstStyle/>
          <a:p>
            <a:pPr algn="l">
              <a:lnSpc>
                <a:spcPct val="110000"/>
              </a:lnSpc>
              <a:spcBef>
                <a:spcPts val="0"/>
              </a:spcBef>
              <a:spcAft>
                <a:spcPts val="500"/>
              </a:spcAft>
              <a:defRPr sz="1400" b="0">
                <a:solidFill>
                  <a:srgbClr val="586B82"/>
                </a:solidFill>
                <a:latin typeface="Aptos"/>
              </a:defRPr>
            </a:pPr>
            <a:r>
              <a:t>Active agent:</a:t>
            </a:r>
          </a:p>
          <a:p>
            <a:pPr algn="l">
              <a:lnSpc>
                <a:spcPct val="110000"/>
              </a:lnSpc>
              <a:spcBef>
                <a:spcPts val="0"/>
              </a:spcBef>
              <a:spcAft>
                <a:spcPts val="500"/>
              </a:spcAft>
              <a:defRPr sz="1400" b="0">
                <a:solidFill>
                  <a:srgbClr val="586B82"/>
                </a:solidFill>
                <a:latin typeface="Aptos"/>
              </a:defRPr>
            </a:pPr>
            <a:r>
              <a:t>sequencer, driver, monitor</a:t>
            </a:r>
          </a:p>
        </p:txBody>
      </p:sp>
      <p:sp>
        <p:nvSpPr>
          <p:cNvPr id="55" name="Rounded Rectangle 54"/>
          <p:cNvSpPr/>
          <p:nvPr/>
        </p:nvSpPr>
        <p:spPr>
          <a:xfrm>
            <a:off x="502920" y="5797296"/>
            <a:ext cx="11183112" cy="48463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2563B7"/>
                </a:solidFill>
                <a:latin typeface="Aptos"/>
              </a:defRPr>
            </a:pPr>
            <a:r>
              <a:t>Predict from observed inputs. Compare both result_ff and error.</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02 / FOLLOW A REQUEST • STEP 1</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Your turn: construct a legal MAX request</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Before revealing the DUT output, predict what should happen.</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08</a:t>
            </a:r>
          </a:p>
        </p:txBody>
      </p:sp>
      <p:sp>
        <p:nvSpPr>
          <p:cNvPr id="9" name="Rounded Rectangle 8"/>
          <p:cNvSpPr/>
          <p:nvPr/>
        </p:nvSpPr>
        <p:spPr>
          <a:xfrm>
            <a:off x="502920" y="1975104"/>
            <a:ext cx="5486400" cy="3291840"/>
          </a:xfrm>
          <a:prstGeom prst="roundRect">
            <a:avLst>
              <a:gd name="adj" fmla="val 12000"/>
            </a:avLst>
          </a:prstGeom>
          <a:solidFill>
            <a:srgbClr val="EDF2F8"/>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39696"/>
            <a:ext cx="5120640" cy="3017520"/>
          </a:xfrm>
          <a:prstGeom prst="rect">
            <a:avLst/>
          </a:prstGeom>
          <a:noFill/>
        </p:spPr>
        <p:txBody>
          <a:bodyPr wrap="square" lIns="0" rIns="0" tIns="18288" bIns="0">
            <a:spAutoFit/>
          </a:bodyPr>
          <a:lstStyle/>
          <a:p>
            <a:pPr algn="l">
              <a:lnSpc>
                <a:spcPct val="110000"/>
              </a:lnSpc>
              <a:spcBef>
                <a:spcPts val="0"/>
              </a:spcBef>
              <a:spcAft>
                <a:spcPts val="500"/>
              </a:spcAft>
              <a:defRPr sz="2200" b="0">
                <a:solidFill>
                  <a:srgbClr val="20334E"/>
                </a:solidFill>
                <a:latin typeface="Consolas"/>
              </a:defRPr>
            </a:pPr>
            <a:r>
              <a:t>// Transaction values</a:t>
            </a:r>
          </a:p>
          <a:p>
            <a:pPr algn="l">
              <a:lnSpc>
                <a:spcPct val="110000"/>
              </a:lnSpc>
              <a:spcBef>
                <a:spcPts val="0"/>
              </a:spcBef>
              <a:spcAft>
                <a:spcPts val="500"/>
              </a:spcAft>
              <a:defRPr sz="2200" b="0">
                <a:solidFill>
                  <a:srgbClr val="20334E"/>
                </a:solidFill>
                <a:latin typeface="Consolas"/>
              </a:defRPr>
            </a:pPr>
            <a:r>
              <a:t>rst_l     = 1;</a:t>
            </a:r>
          </a:p>
          <a:p>
            <a:pPr algn="l">
              <a:lnSpc>
                <a:spcPct val="110000"/>
              </a:lnSpc>
              <a:spcBef>
                <a:spcPts val="0"/>
              </a:spcBef>
              <a:spcAft>
                <a:spcPts val="500"/>
              </a:spcAft>
              <a:defRPr sz="2200" b="0">
                <a:solidFill>
                  <a:srgbClr val="20334E"/>
                </a:solidFill>
                <a:latin typeface="Consolas"/>
              </a:defRPr>
            </a:pPr>
            <a:r>
              <a:t>valid_in  = 1;</a:t>
            </a:r>
          </a:p>
          <a:p>
            <a:pPr algn="l">
              <a:lnSpc>
                <a:spcPct val="110000"/>
              </a:lnSpc>
              <a:spcBef>
                <a:spcPts val="0"/>
              </a:spcBef>
              <a:spcAft>
                <a:spcPts val="500"/>
              </a:spcAft>
              <a:defRPr sz="2200" b="0">
                <a:solidFill>
                  <a:srgbClr val="20334E"/>
                </a:solidFill>
                <a:latin typeface="Consolas"/>
              </a:defRPr>
            </a:pPr>
            <a:r>
              <a:t>ap.max    = 1;</a:t>
            </a:r>
          </a:p>
          <a:p>
            <a:pPr algn="l">
              <a:lnSpc>
                <a:spcPct val="110000"/>
              </a:lnSpc>
              <a:spcBef>
                <a:spcPts val="0"/>
              </a:spcBef>
              <a:spcAft>
                <a:spcPts val="500"/>
              </a:spcAft>
              <a:defRPr sz="2200" b="0">
                <a:solidFill>
                  <a:srgbClr val="20334E"/>
                </a:solidFill>
                <a:latin typeface="Consolas"/>
              </a:defRPr>
            </a:pPr>
            <a:r>
              <a:t>ap.sub    = 1;</a:t>
            </a:r>
          </a:p>
          <a:p>
            <a:pPr algn="l">
              <a:lnSpc>
                <a:spcPct val="110000"/>
              </a:lnSpc>
              <a:spcBef>
                <a:spcPts val="0"/>
              </a:spcBef>
              <a:spcAft>
                <a:spcPts val="500"/>
              </a:spcAft>
              <a:defRPr sz="2200" b="0">
                <a:solidFill>
                  <a:srgbClr val="20334E"/>
                </a:solidFill>
                <a:latin typeface="Consolas"/>
              </a:defRPr>
            </a:pPr>
            <a:r>
              <a:t>a_in      = 10;</a:t>
            </a:r>
          </a:p>
          <a:p>
            <a:pPr algn="l">
              <a:lnSpc>
                <a:spcPct val="110000"/>
              </a:lnSpc>
              <a:spcBef>
                <a:spcPts val="0"/>
              </a:spcBef>
              <a:spcAft>
                <a:spcPts val="500"/>
              </a:spcAft>
              <a:defRPr sz="2200" b="0">
                <a:solidFill>
                  <a:srgbClr val="20334E"/>
                </a:solidFill>
                <a:latin typeface="Consolas"/>
              </a:defRPr>
            </a:pPr>
            <a:r>
              <a:t>b_in      = 20;</a:t>
            </a:r>
          </a:p>
        </p:txBody>
      </p:sp>
      <p:sp>
        <p:nvSpPr>
          <p:cNvPr id="11" name="Rounded Rectangle 10"/>
          <p:cNvSpPr/>
          <p:nvPr/>
        </p:nvSpPr>
        <p:spPr>
          <a:xfrm>
            <a:off x="6309360" y="1975104"/>
            <a:ext cx="5376672" cy="1325880"/>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975104"/>
            <a:ext cx="50292" cy="1325880"/>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066544"/>
            <a:ext cx="5010912" cy="393192"/>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7352AD"/>
                </a:solidFill>
                <a:latin typeface="Aptos"/>
              </a:defRPr>
            </a:pPr>
            <a:r>
              <a:t>Question 1</a:t>
            </a:r>
          </a:p>
        </p:txBody>
      </p:sp>
      <p:sp>
        <p:nvSpPr>
          <p:cNvPr id="14" name="TextBox 13"/>
          <p:cNvSpPr txBox="1"/>
          <p:nvPr/>
        </p:nvSpPr>
        <p:spPr>
          <a:xfrm>
            <a:off x="6492240" y="2532888"/>
            <a:ext cx="5010912" cy="740664"/>
          </a:xfrm>
          <a:prstGeom prst="rect">
            <a:avLst/>
          </a:prstGeom>
          <a:noFill/>
        </p:spPr>
        <p:txBody>
          <a:bodyPr wrap="square" lIns="0" rIns="0" tIns="18288" bIns="0">
            <a:spAutoFit/>
          </a:bodyPr>
          <a:lstStyle/>
          <a:p>
            <a:pPr algn="l">
              <a:lnSpc>
                <a:spcPct val="110000"/>
              </a:lnSpc>
              <a:spcBef>
                <a:spcPts val="0"/>
              </a:spcBef>
              <a:spcAft>
                <a:spcPts val="500"/>
              </a:spcAft>
              <a:defRPr sz="2100" b="0">
                <a:solidFill>
                  <a:srgbClr val="20334E"/>
                </a:solidFill>
                <a:latin typeface="Aptos"/>
              </a:defRPr>
            </a:pPr>
            <a:r>
              <a:t>Is max=1 alone a legal request?</a:t>
            </a:r>
          </a:p>
        </p:txBody>
      </p:sp>
      <p:sp>
        <p:nvSpPr>
          <p:cNvPr id="15" name="Rounded Rectangle 14"/>
          <p:cNvSpPr/>
          <p:nvPr/>
        </p:nvSpPr>
        <p:spPr>
          <a:xfrm>
            <a:off x="6309360" y="3547872"/>
            <a:ext cx="5376672" cy="1325880"/>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60" y="3547872"/>
            <a:ext cx="50292" cy="1325880"/>
          </a:xfrm>
          <a:prstGeom prst="rect">
            <a:avLst/>
          </a:prstGeom>
          <a:solidFill>
            <a:srgbClr val="C6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3639312"/>
            <a:ext cx="5010912" cy="393192"/>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C66A20"/>
                </a:solidFill>
                <a:latin typeface="Aptos"/>
              </a:defRPr>
            </a:pPr>
            <a:r>
              <a:t>Question 2</a:t>
            </a:r>
          </a:p>
        </p:txBody>
      </p:sp>
      <p:sp>
        <p:nvSpPr>
          <p:cNvPr id="18" name="TextBox 17"/>
          <p:cNvSpPr txBox="1"/>
          <p:nvPr/>
        </p:nvSpPr>
        <p:spPr>
          <a:xfrm>
            <a:off x="6492240" y="4105656"/>
            <a:ext cx="5010912" cy="740664"/>
          </a:xfrm>
          <a:prstGeom prst="rect">
            <a:avLst/>
          </a:prstGeom>
          <a:noFill/>
        </p:spPr>
        <p:txBody>
          <a:bodyPr wrap="square" lIns="0" rIns="0" tIns="18288" bIns="0">
            <a:spAutoFit/>
          </a:bodyPr>
          <a:lstStyle/>
          <a:p>
            <a:pPr algn="l">
              <a:lnSpc>
                <a:spcPct val="110000"/>
              </a:lnSpc>
              <a:spcBef>
                <a:spcPts val="0"/>
              </a:spcBef>
              <a:spcAft>
                <a:spcPts val="500"/>
              </a:spcAft>
              <a:defRPr sz="2100" b="0">
                <a:solidFill>
                  <a:srgbClr val="20334E"/>
                </a:solidFill>
                <a:latin typeface="Aptos"/>
              </a:defRPr>
            </a:pPr>
            <a:r>
              <a:t>What are result_ff and error?</a:t>
            </a:r>
          </a:p>
        </p:txBody>
      </p:sp>
      <p:sp>
        <p:nvSpPr>
          <p:cNvPr id="19" name="Rounded Rectangle 18"/>
          <p:cNvSpPr/>
          <p:nvPr/>
        </p:nvSpPr>
        <p:spPr>
          <a:xfrm>
            <a:off x="502920" y="5797296"/>
            <a:ext cx="11183112" cy="48463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a:hlinkClick action="ppaction://hlinksldjump" r:id="rId4"/>
          </p:cNvPr>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750" b="1">
                <a:solidFill>
                  <a:srgbClr val="2563B7"/>
                </a:solidFill>
                <a:latin typeface="Aptos"/>
              </a:defRPr>
            </a:pPr>
            <a:r>
              <a:t>Think first. The next two slides reveal when the request is driven and what happens.</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02 / FOLLOW A REQUEST • STEP 2</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The request becomes pin-level activity</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Sequence → sequencer → driver → interface → DUT</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09</a:t>
            </a:r>
          </a:p>
        </p:txBody>
      </p:sp>
      <p:sp>
        <p:nvSpPr>
          <p:cNvPr id="9" name="Rounded Rectangle 8"/>
          <p:cNvSpPr/>
          <p:nvPr/>
        </p:nvSpPr>
        <p:spPr>
          <a:xfrm>
            <a:off x="502920" y="1965960"/>
            <a:ext cx="5458968" cy="2560320"/>
          </a:xfrm>
          <a:prstGeom prst="roundRect">
            <a:avLst>
              <a:gd name="adj" fmla="val 12000"/>
            </a:avLst>
          </a:prstGeom>
          <a:solidFill>
            <a:srgbClr val="EDF2F8"/>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30552"/>
            <a:ext cx="5093207" cy="2286000"/>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Consolas"/>
              </a:defRPr>
            </a:pPr>
            <a:r>
              <a:t>// UVM handshake — simplified</a:t>
            </a:r>
          </a:p>
          <a:p>
            <a:pPr algn="l">
              <a:lnSpc>
                <a:spcPct val="110000"/>
              </a:lnSpc>
              <a:spcBef>
                <a:spcPts val="0"/>
              </a:spcBef>
              <a:spcAft>
                <a:spcPts val="500"/>
              </a:spcAft>
              <a:defRPr sz="1800" b="0">
                <a:solidFill>
                  <a:srgbClr val="20334E"/>
                </a:solidFill>
                <a:latin typeface="Consolas"/>
              </a:defRPr>
            </a:pPr>
            <a:r>
              <a:t>start_item(req);</a:t>
            </a:r>
          </a:p>
          <a:p>
            <a:pPr algn="l">
              <a:lnSpc>
                <a:spcPct val="110000"/>
              </a:lnSpc>
              <a:spcBef>
                <a:spcPts val="0"/>
              </a:spcBef>
              <a:spcAft>
                <a:spcPts val="500"/>
              </a:spcAft>
              <a:defRPr sz="1800" b="0">
                <a:solidFill>
                  <a:srgbClr val="20334E"/>
                </a:solidFill>
                <a:latin typeface="Consolas"/>
              </a:defRPr>
            </a:pPr>
            <a:r>
              <a:t>// fill request fields</a:t>
            </a:r>
          </a:p>
          <a:p>
            <a:pPr algn="l">
              <a:lnSpc>
                <a:spcPct val="110000"/>
              </a:lnSpc>
              <a:spcBef>
                <a:spcPts val="0"/>
              </a:spcBef>
              <a:spcAft>
                <a:spcPts val="500"/>
              </a:spcAft>
              <a:defRPr sz="1800" b="0">
                <a:solidFill>
                  <a:srgbClr val="20334E"/>
                </a:solidFill>
                <a:latin typeface="Consolas"/>
              </a:defRPr>
            </a:pPr>
            <a:r>
              <a:t>finish_item(req);</a:t>
            </a:r>
          </a:p>
          <a:p>
            <a:pPr algn="l">
              <a:lnSpc>
                <a:spcPct val="110000"/>
              </a:lnSpc>
              <a:spcBef>
                <a:spcPts val="0"/>
              </a:spcBef>
              <a:spcAft>
                <a:spcPts val="500"/>
              </a:spcAft>
              <a:defRPr sz="1800" b="0">
                <a:solidFill>
                  <a:srgbClr val="20334E"/>
                </a:solidFill>
                <a:latin typeface="Consolas"/>
              </a:defRPr>
            </a:pPr>
          </a:p>
          <a:p>
            <a:pPr algn="l">
              <a:lnSpc>
                <a:spcPct val="110000"/>
              </a:lnSpc>
              <a:spcBef>
                <a:spcPts val="0"/>
              </a:spcBef>
              <a:spcAft>
                <a:spcPts val="500"/>
              </a:spcAft>
              <a:defRPr sz="1800" b="0">
                <a:solidFill>
                  <a:srgbClr val="20334E"/>
                </a:solidFill>
                <a:latin typeface="Consolas"/>
              </a:defRPr>
            </a:pPr>
            <a:r>
              <a:t>// Driver: get → drive → item_done</a:t>
            </a:r>
          </a:p>
        </p:txBody>
      </p:sp>
      <p:sp>
        <p:nvSpPr>
          <p:cNvPr id="11" name="Rounded Rectangle 10"/>
          <p:cNvSpPr/>
          <p:nvPr/>
        </p:nvSpPr>
        <p:spPr>
          <a:xfrm>
            <a:off x="6217920" y="1965960"/>
            <a:ext cx="5468112" cy="94183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965960"/>
            <a:ext cx="50292" cy="941832"/>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057400"/>
            <a:ext cx="5102352" cy="393192"/>
          </a:xfrm>
          <a:prstGeom prst="rect">
            <a:avLst/>
          </a:prstGeom>
          <a:noFill/>
        </p:spPr>
        <p:txBody>
          <a:bodyPr wrap="square" lIns="0" rIns="0" tIns="18288" bIns="0">
            <a:spAutoFit/>
          </a:bodyPr>
          <a:lstStyle/>
          <a:p>
            <a:pPr algn="l">
              <a:lnSpc>
                <a:spcPct val="110000"/>
              </a:lnSpc>
              <a:spcBef>
                <a:spcPts val="0"/>
              </a:spcBef>
              <a:spcAft>
                <a:spcPts val="500"/>
              </a:spcAft>
              <a:defRPr sz="2100" b="1">
                <a:solidFill>
                  <a:srgbClr val="2563B7"/>
                </a:solidFill>
                <a:latin typeface="Aptos"/>
              </a:defRPr>
            </a:pPr>
            <a:r>
              <a:t>10 ns: falling edge</a:t>
            </a:r>
          </a:p>
        </p:txBody>
      </p:sp>
      <p:sp>
        <p:nvSpPr>
          <p:cNvPr id="14" name="TextBox 13"/>
          <p:cNvSpPr txBox="1"/>
          <p:nvPr/>
        </p:nvSpPr>
        <p:spPr>
          <a:xfrm>
            <a:off x="6400800" y="2523744"/>
            <a:ext cx="5102352" cy="35661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Drive MAX, SUB, a=10, b=20</a:t>
            </a:r>
          </a:p>
        </p:txBody>
      </p:sp>
      <p:sp>
        <p:nvSpPr>
          <p:cNvPr id="15" name="Rounded Rectangle 14"/>
          <p:cNvSpPr/>
          <p:nvPr/>
        </p:nvSpPr>
        <p:spPr>
          <a:xfrm>
            <a:off x="6217920" y="3063239"/>
            <a:ext cx="5468112" cy="941832"/>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063239"/>
            <a:ext cx="50292" cy="941832"/>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154679"/>
            <a:ext cx="5102352" cy="393192"/>
          </a:xfrm>
          <a:prstGeom prst="rect">
            <a:avLst/>
          </a:prstGeom>
          <a:noFill/>
        </p:spPr>
        <p:txBody>
          <a:bodyPr wrap="square" lIns="0" rIns="0" tIns="18288" bIns="0">
            <a:spAutoFit/>
          </a:bodyPr>
          <a:lstStyle/>
          <a:p>
            <a:pPr algn="l">
              <a:lnSpc>
                <a:spcPct val="110000"/>
              </a:lnSpc>
              <a:spcBef>
                <a:spcPts val="0"/>
              </a:spcBef>
              <a:spcAft>
                <a:spcPts val="500"/>
              </a:spcAft>
              <a:defRPr sz="2100" b="1">
                <a:solidFill>
                  <a:srgbClr val="7352AD"/>
                </a:solidFill>
                <a:latin typeface="Aptos"/>
              </a:defRPr>
            </a:pPr>
            <a:r>
              <a:t>10–15 ns: compute</a:t>
            </a:r>
          </a:p>
        </p:txBody>
      </p:sp>
      <p:sp>
        <p:nvSpPr>
          <p:cNvPr id="18" name="TextBox 17"/>
          <p:cNvSpPr txBox="1"/>
          <p:nvPr/>
        </p:nvSpPr>
        <p:spPr>
          <a:xfrm>
            <a:off x="6400800" y="3621023"/>
            <a:ext cx="5102352" cy="35661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Result path and live error settle</a:t>
            </a:r>
          </a:p>
        </p:txBody>
      </p:sp>
      <p:sp>
        <p:nvSpPr>
          <p:cNvPr id="19" name="Rounded Rectangle 18"/>
          <p:cNvSpPr/>
          <p:nvPr/>
        </p:nvSpPr>
        <p:spPr>
          <a:xfrm>
            <a:off x="6217920" y="4160520"/>
            <a:ext cx="5468112" cy="941832"/>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4160520"/>
            <a:ext cx="50292" cy="941832"/>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251959"/>
            <a:ext cx="5102352" cy="393192"/>
          </a:xfrm>
          <a:prstGeom prst="rect">
            <a:avLst/>
          </a:prstGeom>
          <a:noFill/>
        </p:spPr>
        <p:txBody>
          <a:bodyPr wrap="square" lIns="0" rIns="0" tIns="18288" bIns="0">
            <a:spAutoFit/>
          </a:bodyPr>
          <a:lstStyle/>
          <a:p>
            <a:pPr algn="l">
              <a:lnSpc>
                <a:spcPct val="110000"/>
              </a:lnSpc>
              <a:spcBef>
                <a:spcPts val="0"/>
              </a:spcBef>
              <a:spcAft>
                <a:spcPts val="500"/>
              </a:spcAft>
              <a:defRPr sz="2100" b="1">
                <a:solidFill>
                  <a:srgbClr val="087F83"/>
                </a:solidFill>
                <a:latin typeface="Aptos"/>
              </a:defRPr>
            </a:pPr>
            <a:r>
              <a:t>15 ns: rising edge</a:t>
            </a:r>
          </a:p>
        </p:txBody>
      </p:sp>
      <p:sp>
        <p:nvSpPr>
          <p:cNvPr id="22" name="TextBox 21"/>
          <p:cNvSpPr txBox="1"/>
          <p:nvPr/>
        </p:nvSpPr>
        <p:spPr>
          <a:xfrm>
            <a:off x="6400800" y="4718304"/>
            <a:ext cx="5102352" cy="35661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Register updates; monitor samples</a:t>
            </a:r>
          </a:p>
        </p:txBody>
      </p:sp>
      <p:sp>
        <p:nvSpPr>
          <p:cNvPr id="23" name="TextBox 22"/>
          <p:cNvSpPr txBox="1"/>
          <p:nvPr/>
        </p:nvSpPr>
        <p:spPr>
          <a:xfrm>
            <a:off x="594360" y="4700016"/>
            <a:ext cx="5303520" cy="804672"/>
          </a:xfrm>
          <a:prstGeom prst="rect">
            <a:avLst/>
          </a:prstGeom>
          <a:noFill/>
        </p:spPr>
        <p:txBody>
          <a:bodyPr wrap="square" lIns="0" rIns="0" tIns="18288" bIns="0">
            <a:spAutoFit/>
          </a:bodyPr>
          <a:lstStyle/>
          <a:p>
            <a:pPr algn="l">
              <a:lnSpc>
                <a:spcPct val="110000"/>
              </a:lnSpc>
              <a:spcBef>
                <a:spcPts val="0"/>
              </a:spcBef>
              <a:spcAft>
                <a:spcPts val="500"/>
              </a:spcAft>
              <a:defRPr sz="1750" b="0">
                <a:solidFill>
                  <a:srgbClr val="586B82"/>
                </a:solidFill>
                <a:latin typeface="Aptos"/>
              </a:defRPr>
            </a:pPr>
            <a:r>
              <a:t>Driver completion means the item was driven.</a:t>
            </a:r>
          </a:p>
          <a:p>
            <a:pPr algn="l">
              <a:lnSpc>
                <a:spcPct val="110000"/>
              </a:lnSpc>
              <a:spcBef>
                <a:spcPts val="0"/>
              </a:spcBef>
              <a:spcAft>
                <a:spcPts val="500"/>
              </a:spcAft>
              <a:defRPr sz="1750" b="0">
                <a:solidFill>
                  <a:srgbClr val="586B82"/>
                </a:solidFill>
                <a:latin typeface="Aptos"/>
              </a:defRPr>
            </a:pPr>
            <a:r>
              <a:t>The scoreboard determines correctness.</a:t>
            </a:r>
          </a:p>
        </p:txBody>
      </p:sp>
      <p:sp>
        <p:nvSpPr>
          <p:cNvPr id="24" name="Rounded Rectangle 23"/>
          <p:cNvSpPr/>
          <p:nvPr/>
        </p:nvSpPr>
        <p:spPr>
          <a:xfrm>
            <a:off x="502920" y="5797296"/>
            <a:ext cx="11183112" cy="48463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a:hlinkClick action="ppaction://hlinksldjump" r:id="rId4"/>
          </p:cNvPr>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700" b="1">
                <a:solidFill>
                  <a:srgbClr val="2563B7"/>
                </a:solidFill>
                <a:latin typeface="Aptos"/>
              </a:defRPr>
            </a:pPr>
            <a:r>
              <a:t>Expected after capture: result_ff=20, error=0. The next slide reveals the actual result.</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02 / FOLLOW A REQUEST • STEP 3</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The scoreboard exposes the MAX defect</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Same observed request. Independent prediction. Different data.</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10</a:t>
            </a:r>
          </a:p>
        </p:txBody>
      </p:sp>
      <p:sp>
        <p:nvSpPr>
          <p:cNvPr id="9" name="Rounded Rectangle 8"/>
          <p:cNvSpPr/>
          <p:nvPr/>
        </p:nvSpPr>
        <p:spPr>
          <a:xfrm>
            <a:off x="502920" y="2103120"/>
            <a:ext cx="3383280" cy="1920240"/>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103120"/>
            <a:ext cx="50292" cy="1920240"/>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240279"/>
            <a:ext cx="3017520"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7352AD"/>
                </a:solidFill>
                <a:latin typeface="Aptos"/>
              </a:defRPr>
            </a:pPr>
            <a:r>
              <a:t>EXPECTED</a:t>
            </a:r>
          </a:p>
        </p:txBody>
      </p:sp>
      <p:sp>
        <p:nvSpPr>
          <p:cNvPr id="12" name="TextBox 11"/>
          <p:cNvSpPr txBox="1"/>
          <p:nvPr/>
        </p:nvSpPr>
        <p:spPr>
          <a:xfrm>
            <a:off x="685800" y="2816352"/>
            <a:ext cx="3017520" cy="1133856"/>
          </a:xfrm>
          <a:prstGeom prst="rect">
            <a:avLst/>
          </a:prstGeom>
          <a:noFill/>
        </p:spPr>
        <p:txBody>
          <a:bodyPr wrap="square" lIns="0" rIns="0" tIns="18288" bIns="0">
            <a:spAutoFit/>
          </a:bodyPr>
          <a:lstStyle/>
          <a:p>
            <a:pPr algn="l">
              <a:lnSpc>
                <a:spcPct val="110000"/>
              </a:lnSpc>
              <a:spcBef>
                <a:spcPts val="0"/>
              </a:spcBef>
              <a:spcAft>
                <a:spcPts val="500"/>
              </a:spcAft>
              <a:defRPr sz="3000" b="0">
                <a:solidFill>
                  <a:srgbClr val="20334E"/>
                </a:solidFill>
                <a:latin typeface="Aptos"/>
              </a:defRPr>
            </a:pPr>
            <a:r>
              <a:t>result_ff = 20</a:t>
            </a:r>
          </a:p>
          <a:p>
            <a:pPr algn="l">
              <a:lnSpc>
                <a:spcPct val="110000"/>
              </a:lnSpc>
              <a:spcBef>
                <a:spcPts val="0"/>
              </a:spcBef>
              <a:spcAft>
                <a:spcPts val="500"/>
              </a:spcAft>
              <a:defRPr sz="3000" b="0">
                <a:solidFill>
                  <a:srgbClr val="20334E"/>
                </a:solidFill>
                <a:latin typeface="Aptos"/>
              </a:defRPr>
            </a:pPr>
            <a:r>
              <a:t>error = 0</a:t>
            </a:r>
          </a:p>
        </p:txBody>
      </p:sp>
      <p:sp>
        <p:nvSpPr>
          <p:cNvPr id="13" name="Rounded Rectangle 12"/>
          <p:cNvSpPr/>
          <p:nvPr/>
        </p:nvSpPr>
        <p:spPr>
          <a:xfrm>
            <a:off x="4389120" y="2103120"/>
            <a:ext cx="3383280" cy="1920240"/>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2103120"/>
            <a:ext cx="50292" cy="1920240"/>
          </a:xfrm>
          <a:prstGeom prst="rect">
            <a:avLst/>
          </a:prstGeom>
          <a:solidFill>
            <a:srgbClr val="C6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2240279"/>
            <a:ext cx="3017520"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C66A20"/>
                </a:solidFill>
                <a:latin typeface="Aptos"/>
              </a:defRPr>
            </a:pPr>
            <a:r>
              <a:t>ACTUAL</a:t>
            </a:r>
          </a:p>
        </p:txBody>
      </p:sp>
      <p:sp>
        <p:nvSpPr>
          <p:cNvPr id="16" name="TextBox 15"/>
          <p:cNvSpPr txBox="1"/>
          <p:nvPr/>
        </p:nvSpPr>
        <p:spPr>
          <a:xfrm>
            <a:off x="4572000" y="2816352"/>
            <a:ext cx="3017520" cy="1133856"/>
          </a:xfrm>
          <a:prstGeom prst="rect">
            <a:avLst/>
          </a:prstGeom>
          <a:noFill/>
        </p:spPr>
        <p:txBody>
          <a:bodyPr wrap="square" lIns="0" rIns="0" tIns="18288" bIns="0">
            <a:spAutoFit/>
          </a:bodyPr>
          <a:lstStyle/>
          <a:p>
            <a:pPr algn="l">
              <a:lnSpc>
                <a:spcPct val="110000"/>
              </a:lnSpc>
              <a:spcBef>
                <a:spcPts val="0"/>
              </a:spcBef>
              <a:spcAft>
                <a:spcPts val="500"/>
              </a:spcAft>
              <a:defRPr sz="3000" b="0">
                <a:solidFill>
                  <a:srgbClr val="20334E"/>
                </a:solidFill>
                <a:latin typeface="Aptos"/>
              </a:defRPr>
            </a:pPr>
            <a:r>
              <a:t>result_ff = 10</a:t>
            </a:r>
          </a:p>
          <a:p>
            <a:pPr algn="l">
              <a:lnSpc>
                <a:spcPct val="110000"/>
              </a:lnSpc>
              <a:spcBef>
                <a:spcPts val="0"/>
              </a:spcBef>
              <a:spcAft>
                <a:spcPts val="500"/>
              </a:spcAft>
              <a:defRPr sz="3000" b="0">
                <a:solidFill>
                  <a:srgbClr val="20334E"/>
                </a:solidFill>
                <a:latin typeface="Aptos"/>
              </a:defRPr>
            </a:pPr>
            <a:r>
              <a:t>error = 0</a:t>
            </a:r>
          </a:p>
        </p:txBody>
      </p:sp>
      <p:sp>
        <p:nvSpPr>
          <p:cNvPr id="17" name="Rounded Rectangle 16"/>
          <p:cNvSpPr/>
          <p:nvPr/>
        </p:nvSpPr>
        <p:spPr>
          <a:xfrm>
            <a:off x="8275320" y="2103120"/>
            <a:ext cx="3410712" cy="1920240"/>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75320" y="2103120"/>
            <a:ext cx="50292" cy="192024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58200" y="2240279"/>
            <a:ext cx="3044952"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087F83"/>
                </a:solidFill>
                <a:latin typeface="Aptos"/>
              </a:defRPr>
            </a:pPr>
            <a:r>
              <a:t>VERDICT</a:t>
            </a:r>
          </a:p>
        </p:txBody>
      </p:sp>
      <p:sp>
        <p:nvSpPr>
          <p:cNvPr id="20" name="TextBox 19"/>
          <p:cNvSpPr txBox="1"/>
          <p:nvPr/>
        </p:nvSpPr>
        <p:spPr>
          <a:xfrm>
            <a:off x="8458200" y="2816352"/>
            <a:ext cx="3044952" cy="1133856"/>
          </a:xfrm>
          <a:prstGeom prst="rect">
            <a:avLst/>
          </a:prstGeom>
          <a:noFill/>
        </p:spPr>
        <p:txBody>
          <a:bodyPr wrap="square" lIns="0" rIns="0" tIns="18288" bIns="0">
            <a:spAutoFit/>
          </a:bodyPr>
          <a:lstStyle/>
          <a:p>
            <a:pPr algn="l">
              <a:lnSpc>
                <a:spcPct val="110000"/>
              </a:lnSpc>
              <a:spcBef>
                <a:spcPts val="0"/>
              </a:spcBef>
              <a:spcAft>
                <a:spcPts val="500"/>
              </a:spcAft>
              <a:defRPr sz="2600" b="0">
                <a:solidFill>
                  <a:srgbClr val="20334E"/>
                </a:solidFill>
                <a:latin typeface="Aptos"/>
              </a:defRPr>
            </a:pPr>
            <a:r>
              <a:t>Mismatch</a:t>
            </a:r>
          </a:p>
          <a:p>
            <a:pPr algn="l">
              <a:lnSpc>
                <a:spcPct val="110000"/>
              </a:lnSpc>
              <a:spcBef>
                <a:spcPts val="0"/>
              </a:spcBef>
              <a:spcAft>
                <a:spcPts val="500"/>
              </a:spcAft>
              <a:defRPr sz="2600" b="0">
                <a:solidFill>
                  <a:srgbClr val="20334E"/>
                </a:solidFill>
                <a:latin typeface="Aptos"/>
              </a:defRPr>
            </a:pPr>
            <a:r>
              <a:t>BMU-BUG-010</a:t>
            </a:r>
          </a:p>
        </p:txBody>
      </p:sp>
      <p:cxnSp>
        <p:nvCxnSpPr>
          <p:cNvPr id="21" name="Connector 20"/>
          <p:cNvCxnSpPr/>
          <p:nvPr/>
        </p:nvCxnSpPr>
        <p:spPr>
          <a:xfrm>
            <a:off x="3931920" y="3063240"/>
            <a:ext cx="402336" cy="0"/>
          </a:xfrm>
          <a:prstGeom prst="line">
            <a:avLst/>
          </a:prstGeom>
          <a:ln w="25400">
            <a:solidFill>
              <a:srgbClr val="2563B7"/>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818120" y="3063240"/>
            <a:ext cx="402336" cy="0"/>
          </a:xfrm>
          <a:prstGeom prst="line">
            <a:avLst/>
          </a:prstGeom>
          <a:ln w="25400">
            <a:solidFill>
              <a:srgbClr val="C66A20"/>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02920" y="4480560"/>
            <a:ext cx="11183112" cy="877824"/>
          </a:xfrm>
          <a:prstGeom prst="roundRect">
            <a:avLst>
              <a:gd name="adj" fmla="val 12000"/>
            </a:avLst>
          </a:prstGeom>
          <a:solidFill>
            <a:srgbClr val="EDF2F8"/>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645152"/>
            <a:ext cx="10817352" cy="603503"/>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Consolas"/>
              </a:defRPr>
            </a:pPr>
            <a:r>
              <a:t>@ 15 ns   expected: 0x00000014 / error=0   actual: 0x0000000a / error=0</a:t>
            </a:r>
          </a:p>
        </p:txBody>
      </p:sp>
      <p:sp>
        <p:nvSpPr>
          <p:cNvPr id="25" name="Rounded Rectangle 24"/>
          <p:cNvSpPr/>
          <p:nvPr/>
        </p:nvSpPr>
        <p:spPr>
          <a:xfrm>
            <a:off x="502920" y="5797296"/>
            <a:ext cx="11183112" cy="484632"/>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C66A20"/>
                </a:solidFill>
                <a:latin typeface="Aptos"/>
              </a:defRPr>
            </a:pPr>
            <a:r>
              <a:t>A scenario can be covered and incorrect at the same time.</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02 / TRUST THE ENVIRONMENT</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Who checks the checker?</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A useful failure must distinguish a DUT defect from a testbench mistake.</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11</a:t>
            </a:r>
          </a:p>
        </p:txBody>
      </p:sp>
      <p:sp>
        <p:nvSpPr>
          <p:cNvPr id="9" name="Rounded Rectangle 8"/>
          <p:cNvSpPr/>
          <p:nvPr/>
        </p:nvSpPr>
        <p:spPr>
          <a:xfrm>
            <a:off x="502920" y="1984248"/>
            <a:ext cx="5486400" cy="1472184"/>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84248"/>
            <a:ext cx="50292" cy="1472184"/>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121408"/>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7352AD"/>
                </a:solidFill>
                <a:latin typeface="Aptos"/>
              </a:defRPr>
            </a:pPr>
            <a:r>
              <a:t>865 predictor self-checks</a:t>
            </a:r>
          </a:p>
        </p:txBody>
      </p:sp>
      <p:sp>
        <p:nvSpPr>
          <p:cNvPr id="12" name="TextBox 11"/>
          <p:cNvSpPr txBox="1"/>
          <p:nvPr/>
        </p:nvSpPr>
        <p:spPr>
          <a:xfrm>
            <a:off x="685800" y="2697480"/>
            <a:ext cx="5120640" cy="685800"/>
          </a:xfrm>
          <a:prstGeom prst="rect">
            <a:avLst/>
          </a:prstGeom>
          <a:noFill/>
        </p:spPr>
        <p:txBody>
          <a:bodyPr wrap="square" lIns="0" rIns="0" tIns="18288" bIns="0">
            <a:spAutoFit/>
          </a:bodyPr>
          <a:lstStyle/>
          <a:p>
            <a:pPr algn="l">
              <a:lnSpc>
                <a:spcPct val="110000"/>
              </a:lnSpc>
              <a:spcBef>
                <a:spcPts val="0"/>
              </a:spcBef>
              <a:spcAft>
                <a:spcPts val="500"/>
              </a:spcAft>
              <a:defRPr sz="2000" b="0">
                <a:solidFill>
                  <a:srgbClr val="20334E"/>
                </a:solidFill>
                <a:latin typeface="Aptos"/>
              </a:defRPr>
            </a:pPr>
            <a:r>
              <a:t>Legal, invalid, boundary and state cases</a:t>
            </a:r>
          </a:p>
        </p:txBody>
      </p:sp>
      <p:sp>
        <p:nvSpPr>
          <p:cNvPr id="13" name="Rounded Rectangle 12"/>
          <p:cNvSpPr/>
          <p:nvPr/>
        </p:nvSpPr>
        <p:spPr>
          <a:xfrm>
            <a:off x="6199632" y="1984248"/>
            <a:ext cx="5486400" cy="1472184"/>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984248"/>
            <a:ext cx="50292" cy="1472184"/>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121408"/>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2563B7"/>
                </a:solidFill>
                <a:latin typeface="Aptos"/>
              </a:defRPr>
            </a:pPr>
            <a:r>
              <a:t>Passing setup checks</a:t>
            </a:r>
          </a:p>
        </p:txBody>
      </p:sp>
      <p:sp>
        <p:nvSpPr>
          <p:cNvPr id="16" name="TextBox 15"/>
          <p:cNvSpPr txBox="1"/>
          <p:nvPr/>
        </p:nvSpPr>
        <p:spPr>
          <a:xfrm>
            <a:off x="6382512" y="2697480"/>
            <a:ext cx="5120640" cy="685800"/>
          </a:xfrm>
          <a:prstGeom prst="rect">
            <a:avLst/>
          </a:prstGeom>
          <a:noFill/>
        </p:spPr>
        <p:txBody>
          <a:bodyPr wrap="square" lIns="0" rIns="0" tIns="18288" bIns="0">
            <a:spAutoFit/>
          </a:bodyPr>
          <a:lstStyle/>
          <a:p>
            <a:pPr algn="l">
              <a:lnSpc>
                <a:spcPct val="110000"/>
              </a:lnSpc>
              <a:spcBef>
                <a:spcPts val="0"/>
              </a:spcBef>
              <a:spcAft>
                <a:spcPts val="500"/>
              </a:spcAft>
              <a:defRPr sz="2000" b="0">
                <a:solidFill>
                  <a:srgbClr val="20334E"/>
                </a:solidFill>
                <a:latin typeface="Aptos"/>
              </a:defRPr>
            </a:pPr>
            <a:r>
              <a:t>OR smoke and timing/reset tests</a:t>
            </a:r>
          </a:p>
        </p:txBody>
      </p:sp>
      <p:sp>
        <p:nvSpPr>
          <p:cNvPr id="17" name="Rounded Rectangle 16"/>
          <p:cNvSpPr/>
          <p:nvPr/>
        </p:nvSpPr>
        <p:spPr>
          <a:xfrm>
            <a:off x="502920" y="3694176"/>
            <a:ext cx="5486400" cy="1472184"/>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3694176"/>
            <a:ext cx="50292" cy="1472184"/>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831336"/>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087F83"/>
                </a:solidFill>
                <a:latin typeface="Aptos"/>
              </a:defRPr>
            </a:pPr>
            <a:r>
              <a:t>Complete comparisons</a:t>
            </a:r>
          </a:p>
        </p:txBody>
      </p:sp>
      <p:sp>
        <p:nvSpPr>
          <p:cNvPr id="20" name="TextBox 19"/>
          <p:cNvSpPr txBox="1"/>
          <p:nvPr/>
        </p:nvSpPr>
        <p:spPr>
          <a:xfrm>
            <a:off x="685800" y="4407408"/>
            <a:ext cx="5120640" cy="685800"/>
          </a:xfrm>
          <a:prstGeom prst="rect">
            <a:avLst/>
          </a:prstGeom>
          <a:noFill/>
        </p:spPr>
        <p:txBody>
          <a:bodyPr wrap="square" lIns="0" rIns="0" tIns="18288" bIns="0">
            <a:spAutoFit/>
          </a:bodyPr>
          <a:lstStyle/>
          <a:p>
            <a:pPr algn="l">
              <a:lnSpc>
                <a:spcPct val="110000"/>
              </a:lnSpc>
              <a:spcBef>
                <a:spcPts val="0"/>
              </a:spcBef>
              <a:spcAft>
                <a:spcPts val="500"/>
              </a:spcAft>
              <a:defRPr sz="2000" b="0">
                <a:solidFill>
                  <a:srgbClr val="20334E"/>
                </a:solidFill>
                <a:latin typeface="Aptos"/>
              </a:defRPr>
            </a:pPr>
            <a:r>
              <a:t>Result + error; four-state equality; queue checks</a:t>
            </a:r>
          </a:p>
        </p:txBody>
      </p:sp>
      <p:sp>
        <p:nvSpPr>
          <p:cNvPr id="21" name="Rounded Rectangle 20"/>
          <p:cNvSpPr/>
          <p:nvPr/>
        </p:nvSpPr>
        <p:spPr>
          <a:xfrm>
            <a:off x="6199632" y="3694176"/>
            <a:ext cx="5486400" cy="1472184"/>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2" y="3694176"/>
            <a:ext cx="50292" cy="1472184"/>
          </a:xfrm>
          <a:prstGeom prst="rect">
            <a:avLst/>
          </a:prstGeom>
          <a:solidFill>
            <a:srgbClr val="C6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3831336"/>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C66A20"/>
                </a:solidFill>
                <a:latin typeface="Aptos"/>
              </a:defRPr>
            </a:pPr>
            <a:r>
              <a:t>Honest failure detection</a:t>
            </a:r>
          </a:p>
        </p:txBody>
      </p:sp>
      <p:sp>
        <p:nvSpPr>
          <p:cNvPr id="24" name="TextBox 23"/>
          <p:cNvSpPr txBox="1"/>
          <p:nvPr/>
        </p:nvSpPr>
        <p:spPr>
          <a:xfrm>
            <a:off x="6382512" y="4407408"/>
            <a:ext cx="5120640" cy="685800"/>
          </a:xfrm>
          <a:prstGeom prst="rect">
            <a:avLst/>
          </a:prstGeom>
          <a:noFill/>
        </p:spPr>
        <p:txBody>
          <a:bodyPr wrap="square" lIns="0" rIns="0" tIns="18288" bIns="0">
            <a:spAutoFit/>
          </a:bodyPr>
          <a:lstStyle/>
          <a:p>
            <a:pPr algn="l">
              <a:lnSpc>
                <a:spcPct val="110000"/>
              </a:lnSpc>
              <a:spcBef>
                <a:spcPts val="0"/>
              </a:spcBef>
              <a:spcAft>
                <a:spcPts val="500"/>
              </a:spcAft>
              <a:defRPr sz="2000" b="0">
                <a:solidFill>
                  <a:srgbClr val="20334E"/>
                </a:solidFill>
                <a:latin typeface="Aptos"/>
              </a:defRPr>
            </a:pPr>
            <a:r>
              <a:t>UVM errors, assertions and incomplete runs fail</a:t>
            </a:r>
          </a:p>
        </p:txBody>
      </p:sp>
      <p:sp>
        <p:nvSpPr>
          <p:cNvPr id="25" name="Rounded Rectangle 24"/>
          <p:cNvSpPr/>
          <p:nvPr/>
        </p:nvSpPr>
        <p:spPr>
          <a:xfrm>
            <a:off x="502920" y="5797296"/>
            <a:ext cx="11183112" cy="48463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750" b="1">
                <a:solidFill>
                  <a:srgbClr val="2563B7"/>
                </a:solidFill>
                <a:latin typeface="Aptos"/>
              </a:defRPr>
            </a:pPr>
            <a:r>
              <a:t>Prediction is independent of RTL. Coverage shares specification classification helpers.</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03 / CHALLENGE THE DESIGN</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Directed testing asks precise questions</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Select inputs because they target a requirement, a boundary, or a suspected defect.</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12</a:t>
            </a:r>
          </a:p>
        </p:txBody>
      </p:sp>
      <p:sp>
        <p:nvSpPr>
          <p:cNvPr id="9" name="Rectangle 8"/>
          <p:cNvSpPr/>
          <p:nvPr/>
        </p:nvSpPr>
        <p:spPr>
          <a:xfrm>
            <a:off x="502920" y="1965960"/>
            <a:ext cx="2423160" cy="475488"/>
          </a:xfrm>
          <a:prstGeom prst="rect">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075688"/>
            <a:ext cx="2212848" cy="301752"/>
          </a:xfrm>
          <a:prstGeom prst="rect">
            <a:avLst/>
          </a:prstGeom>
          <a:noFill/>
        </p:spPr>
        <p:txBody>
          <a:bodyPr wrap="square" lIns="0" rIns="0" tIns="18288" bIns="0">
            <a:spAutoFit/>
          </a:bodyPr>
          <a:lstStyle/>
          <a:p>
            <a:pPr algn="l">
              <a:lnSpc>
                <a:spcPct val="110000"/>
              </a:lnSpc>
              <a:spcBef>
                <a:spcPts val="0"/>
              </a:spcBef>
              <a:spcAft>
                <a:spcPts val="500"/>
              </a:spcAft>
              <a:defRPr sz="1400" b="1">
                <a:solidFill>
                  <a:srgbClr val="2563B7"/>
                </a:solidFill>
                <a:latin typeface="Aptos"/>
              </a:defRPr>
            </a:pPr>
            <a:r>
              <a:t>Type</a:t>
            </a:r>
          </a:p>
        </p:txBody>
      </p:sp>
      <p:sp>
        <p:nvSpPr>
          <p:cNvPr id="11" name="Rectangle 10"/>
          <p:cNvSpPr/>
          <p:nvPr/>
        </p:nvSpPr>
        <p:spPr>
          <a:xfrm>
            <a:off x="2926080" y="1965960"/>
            <a:ext cx="3977639" cy="475488"/>
          </a:xfrm>
          <a:prstGeom prst="rect">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35808" y="2075688"/>
            <a:ext cx="3767327" cy="301752"/>
          </a:xfrm>
          <a:prstGeom prst="rect">
            <a:avLst/>
          </a:prstGeom>
          <a:noFill/>
        </p:spPr>
        <p:txBody>
          <a:bodyPr wrap="square" lIns="0" rIns="0" tIns="18288" bIns="0">
            <a:spAutoFit/>
          </a:bodyPr>
          <a:lstStyle/>
          <a:p>
            <a:pPr algn="l">
              <a:lnSpc>
                <a:spcPct val="110000"/>
              </a:lnSpc>
              <a:spcBef>
                <a:spcPts val="0"/>
              </a:spcBef>
              <a:spcAft>
                <a:spcPts val="500"/>
              </a:spcAft>
              <a:defRPr sz="1400" b="1">
                <a:solidFill>
                  <a:srgbClr val="2563B7"/>
                </a:solidFill>
                <a:latin typeface="Aptos"/>
              </a:defRPr>
            </a:pPr>
            <a:r>
              <a:t>Example</a:t>
            </a:r>
          </a:p>
        </p:txBody>
      </p:sp>
      <p:sp>
        <p:nvSpPr>
          <p:cNvPr id="13" name="Rectangle 12"/>
          <p:cNvSpPr/>
          <p:nvPr/>
        </p:nvSpPr>
        <p:spPr>
          <a:xfrm>
            <a:off x="6903720" y="1965960"/>
            <a:ext cx="4782312" cy="475488"/>
          </a:xfrm>
          <a:prstGeom prst="rect">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13448" y="2075688"/>
            <a:ext cx="4572000" cy="301752"/>
          </a:xfrm>
          <a:prstGeom prst="rect">
            <a:avLst/>
          </a:prstGeom>
          <a:noFill/>
        </p:spPr>
        <p:txBody>
          <a:bodyPr wrap="square" lIns="0" rIns="0" tIns="18288" bIns="0">
            <a:spAutoFit/>
          </a:bodyPr>
          <a:lstStyle/>
          <a:p>
            <a:pPr algn="l">
              <a:lnSpc>
                <a:spcPct val="110000"/>
              </a:lnSpc>
              <a:spcBef>
                <a:spcPts val="0"/>
              </a:spcBef>
              <a:spcAft>
                <a:spcPts val="500"/>
              </a:spcAft>
              <a:defRPr sz="1400" b="1">
                <a:solidFill>
                  <a:srgbClr val="2563B7"/>
                </a:solidFill>
                <a:latin typeface="Aptos"/>
              </a:defRPr>
            </a:pPr>
            <a:r>
              <a:t>Expected check</a:t>
            </a:r>
          </a:p>
        </p:txBody>
      </p:sp>
      <p:sp>
        <p:nvSpPr>
          <p:cNvPr id="15" name="Rectangle 14"/>
          <p:cNvSpPr/>
          <p:nvPr/>
        </p:nvSpPr>
        <p:spPr>
          <a:xfrm>
            <a:off x="502920" y="2468880"/>
            <a:ext cx="242316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2560320"/>
            <a:ext cx="2212848" cy="47548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Nominal</a:t>
            </a:r>
          </a:p>
        </p:txBody>
      </p:sp>
      <p:sp>
        <p:nvSpPr>
          <p:cNvPr id="17" name="Rectangle 16"/>
          <p:cNvSpPr/>
          <p:nvPr/>
        </p:nvSpPr>
        <p:spPr>
          <a:xfrm>
            <a:off x="2926080" y="2468880"/>
            <a:ext cx="3977639"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35808" y="2560320"/>
            <a:ext cx="3767327" cy="47548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OR with known a and b</a:t>
            </a:r>
          </a:p>
        </p:txBody>
      </p:sp>
      <p:sp>
        <p:nvSpPr>
          <p:cNvPr id="19" name="Rectangle 18"/>
          <p:cNvSpPr/>
          <p:nvPr/>
        </p:nvSpPr>
        <p:spPr>
          <a:xfrm>
            <a:off x="6903720" y="2468880"/>
            <a:ext cx="4782312"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13448" y="2560320"/>
            <a:ext cx="4572000" cy="47548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Exact result and error=0</a:t>
            </a:r>
          </a:p>
        </p:txBody>
      </p:sp>
      <p:sp>
        <p:nvSpPr>
          <p:cNvPr id="21" name="Rectangle 20"/>
          <p:cNvSpPr/>
          <p:nvPr/>
        </p:nvSpPr>
        <p:spPr>
          <a:xfrm>
            <a:off x="502920" y="3063240"/>
            <a:ext cx="2423160" cy="5715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3154680"/>
            <a:ext cx="2212848" cy="47548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Boundary</a:t>
            </a:r>
          </a:p>
        </p:txBody>
      </p:sp>
      <p:sp>
        <p:nvSpPr>
          <p:cNvPr id="23" name="Rectangle 22"/>
          <p:cNvSpPr/>
          <p:nvPr/>
        </p:nvSpPr>
        <p:spPr>
          <a:xfrm>
            <a:off x="2926080" y="3063240"/>
            <a:ext cx="3977639" cy="5715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35808" y="3154680"/>
            <a:ext cx="3767327" cy="47548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CTZ(0); shift by 0 or 31</a:t>
            </a:r>
          </a:p>
        </p:txBody>
      </p:sp>
      <p:sp>
        <p:nvSpPr>
          <p:cNvPr id="25" name="Rectangle 24"/>
          <p:cNvSpPr/>
          <p:nvPr/>
        </p:nvSpPr>
        <p:spPr>
          <a:xfrm>
            <a:off x="6903720" y="3063240"/>
            <a:ext cx="4782312" cy="5715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13448" y="3154680"/>
            <a:ext cx="4572000" cy="47548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Defined edge behavior</a:t>
            </a:r>
          </a:p>
        </p:txBody>
      </p:sp>
      <p:sp>
        <p:nvSpPr>
          <p:cNvPr id="27" name="Rectangle 26"/>
          <p:cNvSpPr/>
          <p:nvPr/>
        </p:nvSpPr>
        <p:spPr>
          <a:xfrm>
            <a:off x="502920" y="3657600"/>
            <a:ext cx="242316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 y="3749039"/>
            <a:ext cx="2212848" cy="47548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Negative control</a:t>
            </a:r>
          </a:p>
        </p:txBody>
      </p:sp>
      <p:sp>
        <p:nvSpPr>
          <p:cNvPr id="29" name="Rectangle 28"/>
          <p:cNvSpPr/>
          <p:nvPr/>
        </p:nvSpPr>
        <p:spPr>
          <a:xfrm>
            <a:off x="2926080" y="3657600"/>
            <a:ext cx="3977639"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35808" y="3749039"/>
            <a:ext cx="3767327" cy="47548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MAX without SUB</a:t>
            </a:r>
          </a:p>
        </p:txBody>
      </p:sp>
      <p:sp>
        <p:nvSpPr>
          <p:cNvPr id="31" name="Rectangle 30"/>
          <p:cNvSpPr/>
          <p:nvPr/>
        </p:nvSpPr>
        <p:spPr>
          <a:xfrm>
            <a:off x="6903720" y="3657600"/>
            <a:ext cx="4782312"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13448" y="3749039"/>
            <a:ext cx="4572000" cy="47548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error=1; capture zero</a:t>
            </a:r>
          </a:p>
        </p:txBody>
      </p:sp>
      <p:sp>
        <p:nvSpPr>
          <p:cNvPr id="33" name="Rectangle 32"/>
          <p:cNvSpPr/>
          <p:nvPr/>
        </p:nvSpPr>
        <p:spPr>
          <a:xfrm>
            <a:off x="502920" y="4251960"/>
            <a:ext cx="2423160" cy="5715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 y="4343400"/>
            <a:ext cx="2212848" cy="47548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Timing / reset</a:t>
            </a:r>
          </a:p>
        </p:txBody>
      </p:sp>
      <p:sp>
        <p:nvSpPr>
          <p:cNvPr id="35" name="Rectangle 34"/>
          <p:cNvSpPr/>
          <p:nvPr/>
        </p:nvSpPr>
        <p:spPr>
          <a:xfrm>
            <a:off x="2926080" y="4251960"/>
            <a:ext cx="3977639" cy="5715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35808" y="4343400"/>
            <a:ext cx="3767327" cy="47548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valid_in=0; reset mid-traffic</a:t>
            </a:r>
          </a:p>
        </p:txBody>
      </p:sp>
      <p:sp>
        <p:nvSpPr>
          <p:cNvPr id="37" name="Rectangle 36"/>
          <p:cNvSpPr/>
          <p:nvPr/>
        </p:nvSpPr>
        <p:spPr>
          <a:xfrm>
            <a:off x="6903720" y="4251960"/>
            <a:ext cx="4782312" cy="5715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13448" y="4343400"/>
            <a:ext cx="4572000" cy="47548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Hold, clear, recover</a:t>
            </a:r>
          </a:p>
        </p:txBody>
      </p:sp>
      <p:sp>
        <p:nvSpPr>
          <p:cNvPr id="39" name="Rectangle 38"/>
          <p:cNvSpPr/>
          <p:nvPr/>
        </p:nvSpPr>
        <p:spPr>
          <a:xfrm>
            <a:off x="502920" y="4846320"/>
            <a:ext cx="242316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2648" y="4937760"/>
            <a:ext cx="2212848" cy="47548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Bug reproducer</a:t>
            </a:r>
          </a:p>
        </p:txBody>
      </p:sp>
      <p:sp>
        <p:nvSpPr>
          <p:cNvPr id="41" name="Rectangle 40"/>
          <p:cNvSpPr/>
          <p:nvPr/>
        </p:nvSpPr>
        <p:spPr>
          <a:xfrm>
            <a:off x="2926080" y="4846320"/>
            <a:ext cx="3977639"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35808" y="4937760"/>
            <a:ext cx="3767327" cy="47548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MAX(10,20)</a:t>
            </a:r>
          </a:p>
        </p:txBody>
      </p:sp>
      <p:sp>
        <p:nvSpPr>
          <p:cNvPr id="43" name="Rectangle 42"/>
          <p:cNvSpPr/>
          <p:nvPr/>
        </p:nvSpPr>
        <p:spPr>
          <a:xfrm>
            <a:off x="6903720" y="4846320"/>
            <a:ext cx="4782312"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13448" y="4937760"/>
            <a:ext cx="4572000" cy="47548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Detect the isolated defect</a:t>
            </a:r>
          </a:p>
        </p:txBody>
      </p:sp>
      <p:sp>
        <p:nvSpPr>
          <p:cNvPr id="45" name="Rounded Rectangle 44"/>
          <p:cNvSpPr/>
          <p:nvPr/>
        </p:nvSpPr>
        <p:spPr>
          <a:xfrm>
            <a:off x="502920" y="5797296"/>
            <a:ext cx="11183112" cy="48463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2563B7"/>
                </a:solidFill>
                <a:latin typeface="Aptos"/>
              </a:defRPr>
            </a:pPr>
            <a:r>
              <a:t>Small, intentional tests explain failures quickly.</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03 / CHALLENGE THE DESIGN</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Three kinds of random exploration</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Each family generates 100 requests per run; the monitored reset adds one sample.</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13</a:t>
            </a:r>
          </a:p>
        </p:txBody>
      </p:sp>
      <p:sp>
        <p:nvSpPr>
          <p:cNvPr id="9" name="Rounded Rectangle 8"/>
          <p:cNvSpPr/>
          <p:nvPr/>
        </p:nvSpPr>
        <p:spPr>
          <a:xfrm>
            <a:off x="502920" y="2048256"/>
            <a:ext cx="3593592" cy="3054096"/>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048256"/>
            <a:ext cx="50292" cy="3054096"/>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185416"/>
            <a:ext cx="3227832" cy="448056"/>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2563B7"/>
                </a:solidFill>
                <a:latin typeface="Aptos"/>
              </a:defRPr>
            </a:pPr>
            <a:r>
              <a:t>Legal random</a:t>
            </a:r>
          </a:p>
        </p:txBody>
      </p:sp>
      <p:sp>
        <p:nvSpPr>
          <p:cNvPr id="12" name="TextBox 11"/>
          <p:cNvSpPr txBox="1"/>
          <p:nvPr/>
        </p:nvSpPr>
        <p:spPr>
          <a:xfrm>
            <a:off x="685800" y="2761488"/>
            <a:ext cx="3227832" cy="2267712"/>
          </a:xfrm>
          <a:prstGeom prst="rect">
            <a:avLst/>
          </a:prstGeom>
          <a:noFill/>
        </p:spPr>
        <p:txBody>
          <a:bodyPr wrap="square" lIns="0" rIns="0" tIns="18288" bIns="0">
            <a:spAutoFit/>
          </a:bodyPr>
          <a:lstStyle/>
          <a:p>
            <a:pPr algn="l">
              <a:lnSpc>
                <a:spcPct val="110000"/>
              </a:lnSpc>
              <a:spcBef>
                <a:spcPts val="0"/>
              </a:spcBef>
              <a:spcAft>
                <a:spcPts val="500"/>
              </a:spcAft>
              <a:defRPr sz="2100" b="0">
                <a:solidFill>
                  <a:srgbClr val="20334E"/>
                </a:solidFill>
                <a:latin typeface="Aptos"/>
              </a:defRPr>
            </a:pPr>
            <a:r>
              <a:t>Valid operation + legal modifiers</a:t>
            </a:r>
          </a:p>
          <a:p>
            <a:pPr algn="l">
              <a:lnSpc>
                <a:spcPct val="110000"/>
              </a:lnSpc>
              <a:spcBef>
                <a:spcPts val="0"/>
              </a:spcBef>
              <a:spcAft>
                <a:spcPts val="500"/>
              </a:spcAft>
              <a:defRPr sz="2100" b="0">
                <a:solidFill>
                  <a:srgbClr val="20334E"/>
                </a:solidFill>
                <a:latin typeface="Aptos"/>
              </a:defRPr>
            </a:pPr>
            <a:r>
              <a:t>Broad operand combinations</a:t>
            </a:r>
          </a:p>
          <a:p>
            <a:pPr algn="l">
              <a:lnSpc>
                <a:spcPct val="110000"/>
              </a:lnSpc>
              <a:spcBef>
                <a:spcPts val="0"/>
              </a:spcBef>
              <a:spcAft>
                <a:spcPts val="500"/>
              </a:spcAft>
              <a:defRPr sz="2100" b="0">
                <a:solidFill>
                  <a:srgbClr val="20334E"/>
                </a:solidFill>
                <a:latin typeface="Aptos"/>
              </a:defRPr>
            </a:pPr>
            <a:r>
              <a:t>Seeds 101 / 102 / 103</a:t>
            </a:r>
          </a:p>
        </p:txBody>
      </p:sp>
      <p:sp>
        <p:nvSpPr>
          <p:cNvPr id="13" name="Rounded Rectangle 12"/>
          <p:cNvSpPr/>
          <p:nvPr/>
        </p:nvSpPr>
        <p:spPr>
          <a:xfrm>
            <a:off x="4297680" y="2048256"/>
            <a:ext cx="3593592" cy="3054096"/>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048256"/>
            <a:ext cx="50292" cy="3054096"/>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2185416"/>
            <a:ext cx="3227832" cy="448056"/>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7352AD"/>
                </a:solidFill>
                <a:latin typeface="Aptos"/>
              </a:defRPr>
            </a:pPr>
            <a:r>
              <a:t>Corner random</a:t>
            </a:r>
          </a:p>
        </p:txBody>
      </p:sp>
      <p:sp>
        <p:nvSpPr>
          <p:cNvPr id="16" name="TextBox 15"/>
          <p:cNvSpPr txBox="1"/>
          <p:nvPr/>
        </p:nvSpPr>
        <p:spPr>
          <a:xfrm>
            <a:off x="4480560" y="2761488"/>
            <a:ext cx="3227832" cy="2267712"/>
          </a:xfrm>
          <a:prstGeom prst="rect">
            <a:avLst/>
          </a:prstGeom>
          <a:noFill/>
        </p:spPr>
        <p:txBody>
          <a:bodyPr wrap="square" lIns="0" rIns="0" tIns="18288" bIns="0">
            <a:spAutoFit/>
          </a:bodyPr>
          <a:lstStyle/>
          <a:p>
            <a:pPr algn="l">
              <a:lnSpc>
                <a:spcPct val="110000"/>
              </a:lnSpc>
              <a:spcBef>
                <a:spcPts val="0"/>
              </a:spcBef>
              <a:spcAft>
                <a:spcPts val="500"/>
              </a:spcAft>
              <a:defRPr sz="2100" b="0">
                <a:solidFill>
                  <a:srgbClr val="20334E"/>
                </a:solidFill>
                <a:latin typeface="Aptos"/>
              </a:defRPr>
            </a:pPr>
            <a:r>
              <a:t>Independent corners for a and b</a:t>
            </a:r>
          </a:p>
          <a:p>
            <a:pPr algn="l">
              <a:lnSpc>
                <a:spcPct val="110000"/>
              </a:lnSpc>
              <a:spcBef>
                <a:spcPts val="0"/>
              </a:spcBef>
              <a:spcAft>
                <a:spcPts val="500"/>
              </a:spcAft>
              <a:defRPr sz="2100" b="0">
                <a:solidFill>
                  <a:srgbClr val="20334E"/>
                </a:solidFill>
                <a:latin typeface="Aptos"/>
              </a:defRPr>
            </a:pPr>
            <a:r>
              <a:t>0, all ones, signed limits, patterns</a:t>
            </a:r>
          </a:p>
          <a:p>
            <a:pPr algn="l">
              <a:lnSpc>
                <a:spcPct val="110000"/>
              </a:lnSpc>
              <a:spcBef>
                <a:spcPts val="0"/>
              </a:spcBef>
              <a:spcAft>
                <a:spcPts val="500"/>
              </a:spcAft>
              <a:defRPr sz="2100" b="0">
                <a:solidFill>
                  <a:srgbClr val="20334E"/>
                </a:solidFill>
                <a:latin typeface="Aptos"/>
              </a:defRPr>
            </a:pPr>
            <a:r>
              <a:t>Seeds 201 / 202 / 203</a:t>
            </a:r>
          </a:p>
        </p:txBody>
      </p:sp>
      <p:sp>
        <p:nvSpPr>
          <p:cNvPr id="17" name="Rounded Rectangle 16"/>
          <p:cNvSpPr/>
          <p:nvPr/>
        </p:nvSpPr>
        <p:spPr>
          <a:xfrm>
            <a:off x="8092440" y="2048256"/>
            <a:ext cx="3593592" cy="3054096"/>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2048256"/>
            <a:ext cx="50292" cy="3054096"/>
          </a:xfrm>
          <a:prstGeom prst="rect">
            <a:avLst/>
          </a:prstGeom>
          <a:solidFill>
            <a:srgbClr val="C6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2185416"/>
            <a:ext cx="3227832" cy="448056"/>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C66A20"/>
                </a:solidFill>
                <a:latin typeface="Aptos"/>
              </a:defRPr>
            </a:pPr>
            <a:r>
              <a:t>Error random</a:t>
            </a:r>
          </a:p>
        </p:txBody>
      </p:sp>
      <p:sp>
        <p:nvSpPr>
          <p:cNvPr id="20" name="TextBox 19"/>
          <p:cNvSpPr txBox="1"/>
          <p:nvPr/>
        </p:nvSpPr>
        <p:spPr>
          <a:xfrm>
            <a:off x="8275320" y="2761488"/>
            <a:ext cx="3227832" cy="2267712"/>
          </a:xfrm>
          <a:prstGeom prst="rect">
            <a:avLst/>
          </a:prstGeom>
          <a:noFill/>
        </p:spPr>
        <p:txBody>
          <a:bodyPr wrap="square" lIns="0" rIns="0" tIns="18288" bIns="0">
            <a:spAutoFit/>
          </a:bodyPr>
          <a:lstStyle/>
          <a:p>
            <a:pPr algn="l">
              <a:lnSpc>
                <a:spcPct val="110000"/>
              </a:lnSpc>
              <a:spcBef>
                <a:spcPts val="0"/>
              </a:spcBef>
              <a:spcAft>
                <a:spcPts val="500"/>
              </a:spcAft>
              <a:defRPr sz="2100" b="0">
                <a:solidFill>
                  <a:srgbClr val="20334E"/>
                </a:solidFill>
                <a:latin typeface="Aptos"/>
              </a:defRPr>
            </a:pPr>
            <a:r>
              <a:t>Ten invalid-request classes</a:t>
            </a:r>
          </a:p>
          <a:p>
            <a:pPr algn="l">
              <a:lnSpc>
                <a:spcPct val="110000"/>
              </a:lnSpc>
              <a:spcBef>
                <a:spcPts val="0"/>
              </a:spcBef>
              <a:spcAft>
                <a:spcPts val="500"/>
              </a:spcAft>
              <a:defRPr sz="2100" b="0">
                <a:solidFill>
                  <a:srgbClr val="20334E"/>
                </a:solidFill>
                <a:latin typeface="Aptos"/>
              </a:defRPr>
            </a:pPr>
            <a:r>
              <a:t>Conflicts and missing requirements</a:t>
            </a:r>
          </a:p>
          <a:p>
            <a:pPr algn="l">
              <a:lnSpc>
                <a:spcPct val="110000"/>
              </a:lnSpc>
              <a:spcBef>
                <a:spcPts val="0"/>
              </a:spcBef>
              <a:spcAft>
                <a:spcPts val="500"/>
              </a:spcAft>
              <a:defRPr sz="2100" b="0">
                <a:solidFill>
                  <a:srgbClr val="20334E"/>
                </a:solidFill>
                <a:latin typeface="Aptos"/>
              </a:defRPr>
            </a:pPr>
            <a:r>
              <a:t>Seeds 301 / 302 / 303</a:t>
            </a:r>
          </a:p>
        </p:txBody>
      </p:sp>
      <p:sp>
        <p:nvSpPr>
          <p:cNvPr id="21" name="Rounded Rectangle 20"/>
          <p:cNvSpPr/>
          <p:nvPr/>
        </p:nvSpPr>
        <p:spPr>
          <a:xfrm>
            <a:off x="502920" y="5797296"/>
            <a:ext cx="11183112" cy="48463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500" b="1">
                <a:solidFill>
                  <a:srgbClr val="2563B7"/>
                </a:solidFill>
                <a:latin typeface="Aptos"/>
              </a:defRPr>
            </a:pPr>
            <a:r>
              <a:t>Directed tests target known risks. Random tests explore combinations. Seeds reproduce stimulus.</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03 / CHALLENGE THE DESIGN</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Assertions guard behavior across cycles</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The scoreboard checks data. Assertions express signal-level and temporal rules.</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14</a:t>
            </a:r>
          </a:p>
        </p:txBody>
      </p:sp>
      <p:sp>
        <p:nvSpPr>
          <p:cNvPr id="9" name="Rounded Rectangle 8"/>
          <p:cNvSpPr/>
          <p:nvPr/>
        </p:nvSpPr>
        <p:spPr>
          <a:xfrm>
            <a:off x="502920" y="2011680"/>
            <a:ext cx="11183112" cy="1024128"/>
          </a:xfrm>
          <a:prstGeom prst="roundRect">
            <a:avLst>
              <a:gd name="adj" fmla="val 12000"/>
            </a:avLst>
          </a:prstGeom>
          <a:solidFill>
            <a:srgbClr val="EDF2F8"/>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76272"/>
            <a:ext cx="10817352" cy="749808"/>
          </a:xfrm>
          <a:prstGeom prst="rect">
            <a:avLst/>
          </a:prstGeom>
          <a:noFill/>
        </p:spPr>
        <p:txBody>
          <a:bodyPr wrap="square" lIns="0" rIns="0" tIns="18288" bIns="0">
            <a:spAutoFit/>
          </a:bodyPr>
          <a:lstStyle/>
          <a:p>
            <a:pPr algn="l">
              <a:lnSpc>
                <a:spcPct val="110000"/>
              </a:lnSpc>
              <a:spcBef>
                <a:spcPts val="0"/>
              </a:spcBef>
              <a:spcAft>
                <a:spcPts val="500"/>
              </a:spcAft>
              <a:defRPr sz="2200" b="0">
                <a:solidFill>
                  <a:srgbClr val="20334E"/>
                </a:solidFill>
                <a:latin typeface="Consolas"/>
              </a:defRPr>
            </a:pPr>
            <a:r>
              <a:t>@(posedge clk) disable iff (!rst_l)</a:t>
            </a:r>
          </a:p>
          <a:p>
            <a:pPr algn="l">
              <a:lnSpc>
                <a:spcPct val="110000"/>
              </a:lnSpc>
              <a:spcBef>
                <a:spcPts val="0"/>
              </a:spcBef>
              <a:spcAft>
                <a:spcPts val="500"/>
              </a:spcAft>
              <a:defRPr sz="2200" b="0">
                <a:solidFill>
                  <a:srgbClr val="20334E"/>
                </a:solidFill>
                <a:latin typeface="Consolas"/>
              </a:defRPr>
            </a:pPr>
            <a:r>
              <a:t>    !valid_in |=&gt; $stable(result_ff);</a:t>
            </a:r>
          </a:p>
        </p:txBody>
      </p:sp>
      <p:sp>
        <p:nvSpPr>
          <p:cNvPr id="11" name="Rounded Rectangle 10"/>
          <p:cNvSpPr/>
          <p:nvPr/>
        </p:nvSpPr>
        <p:spPr>
          <a:xfrm>
            <a:off x="502920" y="3401568"/>
            <a:ext cx="3593592" cy="1819656"/>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401568"/>
            <a:ext cx="50292" cy="1819656"/>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538728"/>
            <a:ext cx="3227832" cy="448056"/>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2563B7"/>
                </a:solidFill>
                <a:latin typeface="Aptos"/>
              </a:defRPr>
            </a:pPr>
            <a:r>
              <a:t>Reset</a:t>
            </a:r>
          </a:p>
        </p:txBody>
      </p:sp>
      <p:sp>
        <p:nvSpPr>
          <p:cNvPr id="14" name="TextBox 13"/>
          <p:cNvSpPr txBox="1"/>
          <p:nvPr/>
        </p:nvSpPr>
        <p:spPr>
          <a:xfrm>
            <a:off x="685800" y="4114800"/>
            <a:ext cx="3227832" cy="1033271"/>
          </a:xfrm>
          <a:prstGeom prst="rect">
            <a:avLst/>
          </a:prstGeom>
          <a:noFill/>
        </p:spPr>
        <p:txBody>
          <a:bodyPr wrap="square" lIns="0" rIns="0" tIns="18288" bIns="0">
            <a:spAutoFit/>
          </a:bodyPr>
          <a:lstStyle/>
          <a:p>
            <a:pPr algn="l">
              <a:lnSpc>
                <a:spcPct val="110000"/>
              </a:lnSpc>
              <a:spcBef>
                <a:spcPts val="0"/>
              </a:spcBef>
              <a:spcAft>
                <a:spcPts val="500"/>
              </a:spcAft>
              <a:defRPr sz="2200" b="0">
                <a:solidFill>
                  <a:srgbClr val="20334E"/>
                </a:solidFill>
                <a:latin typeface="Aptos"/>
              </a:defRPr>
            </a:pPr>
            <a:r>
              <a:t>Clear result</a:t>
            </a:r>
          </a:p>
          <a:p>
            <a:pPr algn="l">
              <a:lnSpc>
                <a:spcPct val="110000"/>
              </a:lnSpc>
              <a:spcBef>
                <a:spcPts val="0"/>
              </a:spcBef>
              <a:spcAft>
                <a:spcPts val="500"/>
              </a:spcAft>
              <a:defRPr sz="2200" b="0">
                <a:solidFill>
                  <a:srgbClr val="20334E"/>
                </a:solidFill>
                <a:latin typeface="Aptos"/>
              </a:defRPr>
            </a:pPr>
            <a:r>
              <a:t>Suppress error</a:t>
            </a:r>
          </a:p>
        </p:txBody>
      </p:sp>
      <p:sp>
        <p:nvSpPr>
          <p:cNvPr id="15" name="Rounded Rectangle 14"/>
          <p:cNvSpPr/>
          <p:nvPr/>
        </p:nvSpPr>
        <p:spPr>
          <a:xfrm>
            <a:off x="4297680" y="3401568"/>
            <a:ext cx="3593592" cy="1819656"/>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3401568"/>
            <a:ext cx="50292" cy="1819656"/>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3538728"/>
            <a:ext cx="3227832" cy="448056"/>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087F83"/>
                </a:solidFill>
                <a:latin typeface="Aptos"/>
              </a:defRPr>
            </a:pPr>
            <a:r>
              <a:t>Timing / hold</a:t>
            </a:r>
          </a:p>
        </p:txBody>
      </p:sp>
      <p:sp>
        <p:nvSpPr>
          <p:cNvPr id="18" name="TextBox 17"/>
          <p:cNvSpPr txBox="1"/>
          <p:nvPr/>
        </p:nvSpPr>
        <p:spPr>
          <a:xfrm>
            <a:off x="4480560" y="4114800"/>
            <a:ext cx="3227832" cy="1033271"/>
          </a:xfrm>
          <a:prstGeom prst="rect">
            <a:avLst/>
          </a:prstGeom>
          <a:noFill/>
        </p:spPr>
        <p:txBody>
          <a:bodyPr wrap="square" lIns="0" rIns="0" tIns="18288" bIns="0">
            <a:spAutoFit/>
          </a:bodyPr>
          <a:lstStyle/>
          <a:p>
            <a:pPr algn="l">
              <a:lnSpc>
                <a:spcPct val="110000"/>
              </a:lnSpc>
              <a:spcBef>
                <a:spcPts val="0"/>
              </a:spcBef>
              <a:spcAft>
                <a:spcPts val="500"/>
              </a:spcAft>
              <a:defRPr sz="2200" b="0">
                <a:solidFill>
                  <a:srgbClr val="20334E"/>
                </a:solidFill>
                <a:latin typeface="Aptos"/>
              </a:defRPr>
            </a:pPr>
            <a:r>
              <a:t>Hold when disabled</a:t>
            </a:r>
          </a:p>
          <a:p>
            <a:pPr algn="l">
              <a:lnSpc>
                <a:spcPct val="110000"/>
              </a:lnSpc>
              <a:spcBef>
                <a:spcPts val="0"/>
              </a:spcBef>
              <a:spcAft>
                <a:spcPts val="500"/>
              </a:spcAft>
              <a:defRPr sz="2200" b="0">
                <a:solidFill>
                  <a:srgbClr val="20334E"/>
                </a:solidFill>
                <a:latin typeface="Aptos"/>
              </a:defRPr>
            </a:pPr>
            <a:r>
              <a:t>Known enabled result</a:t>
            </a:r>
          </a:p>
        </p:txBody>
      </p:sp>
      <p:sp>
        <p:nvSpPr>
          <p:cNvPr id="19" name="Rounded Rectangle 18"/>
          <p:cNvSpPr/>
          <p:nvPr/>
        </p:nvSpPr>
        <p:spPr>
          <a:xfrm>
            <a:off x="8092440" y="3401568"/>
            <a:ext cx="3593592" cy="1819656"/>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92440" y="3401568"/>
            <a:ext cx="50292" cy="1819656"/>
          </a:xfrm>
          <a:prstGeom prst="rect">
            <a:avLst/>
          </a:prstGeom>
          <a:solidFill>
            <a:srgbClr val="C6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3538728"/>
            <a:ext cx="3227832" cy="448056"/>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C66A20"/>
                </a:solidFill>
                <a:latin typeface="Aptos"/>
              </a:defRPr>
            </a:pPr>
            <a:r>
              <a:t>Control guards</a:t>
            </a:r>
          </a:p>
        </p:txBody>
      </p:sp>
      <p:sp>
        <p:nvSpPr>
          <p:cNvPr id="22" name="TextBox 21"/>
          <p:cNvSpPr txBox="1"/>
          <p:nvPr/>
        </p:nvSpPr>
        <p:spPr>
          <a:xfrm>
            <a:off x="8275320" y="4114800"/>
            <a:ext cx="3227832" cy="1033271"/>
          </a:xfrm>
          <a:prstGeom prst="rect">
            <a:avLst/>
          </a:prstGeom>
          <a:noFill/>
        </p:spPr>
        <p:txBody>
          <a:bodyPr wrap="square" lIns="0" rIns="0" tIns="18288" bIns="0">
            <a:spAutoFit/>
          </a:bodyPr>
          <a:lstStyle/>
          <a:p>
            <a:pPr algn="l">
              <a:lnSpc>
                <a:spcPct val="110000"/>
              </a:lnSpc>
              <a:spcBef>
                <a:spcPts val="0"/>
              </a:spcBef>
              <a:spcAft>
                <a:spcPts val="500"/>
              </a:spcAft>
              <a:defRPr sz="2200" b="0">
                <a:solidFill>
                  <a:srgbClr val="20334E"/>
                </a:solidFill>
                <a:latin typeface="Aptos"/>
              </a:defRPr>
            </a:pPr>
            <a:r>
              <a:t>CSR conflict</a:t>
            </a:r>
          </a:p>
          <a:p>
            <a:pPr algn="l">
              <a:lnSpc>
                <a:spcPct val="110000"/>
              </a:lnSpc>
              <a:spcBef>
                <a:spcPts val="0"/>
              </a:spcBef>
              <a:spcAft>
                <a:spcPts val="500"/>
              </a:spcAft>
              <a:defRPr sz="2200" b="0">
                <a:solidFill>
                  <a:srgbClr val="20334E"/>
                </a:solidFill>
                <a:latin typeface="Aptos"/>
              </a:defRPr>
            </a:pPr>
            <a:r>
              <a:t>Missing SUB / ZBA</a:t>
            </a:r>
          </a:p>
        </p:txBody>
      </p:sp>
      <p:sp>
        <p:nvSpPr>
          <p:cNvPr id="23" name="Rounded Rectangle 22"/>
          <p:cNvSpPr/>
          <p:nvPr/>
        </p:nvSpPr>
        <p:spPr>
          <a:xfrm>
            <a:off x="502920" y="5797296"/>
            <a:ext cx="11183112" cy="484632"/>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7352AD"/>
                </a:solidFill>
                <a:latin typeface="Aptos"/>
              </a:defRPr>
            </a:pPr>
            <a:r>
              <a:t>Audience check: result holds, but error changes while valid_in=0. Is that allowed?</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04 / MEASURE AND DEBUG</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Coverage measures exercise, not correctness</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Different coverage types answer different questions.</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15</a:t>
            </a:r>
          </a:p>
        </p:txBody>
      </p:sp>
      <p:sp>
        <p:nvSpPr>
          <p:cNvPr id="9" name="Rounded Rectangle 8"/>
          <p:cNvSpPr/>
          <p:nvPr/>
        </p:nvSpPr>
        <p:spPr>
          <a:xfrm>
            <a:off x="502920" y="1975104"/>
            <a:ext cx="11183112" cy="1005840"/>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194560"/>
            <a:ext cx="3566160" cy="457200"/>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087F83"/>
                </a:solidFill>
                <a:latin typeface="Aptos"/>
              </a:defRPr>
            </a:pPr>
            <a:r>
              <a:t>Functional coverage</a:t>
            </a:r>
          </a:p>
        </p:txBody>
      </p:sp>
      <p:sp>
        <p:nvSpPr>
          <p:cNvPr id="11" name="TextBox 10"/>
          <p:cNvSpPr txBox="1"/>
          <p:nvPr/>
        </p:nvSpPr>
        <p:spPr>
          <a:xfrm>
            <a:off x="4572000" y="2084831"/>
            <a:ext cx="6858000" cy="758952"/>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Did we exercise the planned scenarios?</a:t>
            </a:r>
          </a:p>
          <a:p>
            <a:pPr algn="l">
              <a:lnSpc>
                <a:spcPct val="110000"/>
              </a:lnSpc>
              <a:spcBef>
                <a:spcPts val="0"/>
              </a:spcBef>
              <a:spcAft>
                <a:spcPts val="500"/>
              </a:spcAft>
              <a:defRPr sz="1900" b="0">
                <a:solidFill>
                  <a:srgbClr val="20334E"/>
                </a:solidFill>
                <a:latin typeface="Aptos"/>
              </a:defRPr>
            </a:pPr>
            <a:r>
              <a:t>Operations, modes, count values, crosses</a:t>
            </a:r>
          </a:p>
        </p:txBody>
      </p:sp>
      <p:sp>
        <p:nvSpPr>
          <p:cNvPr id="12" name="Rounded Rectangle 11"/>
          <p:cNvSpPr/>
          <p:nvPr/>
        </p:nvSpPr>
        <p:spPr>
          <a:xfrm>
            <a:off x="502920" y="3136392"/>
            <a:ext cx="11183112" cy="1005840"/>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3355848"/>
            <a:ext cx="3566160" cy="457200"/>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2563B7"/>
                </a:solidFill>
                <a:latin typeface="Aptos"/>
              </a:defRPr>
            </a:pPr>
            <a:r>
              <a:t>Code coverage</a:t>
            </a:r>
          </a:p>
        </p:txBody>
      </p:sp>
      <p:sp>
        <p:nvSpPr>
          <p:cNvPr id="14" name="TextBox 13"/>
          <p:cNvSpPr txBox="1"/>
          <p:nvPr/>
        </p:nvSpPr>
        <p:spPr>
          <a:xfrm>
            <a:off x="4572000" y="3246120"/>
            <a:ext cx="6858000" cy="758952"/>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Which RTL structures were exercised?</a:t>
            </a:r>
          </a:p>
          <a:p>
            <a:pPr algn="l">
              <a:lnSpc>
                <a:spcPct val="110000"/>
              </a:lnSpc>
              <a:spcBef>
                <a:spcPts val="0"/>
              </a:spcBef>
              <a:spcAft>
                <a:spcPts val="500"/>
              </a:spcAft>
              <a:defRPr sz="1900" b="0">
                <a:solidFill>
                  <a:srgbClr val="20334E"/>
                </a:solidFill>
                <a:latin typeface="Aptos"/>
              </a:defRPr>
            </a:pPr>
            <a:r>
              <a:t>Blocks, scored expressions, toggles</a:t>
            </a:r>
          </a:p>
        </p:txBody>
      </p:sp>
      <p:sp>
        <p:nvSpPr>
          <p:cNvPr id="15" name="Rounded Rectangle 14"/>
          <p:cNvSpPr/>
          <p:nvPr/>
        </p:nvSpPr>
        <p:spPr>
          <a:xfrm>
            <a:off x="502920" y="4297680"/>
            <a:ext cx="11183112" cy="1005840"/>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4517136"/>
            <a:ext cx="3566160" cy="457200"/>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7352AD"/>
                </a:solidFill>
                <a:latin typeface="Aptos"/>
              </a:defRPr>
            </a:pPr>
            <a:r>
              <a:t>Assertion coverage</a:t>
            </a:r>
          </a:p>
        </p:txBody>
      </p:sp>
      <p:sp>
        <p:nvSpPr>
          <p:cNvPr id="17" name="TextBox 16"/>
          <p:cNvSpPr txBox="1"/>
          <p:nvPr/>
        </p:nvSpPr>
        <p:spPr>
          <a:xfrm>
            <a:off x="4572000" y="4407408"/>
            <a:ext cx="6858000" cy="758952"/>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Which properties were exercised?</a:t>
            </a:r>
          </a:p>
          <a:p>
            <a:pPr algn="l">
              <a:lnSpc>
                <a:spcPct val="110000"/>
              </a:lnSpc>
              <a:spcBef>
                <a:spcPts val="0"/>
              </a:spcBef>
              <a:spcAft>
                <a:spcPts val="500"/>
              </a:spcAft>
              <a:defRPr sz="1900" b="0">
                <a:solidFill>
                  <a:srgbClr val="20334E"/>
                </a:solidFill>
                <a:latin typeface="Aptos"/>
              </a:defRPr>
            </a:pPr>
            <a:r>
              <a:t>Read coverage separately from failures</a:t>
            </a:r>
          </a:p>
        </p:txBody>
      </p:sp>
      <p:sp>
        <p:nvSpPr>
          <p:cNvPr id="18" name="Rounded Rectangle 17"/>
          <p:cNvSpPr/>
          <p:nvPr/>
        </p:nvSpPr>
        <p:spPr>
          <a:xfrm>
            <a:off x="502920" y="5797296"/>
            <a:ext cx="11183112" cy="484632"/>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600" b="1">
                <a:solidFill>
                  <a:srgbClr val="C66A20"/>
                </a:solidFill>
                <a:latin typeface="Aptos"/>
              </a:defRPr>
            </a:pPr>
            <a:r>
              <a:t>Can functional coverage be 100% while the DUT is wrong? Yes—this project demonstrates it.</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04 / ADVANCED VERIFICATION</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Beyond smoke tests: systematic stress</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Finite sweeps complement random testing and make coverage closure deliberate.</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16</a:t>
            </a:r>
          </a:p>
        </p:txBody>
      </p:sp>
      <p:sp>
        <p:nvSpPr>
          <p:cNvPr id="9" name="Rounded Rectangle 8"/>
          <p:cNvSpPr/>
          <p:nvPr/>
        </p:nvSpPr>
        <p:spPr>
          <a:xfrm>
            <a:off x="502920" y="1984248"/>
            <a:ext cx="5486400" cy="1472184"/>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84248"/>
            <a:ext cx="50292" cy="1472184"/>
          </a:xfrm>
          <a:prstGeom prst="rect">
            <a:avLst/>
          </a:prstGeom>
          <a:solidFill>
            <a:srgbClr val="C6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121408"/>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C66A20"/>
                </a:solidFill>
                <a:latin typeface="Aptos"/>
              </a:defRPr>
            </a:pPr>
            <a:r>
              <a:t>Control mutation matrix</a:t>
            </a:r>
          </a:p>
        </p:txBody>
      </p:sp>
      <p:sp>
        <p:nvSpPr>
          <p:cNvPr id="12" name="TextBox 11"/>
          <p:cNvSpPr txBox="1"/>
          <p:nvPr/>
        </p:nvSpPr>
        <p:spPr>
          <a:xfrm>
            <a:off x="685800" y="2697480"/>
            <a:ext cx="5120640" cy="685800"/>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Legal base → add forbidden field</a:t>
            </a:r>
          </a:p>
          <a:p>
            <a:pPr algn="l">
              <a:lnSpc>
                <a:spcPct val="110000"/>
              </a:lnSpc>
              <a:spcBef>
                <a:spcPts val="0"/>
              </a:spcBef>
              <a:spcAft>
                <a:spcPts val="500"/>
              </a:spcAft>
              <a:defRPr sz="1800" b="0">
                <a:solidFill>
                  <a:srgbClr val="20334E"/>
                </a:solidFill>
                <a:latin typeface="Aptos"/>
              </a:defRPr>
            </a:pPr>
            <a:r>
              <a:t>Also remove required SUB / ZBA</a:t>
            </a:r>
          </a:p>
        </p:txBody>
      </p:sp>
      <p:sp>
        <p:nvSpPr>
          <p:cNvPr id="13" name="Rounded Rectangle 12"/>
          <p:cNvSpPr/>
          <p:nvPr/>
        </p:nvSpPr>
        <p:spPr>
          <a:xfrm>
            <a:off x="6199632" y="1984248"/>
            <a:ext cx="5486400" cy="1472184"/>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984248"/>
            <a:ext cx="50292" cy="1472184"/>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121408"/>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087F83"/>
                </a:solidFill>
                <a:latin typeface="Aptos"/>
              </a:defRPr>
            </a:pPr>
            <a:r>
              <a:t>Boundary enumeration</a:t>
            </a:r>
          </a:p>
        </p:txBody>
      </p:sp>
      <p:sp>
        <p:nvSpPr>
          <p:cNvPr id="16" name="TextBox 15"/>
          <p:cNvSpPr txBox="1"/>
          <p:nvPr/>
        </p:nvSpPr>
        <p:spPr>
          <a:xfrm>
            <a:off x="6382512" y="2697480"/>
            <a:ext cx="5120640" cy="685800"/>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32 shift/index values; counts 0–32</a:t>
            </a:r>
          </a:p>
          <a:p>
            <a:pPr algn="l">
              <a:lnSpc>
                <a:spcPct val="110000"/>
              </a:lnSpc>
              <a:spcBef>
                <a:spcPts val="0"/>
              </a:spcBef>
              <a:spcAft>
                <a:spcPts val="500"/>
              </a:spcAft>
              <a:defRPr sz="1800" b="0">
                <a:solidFill>
                  <a:srgbClr val="20334E"/>
                </a:solidFill>
                <a:latin typeface="Aptos"/>
              </a:defRPr>
            </a:pPr>
            <a:r>
              <a:t>256 bytes; 32 GREV encodings</a:t>
            </a:r>
          </a:p>
        </p:txBody>
      </p:sp>
      <p:sp>
        <p:nvSpPr>
          <p:cNvPr id="17" name="Rounded Rectangle 16"/>
          <p:cNvSpPr/>
          <p:nvPr/>
        </p:nvSpPr>
        <p:spPr>
          <a:xfrm>
            <a:off x="502920" y="3694176"/>
            <a:ext cx="5486400" cy="1472184"/>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3694176"/>
            <a:ext cx="50292" cy="1472184"/>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831336"/>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2563B7"/>
                </a:solidFill>
                <a:latin typeface="Aptos"/>
              </a:defRPr>
            </a:pPr>
            <a:r>
              <a:t>Race-aware checking</a:t>
            </a:r>
          </a:p>
        </p:txBody>
      </p:sp>
      <p:sp>
        <p:nvSpPr>
          <p:cNvPr id="20" name="TextBox 19"/>
          <p:cNvSpPr txBox="1"/>
          <p:nvPr/>
        </p:nvSpPr>
        <p:spPr>
          <a:xfrm>
            <a:off x="685800" y="4407408"/>
            <a:ext cx="5120640" cy="685800"/>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Falling-edge drive, post-update sample</a:t>
            </a:r>
          </a:p>
          <a:p>
            <a:pPr algn="l">
              <a:lnSpc>
                <a:spcPct val="110000"/>
              </a:lnSpc>
              <a:spcBef>
                <a:spcPts val="0"/>
              </a:spcBef>
              <a:spcAft>
                <a:spcPts val="500"/>
              </a:spcAft>
              <a:defRPr sz="1800" b="0">
                <a:solidFill>
                  <a:srgbClr val="20334E"/>
                </a:solidFill>
                <a:latin typeface="Aptos"/>
              </a:defRPr>
            </a:pPr>
            <a:r>
              <a:t>Reset/hold state in the predictor</a:t>
            </a:r>
          </a:p>
        </p:txBody>
      </p:sp>
      <p:sp>
        <p:nvSpPr>
          <p:cNvPr id="21" name="Rounded Rectangle 20"/>
          <p:cNvSpPr/>
          <p:nvPr/>
        </p:nvSpPr>
        <p:spPr>
          <a:xfrm>
            <a:off x="6199632" y="3694176"/>
            <a:ext cx="5486400" cy="1472184"/>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2" y="3694176"/>
            <a:ext cx="50292" cy="1472184"/>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3831336"/>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7352AD"/>
                </a:solidFill>
                <a:latin typeface="Aptos"/>
              </a:defRPr>
            </a:pPr>
            <a:r>
              <a:t>Reproducible evidence</a:t>
            </a:r>
          </a:p>
        </p:txBody>
      </p:sp>
      <p:sp>
        <p:nvSpPr>
          <p:cNvPr id="24" name="TextBox 23"/>
          <p:cNvSpPr txBox="1"/>
          <p:nvPr/>
        </p:nvSpPr>
        <p:spPr>
          <a:xfrm>
            <a:off x="6382512" y="4407408"/>
            <a:ext cx="5120640" cy="685800"/>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Effective seeds, isolated logs</a:t>
            </a:r>
          </a:p>
          <a:p>
            <a:pPr algn="l">
              <a:lnSpc>
                <a:spcPct val="110000"/>
              </a:lnSpc>
              <a:spcBef>
                <a:spcPts val="0"/>
              </a:spcBef>
              <a:spcAft>
                <a:spcPts val="500"/>
              </a:spcAft>
              <a:defRPr sz="1800" b="0">
                <a:solidFill>
                  <a:srgbClr val="20334E"/>
                </a:solidFill>
                <a:latin typeface="Aptos"/>
              </a:defRPr>
            </a:pPr>
            <a:r>
              <a:t>Source and log SHA-256 fingerprints</a:t>
            </a:r>
          </a:p>
        </p:txBody>
      </p:sp>
      <p:sp>
        <p:nvSpPr>
          <p:cNvPr id="25" name="Rounded Rectangle 24"/>
          <p:cNvSpPr/>
          <p:nvPr/>
        </p:nvSpPr>
        <p:spPr>
          <a:xfrm>
            <a:off x="502920" y="5797296"/>
            <a:ext cx="11183112" cy="48463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750" b="1">
                <a:solidFill>
                  <a:srgbClr val="2563B7"/>
                </a:solidFill>
                <a:latin typeface="Aptos"/>
              </a:defRPr>
            </a:pPr>
            <a:r>
              <a:t>Coverage closure uses 5,036 comparisons on the original DUT; failures remain visible.</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04 / RESULTS</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Measured results: exercise achieved, bugs remain</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Recorded baseline: 22 September 2026 • original DUT • coverage test seed 4</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17</a:t>
            </a:r>
          </a:p>
        </p:txBody>
      </p:sp>
      <p:sp>
        <p:nvSpPr>
          <p:cNvPr id="9" name="Rounded Rectangle 8"/>
          <p:cNvSpPr/>
          <p:nvPr/>
        </p:nvSpPr>
        <p:spPr>
          <a:xfrm>
            <a:off x="502920" y="1947672"/>
            <a:ext cx="3593592" cy="1289304"/>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47672"/>
            <a:ext cx="50292" cy="1289304"/>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39112"/>
            <a:ext cx="3227832" cy="393192"/>
          </a:xfrm>
          <a:prstGeom prst="rect">
            <a:avLst/>
          </a:prstGeom>
          <a:noFill/>
        </p:spPr>
        <p:txBody>
          <a:bodyPr wrap="square" lIns="0" rIns="0" tIns="18288" bIns="0">
            <a:spAutoFit/>
          </a:bodyPr>
          <a:lstStyle/>
          <a:p>
            <a:pPr algn="l">
              <a:lnSpc>
                <a:spcPct val="110000"/>
              </a:lnSpc>
              <a:spcBef>
                <a:spcPts val="0"/>
              </a:spcBef>
              <a:spcAft>
                <a:spcPts val="500"/>
              </a:spcAft>
              <a:defRPr sz="2500" b="1">
                <a:solidFill>
                  <a:srgbClr val="2563B7"/>
                </a:solidFill>
                <a:latin typeface="Aptos"/>
              </a:defRPr>
            </a:pPr>
            <a:r>
              <a:t>26</a:t>
            </a:r>
          </a:p>
        </p:txBody>
      </p:sp>
      <p:sp>
        <p:nvSpPr>
          <p:cNvPr id="12" name="TextBox 11"/>
          <p:cNvSpPr txBox="1"/>
          <p:nvPr/>
        </p:nvSpPr>
        <p:spPr>
          <a:xfrm>
            <a:off x="685800" y="2505456"/>
            <a:ext cx="3227832" cy="704087"/>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runs: 3 pass / 23 fail</a:t>
            </a:r>
          </a:p>
        </p:txBody>
      </p:sp>
      <p:sp>
        <p:nvSpPr>
          <p:cNvPr id="13" name="Rounded Rectangle 12"/>
          <p:cNvSpPr/>
          <p:nvPr/>
        </p:nvSpPr>
        <p:spPr>
          <a:xfrm>
            <a:off x="4297680" y="1947672"/>
            <a:ext cx="3593592" cy="1289304"/>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947672"/>
            <a:ext cx="50292" cy="1289304"/>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2039112"/>
            <a:ext cx="3227832" cy="393192"/>
          </a:xfrm>
          <a:prstGeom prst="rect">
            <a:avLst/>
          </a:prstGeom>
          <a:noFill/>
        </p:spPr>
        <p:txBody>
          <a:bodyPr wrap="square" lIns="0" rIns="0" tIns="18288" bIns="0">
            <a:spAutoFit/>
          </a:bodyPr>
          <a:lstStyle/>
          <a:p>
            <a:pPr algn="l">
              <a:lnSpc>
                <a:spcPct val="110000"/>
              </a:lnSpc>
              <a:spcBef>
                <a:spcPts val="0"/>
              </a:spcBef>
              <a:spcAft>
                <a:spcPts val="500"/>
              </a:spcAft>
              <a:defRPr sz="2500" b="1">
                <a:solidFill>
                  <a:srgbClr val="087F83"/>
                </a:solidFill>
                <a:latin typeface="Aptos"/>
              </a:defRPr>
            </a:pPr>
            <a:r>
              <a:t>562 / 562</a:t>
            </a:r>
          </a:p>
        </p:txBody>
      </p:sp>
      <p:sp>
        <p:nvSpPr>
          <p:cNvPr id="16" name="TextBox 15"/>
          <p:cNvSpPr txBox="1"/>
          <p:nvPr/>
        </p:nvSpPr>
        <p:spPr>
          <a:xfrm>
            <a:off x="4480560" y="2505456"/>
            <a:ext cx="3227832" cy="704087"/>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functional bins hit</a:t>
            </a:r>
          </a:p>
        </p:txBody>
      </p:sp>
      <p:sp>
        <p:nvSpPr>
          <p:cNvPr id="17" name="Rounded Rectangle 16"/>
          <p:cNvSpPr/>
          <p:nvPr/>
        </p:nvSpPr>
        <p:spPr>
          <a:xfrm>
            <a:off x="8092440" y="1947672"/>
            <a:ext cx="3593592" cy="1289304"/>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947672"/>
            <a:ext cx="50292" cy="1289304"/>
          </a:xfrm>
          <a:prstGeom prst="rect">
            <a:avLst/>
          </a:prstGeom>
          <a:solidFill>
            <a:srgbClr val="C6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2039112"/>
            <a:ext cx="3227832" cy="393192"/>
          </a:xfrm>
          <a:prstGeom prst="rect">
            <a:avLst/>
          </a:prstGeom>
          <a:noFill/>
        </p:spPr>
        <p:txBody>
          <a:bodyPr wrap="square" lIns="0" rIns="0" tIns="18288" bIns="0">
            <a:spAutoFit/>
          </a:bodyPr>
          <a:lstStyle/>
          <a:p>
            <a:pPr algn="l">
              <a:lnSpc>
                <a:spcPct val="110000"/>
              </a:lnSpc>
              <a:spcBef>
                <a:spcPts val="0"/>
              </a:spcBef>
              <a:spcAft>
                <a:spcPts val="500"/>
              </a:spcAft>
              <a:defRPr sz="2500" b="1">
                <a:solidFill>
                  <a:srgbClr val="C66A20"/>
                </a:solidFill>
                <a:latin typeface="Aptos"/>
              </a:defRPr>
            </a:pPr>
            <a:r>
              <a:t>9</a:t>
            </a:r>
          </a:p>
        </p:txBody>
      </p:sp>
      <p:sp>
        <p:nvSpPr>
          <p:cNvPr id="20" name="TextBox 19"/>
          <p:cNvSpPr txBox="1"/>
          <p:nvPr/>
        </p:nvSpPr>
        <p:spPr>
          <a:xfrm>
            <a:off x="8275320" y="2505456"/>
            <a:ext cx="3227832" cy="704087"/>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open DUT findings</a:t>
            </a:r>
          </a:p>
        </p:txBody>
      </p:sp>
      <p:sp>
        <p:nvSpPr>
          <p:cNvPr id="21" name="TextBox 20"/>
          <p:cNvSpPr txBox="1"/>
          <p:nvPr/>
        </p:nvSpPr>
        <p:spPr>
          <a:xfrm>
            <a:off x="594360" y="3621024"/>
            <a:ext cx="2103120" cy="310896"/>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Functional</a:t>
            </a:r>
          </a:p>
        </p:txBody>
      </p:sp>
      <p:sp>
        <p:nvSpPr>
          <p:cNvPr id="22" name="Rectangle 21"/>
          <p:cNvSpPr/>
          <p:nvPr/>
        </p:nvSpPr>
        <p:spPr>
          <a:xfrm>
            <a:off x="2761488" y="3685032"/>
            <a:ext cx="5943600" cy="182880"/>
          </a:xfrm>
          <a:prstGeom prst="rect">
            <a:avLst/>
          </a:prstGeom>
          <a:solidFill>
            <a:srgbClr val="D7E1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61488" y="3685032"/>
            <a:ext cx="5943600" cy="18288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6840" y="3621024"/>
            <a:ext cx="2514600" cy="338328"/>
          </a:xfrm>
          <a:prstGeom prst="rect">
            <a:avLst/>
          </a:prstGeom>
          <a:noFill/>
        </p:spPr>
        <p:txBody>
          <a:bodyPr wrap="square" lIns="0" rIns="0" tIns="18288" bIns="0">
            <a:spAutoFit/>
          </a:bodyPr>
          <a:lstStyle/>
          <a:p>
            <a:pPr algn="l">
              <a:lnSpc>
                <a:spcPct val="110000"/>
              </a:lnSpc>
              <a:spcBef>
                <a:spcPts val="0"/>
              </a:spcBef>
              <a:spcAft>
                <a:spcPts val="500"/>
              </a:spcAft>
              <a:defRPr sz="1900" b="1">
                <a:solidFill>
                  <a:srgbClr val="087F83"/>
                </a:solidFill>
                <a:latin typeface="Aptos"/>
              </a:defRPr>
            </a:pPr>
            <a:r>
              <a:t>100.00%</a:t>
            </a:r>
          </a:p>
        </p:txBody>
      </p:sp>
      <p:sp>
        <p:nvSpPr>
          <p:cNvPr id="25" name="TextBox 24"/>
          <p:cNvSpPr txBox="1"/>
          <p:nvPr/>
        </p:nvSpPr>
        <p:spPr>
          <a:xfrm>
            <a:off x="594360" y="4215384"/>
            <a:ext cx="2103120" cy="310896"/>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DUT blocks</a:t>
            </a:r>
          </a:p>
        </p:txBody>
      </p:sp>
      <p:sp>
        <p:nvSpPr>
          <p:cNvPr id="26" name="Rectangle 25"/>
          <p:cNvSpPr/>
          <p:nvPr/>
        </p:nvSpPr>
        <p:spPr>
          <a:xfrm>
            <a:off x="2761488" y="4279392"/>
            <a:ext cx="5943600" cy="182880"/>
          </a:xfrm>
          <a:prstGeom prst="rect">
            <a:avLst/>
          </a:prstGeom>
          <a:solidFill>
            <a:srgbClr val="D7E1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61488" y="4279392"/>
            <a:ext cx="5943600" cy="182880"/>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06840" y="4215384"/>
            <a:ext cx="2514600" cy="338328"/>
          </a:xfrm>
          <a:prstGeom prst="rect">
            <a:avLst/>
          </a:prstGeom>
          <a:noFill/>
        </p:spPr>
        <p:txBody>
          <a:bodyPr wrap="square" lIns="0" rIns="0" tIns="18288" bIns="0">
            <a:spAutoFit/>
          </a:bodyPr>
          <a:lstStyle/>
          <a:p>
            <a:pPr algn="l">
              <a:lnSpc>
                <a:spcPct val="110000"/>
              </a:lnSpc>
              <a:spcBef>
                <a:spcPts val="0"/>
              </a:spcBef>
              <a:spcAft>
                <a:spcPts val="500"/>
              </a:spcAft>
              <a:defRPr sz="1900" b="1">
                <a:solidFill>
                  <a:srgbClr val="2563B7"/>
                </a:solidFill>
                <a:latin typeface="Aptos"/>
              </a:defRPr>
            </a:pPr>
            <a:r>
              <a:t>16 / 16</a:t>
            </a:r>
          </a:p>
        </p:txBody>
      </p:sp>
      <p:sp>
        <p:nvSpPr>
          <p:cNvPr id="29" name="TextBox 28"/>
          <p:cNvSpPr txBox="1"/>
          <p:nvPr/>
        </p:nvSpPr>
        <p:spPr>
          <a:xfrm>
            <a:off x="594360" y="4809744"/>
            <a:ext cx="2103120" cy="310896"/>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DUT toggles</a:t>
            </a:r>
          </a:p>
        </p:txBody>
      </p:sp>
      <p:sp>
        <p:nvSpPr>
          <p:cNvPr id="30" name="Rectangle 29"/>
          <p:cNvSpPr/>
          <p:nvPr/>
        </p:nvSpPr>
        <p:spPr>
          <a:xfrm>
            <a:off x="2761488" y="4873752"/>
            <a:ext cx="5943600" cy="182880"/>
          </a:xfrm>
          <a:prstGeom prst="rect">
            <a:avLst/>
          </a:prstGeom>
          <a:solidFill>
            <a:srgbClr val="D7E1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761488" y="4873752"/>
            <a:ext cx="3863934" cy="182880"/>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06840" y="4809744"/>
            <a:ext cx="2514600" cy="338328"/>
          </a:xfrm>
          <a:prstGeom prst="rect">
            <a:avLst/>
          </a:prstGeom>
          <a:noFill/>
        </p:spPr>
        <p:txBody>
          <a:bodyPr wrap="square" lIns="0" rIns="0" tIns="18288" bIns="0">
            <a:spAutoFit/>
          </a:bodyPr>
          <a:lstStyle/>
          <a:p>
            <a:pPr algn="l">
              <a:lnSpc>
                <a:spcPct val="110000"/>
              </a:lnSpc>
              <a:spcBef>
                <a:spcPts val="0"/>
              </a:spcBef>
              <a:spcAft>
                <a:spcPts val="500"/>
              </a:spcAft>
              <a:defRPr sz="1900" b="1">
                <a:solidFill>
                  <a:srgbClr val="2563B7"/>
                </a:solidFill>
                <a:latin typeface="Aptos"/>
              </a:defRPr>
            </a:pPr>
            <a:r>
              <a:t>1,230 / 1,892</a:t>
            </a:r>
          </a:p>
        </p:txBody>
      </p:sp>
      <p:sp>
        <p:nvSpPr>
          <p:cNvPr id="33" name="Rounded Rectangle 32"/>
          <p:cNvSpPr/>
          <p:nvPr/>
        </p:nvSpPr>
        <p:spPr>
          <a:xfrm>
            <a:off x="502920" y="5797296"/>
            <a:ext cx="11183112" cy="484632"/>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700" b="1">
                <a:solidFill>
                  <a:srgbClr val="C66A20"/>
                </a:solidFill>
                <a:latin typeface="Aptos"/>
              </a:defRPr>
            </a:pPr>
            <a:r>
              <a:t>3/3 scored expressions only. Toggle coverage is incomplete. No DUT correctness sign-off.</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04 / BUG REVIEW</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Nine findings, four recurring defect patterns</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All open; one critical and eight major. Each has a seed-1 isolated reproducer.</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18</a:t>
            </a:r>
          </a:p>
        </p:txBody>
      </p:sp>
      <p:sp>
        <p:nvSpPr>
          <p:cNvPr id="9" name="Rounded Rectangle 8"/>
          <p:cNvSpPr/>
          <p:nvPr/>
        </p:nvSpPr>
        <p:spPr>
          <a:xfrm>
            <a:off x="502920" y="1984248"/>
            <a:ext cx="5486400" cy="1472184"/>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84248"/>
            <a:ext cx="50292" cy="1472184"/>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121408"/>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2563B7"/>
                </a:solidFill>
                <a:latin typeface="Aptos"/>
              </a:defRPr>
            </a:pPr>
            <a:r>
              <a:t>Count / bit ordering</a:t>
            </a:r>
          </a:p>
        </p:txBody>
      </p:sp>
      <p:sp>
        <p:nvSpPr>
          <p:cNvPr id="12" name="TextBox 11"/>
          <p:cNvSpPr txBox="1"/>
          <p:nvPr/>
        </p:nvSpPr>
        <p:spPr>
          <a:xfrm>
            <a:off x="685800" y="2697480"/>
            <a:ext cx="5120640" cy="685800"/>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001: CPOP ignores upper half</a:t>
            </a:r>
          </a:p>
          <a:p>
            <a:pPr algn="l">
              <a:lnSpc>
                <a:spcPct val="110000"/>
              </a:lnSpc>
              <a:spcBef>
                <a:spcPts val="0"/>
              </a:spcBef>
              <a:spcAft>
                <a:spcPts val="500"/>
              </a:spcAft>
              <a:defRPr sz="1900" b="0">
                <a:solidFill>
                  <a:srgbClr val="20334E"/>
                </a:solidFill>
                <a:latin typeface="Aptos"/>
              </a:defRPr>
            </a:pPr>
            <a:r>
              <a:t>009: CTZ reversal ordering</a:t>
            </a:r>
          </a:p>
        </p:txBody>
      </p:sp>
      <p:sp>
        <p:nvSpPr>
          <p:cNvPr id="13" name="Rounded Rectangle 12"/>
          <p:cNvSpPr/>
          <p:nvPr/>
        </p:nvSpPr>
        <p:spPr>
          <a:xfrm>
            <a:off x="6199632" y="1984248"/>
            <a:ext cx="5486400" cy="1472184"/>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984248"/>
            <a:ext cx="50292" cy="1472184"/>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121408"/>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7352AD"/>
                </a:solidFill>
                <a:latin typeface="Aptos"/>
              </a:defRPr>
            </a:pPr>
            <a:r>
              <a:t>Data arrangement</a:t>
            </a:r>
          </a:p>
        </p:txBody>
      </p:sp>
      <p:sp>
        <p:nvSpPr>
          <p:cNvPr id="16" name="TextBox 15"/>
          <p:cNvSpPr txBox="1"/>
          <p:nvPr/>
        </p:nvSpPr>
        <p:spPr>
          <a:xfrm>
            <a:off x="6382512" y="2697480"/>
            <a:ext cx="5120640" cy="685800"/>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002: PACK halves reversed</a:t>
            </a:r>
          </a:p>
          <a:p>
            <a:pPr algn="l">
              <a:lnSpc>
                <a:spcPct val="110000"/>
              </a:lnSpc>
              <a:spcBef>
                <a:spcPts val="0"/>
              </a:spcBef>
              <a:spcAft>
                <a:spcPts val="500"/>
              </a:spcAft>
              <a:defRPr sz="1900" b="0">
                <a:solidFill>
                  <a:srgbClr val="20334E"/>
                </a:solidFill>
                <a:latin typeface="Aptos"/>
              </a:defRPr>
            </a:pPr>
            <a:r>
              <a:t>005: GREV swaps halfwords</a:t>
            </a:r>
          </a:p>
        </p:txBody>
      </p:sp>
      <p:sp>
        <p:nvSpPr>
          <p:cNvPr id="17" name="Rounded Rectangle 16"/>
          <p:cNvSpPr/>
          <p:nvPr/>
        </p:nvSpPr>
        <p:spPr>
          <a:xfrm>
            <a:off x="502920" y="3694176"/>
            <a:ext cx="5486400" cy="1472184"/>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3694176"/>
            <a:ext cx="50292" cy="1472184"/>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831336"/>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087F83"/>
                </a:solidFill>
                <a:latin typeface="Aptos"/>
              </a:defRPr>
            </a:pPr>
            <a:r>
              <a:t>Source selection</a:t>
            </a:r>
          </a:p>
        </p:txBody>
      </p:sp>
      <p:sp>
        <p:nvSpPr>
          <p:cNvPr id="20" name="TextBox 19"/>
          <p:cNvSpPr txBox="1"/>
          <p:nvPr/>
        </p:nvSpPr>
        <p:spPr>
          <a:xfrm>
            <a:off x="685800" y="4407408"/>
            <a:ext cx="5120640" cy="685800"/>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003: CSR sources reversed</a:t>
            </a:r>
          </a:p>
          <a:p>
            <a:pPr algn="l">
              <a:lnSpc>
                <a:spcPct val="110000"/>
              </a:lnSpc>
              <a:spcBef>
                <a:spcPts val="0"/>
              </a:spcBef>
              <a:spcAft>
                <a:spcPts val="500"/>
              </a:spcAft>
              <a:defRPr sz="1900" b="0">
                <a:solidFill>
                  <a:srgbClr val="20334E"/>
                </a:solidFill>
                <a:latin typeface="Aptos"/>
              </a:defRPr>
            </a:pPr>
            <a:r>
              <a:t>010: MAX chooses wrong operand</a:t>
            </a:r>
          </a:p>
        </p:txBody>
      </p:sp>
      <p:sp>
        <p:nvSpPr>
          <p:cNvPr id="21" name="Rounded Rectangle 20"/>
          <p:cNvSpPr/>
          <p:nvPr/>
        </p:nvSpPr>
        <p:spPr>
          <a:xfrm>
            <a:off x="6199632" y="3694176"/>
            <a:ext cx="5486400" cy="1472184"/>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2" y="3694176"/>
            <a:ext cx="50292" cy="1472184"/>
          </a:xfrm>
          <a:prstGeom prst="rect">
            <a:avLst/>
          </a:prstGeom>
          <a:solidFill>
            <a:srgbClr val="C6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3831336"/>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C66A20"/>
                </a:solidFill>
                <a:latin typeface="Aptos"/>
              </a:defRPr>
            </a:pPr>
            <a:r>
              <a:t>Missing rejection</a:t>
            </a:r>
          </a:p>
        </p:txBody>
      </p:sp>
      <p:sp>
        <p:nvSpPr>
          <p:cNvPr id="24" name="TextBox 23"/>
          <p:cNvSpPr txBox="1"/>
          <p:nvPr/>
        </p:nvSpPr>
        <p:spPr>
          <a:xfrm>
            <a:off x="6382512" y="4407408"/>
            <a:ext cx="5120640" cy="685800"/>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006: incomplete guards</a:t>
            </a:r>
          </a:p>
          <a:p>
            <a:pPr algn="l">
              <a:lnSpc>
                <a:spcPct val="110000"/>
              </a:lnSpc>
              <a:spcBef>
                <a:spcPts val="0"/>
              </a:spcBef>
              <a:spcAft>
                <a:spcPts val="500"/>
              </a:spcAft>
              <a:defRPr sz="1900" b="0">
                <a:solidFill>
                  <a:srgbClr val="20334E"/>
                </a:solidFill>
                <a:latin typeface="Aptos"/>
              </a:defRPr>
            </a:pPr>
            <a:r>
              <a:t>007: missing SUB; 008: invalid GREV</a:t>
            </a:r>
          </a:p>
        </p:txBody>
      </p:sp>
      <p:sp>
        <p:nvSpPr>
          <p:cNvPr id="25" name="Rounded Rectangle 24"/>
          <p:cNvSpPr/>
          <p:nvPr/>
        </p:nvSpPr>
        <p:spPr>
          <a:xfrm>
            <a:off x="502920" y="5797296"/>
            <a:ext cx="11183112" cy="48463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750" b="1">
                <a:solidFill>
                  <a:srgbClr val="2563B7"/>
                </a:solidFill>
                <a:latin typeface="Aptos"/>
              </a:defRPr>
            </a:pPr>
            <a:r>
              <a:t>BUG-008 depends on CLARIF-004. BUG-004 was withdrawn; pure CSR bypass is legal.</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04 / DEBUG ONE DEFECT</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MAX root cause: the selector is inverted</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The isolated request removes unrelated controls and makes the cause visible.</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19</a:t>
            </a:r>
          </a:p>
        </p:txBody>
      </p:sp>
      <p:sp>
        <p:nvSpPr>
          <p:cNvPr id="9" name="Rounded Rectangle 8"/>
          <p:cNvSpPr/>
          <p:nvPr/>
        </p:nvSpPr>
        <p:spPr>
          <a:xfrm>
            <a:off x="502920" y="1965960"/>
            <a:ext cx="11183112" cy="850392"/>
          </a:xfrm>
          <a:prstGeom prst="roundRect">
            <a:avLst>
              <a:gd name="adj" fmla="val 12000"/>
            </a:avLst>
          </a:prstGeom>
          <a:solidFill>
            <a:srgbClr val="EDF2F8"/>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30552"/>
            <a:ext cx="10817352" cy="576072"/>
          </a:xfrm>
          <a:prstGeom prst="rect">
            <a:avLst/>
          </a:prstGeom>
          <a:noFill/>
        </p:spPr>
        <p:txBody>
          <a:bodyPr wrap="square" lIns="0" rIns="0" tIns="18288" bIns="0">
            <a:spAutoFit/>
          </a:bodyPr>
          <a:lstStyle/>
          <a:p>
            <a:pPr algn="l">
              <a:lnSpc>
                <a:spcPct val="110000"/>
              </a:lnSpc>
              <a:spcBef>
                <a:spcPts val="0"/>
              </a:spcBef>
              <a:spcAft>
                <a:spcPts val="500"/>
              </a:spcAft>
              <a:defRPr sz="2100" b="0">
                <a:solidFill>
                  <a:srgbClr val="20334E"/>
                </a:solidFill>
                <a:latin typeface="Consolas"/>
              </a:defRPr>
            </a:pPr>
            <a:r>
              <a:t>bitmanip_minmax_sel_a = ge ^ ap_max;   // original RTL</a:t>
            </a:r>
          </a:p>
        </p:txBody>
      </p:sp>
      <p:sp>
        <p:nvSpPr>
          <p:cNvPr id="11" name="Rounded Rectangle 10"/>
          <p:cNvSpPr/>
          <p:nvPr/>
        </p:nvSpPr>
        <p:spPr>
          <a:xfrm>
            <a:off x="502920" y="3246120"/>
            <a:ext cx="3593592" cy="194767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46120"/>
            <a:ext cx="50292" cy="1947672"/>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383279"/>
            <a:ext cx="3227832" cy="448056"/>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2563B7"/>
                </a:solidFill>
                <a:latin typeface="Aptos"/>
              </a:defRPr>
            </a:pPr>
            <a:r>
              <a:t>Compare</a:t>
            </a:r>
          </a:p>
        </p:txBody>
      </p:sp>
      <p:sp>
        <p:nvSpPr>
          <p:cNvPr id="14" name="TextBox 13"/>
          <p:cNvSpPr txBox="1"/>
          <p:nvPr/>
        </p:nvSpPr>
        <p:spPr>
          <a:xfrm>
            <a:off x="685800" y="3959352"/>
            <a:ext cx="3227832" cy="1161288"/>
          </a:xfrm>
          <a:prstGeom prst="rect">
            <a:avLst/>
          </a:prstGeom>
          <a:noFill/>
        </p:spPr>
        <p:txBody>
          <a:bodyPr wrap="square" lIns="0" rIns="0" tIns="18288" bIns="0">
            <a:spAutoFit/>
          </a:bodyPr>
          <a:lstStyle/>
          <a:p>
            <a:pPr algn="l">
              <a:lnSpc>
                <a:spcPct val="110000"/>
              </a:lnSpc>
              <a:spcBef>
                <a:spcPts val="0"/>
              </a:spcBef>
              <a:spcAft>
                <a:spcPts val="500"/>
              </a:spcAft>
              <a:defRPr sz="2500" b="0">
                <a:solidFill>
                  <a:srgbClr val="20334E"/>
                </a:solidFill>
                <a:latin typeface="Aptos"/>
              </a:defRPr>
            </a:pPr>
            <a:r>
              <a:t>10 &gt;= 20</a:t>
            </a:r>
          </a:p>
          <a:p>
            <a:pPr algn="l">
              <a:lnSpc>
                <a:spcPct val="110000"/>
              </a:lnSpc>
              <a:spcBef>
                <a:spcPts val="0"/>
              </a:spcBef>
              <a:spcAft>
                <a:spcPts val="500"/>
              </a:spcAft>
              <a:defRPr sz="2500" b="0">
                <a:solidFill>
                  <a:srgbClr val="20334E"/>
                </a:solidFill>
                <a:latin typeface="Aptos"/>
              </a:defRPr>
            </a:pPr>
            <a:r>
              <a:t>ge = 0</a:t>
            </a:r>
          </a:p>
        </p:txBody>
      </p:sp>
      <p:cxnSp>
        <p:nvCxnSpPr>
          <p:cNvPr id="15" name="Connector 14"/>
          <p:cNvCxnSpPr/>
          <p:nvPr/>
        </p:nvCxnSpPr>
        <p:spPr>
          <a:xfrm>
            <a:off x="4114800" y="4178808"/>
            <a:ext cx="155448" cy="0"/>
          </a:xfrm>
          <a:prstGeom prst="line">
            <a:avLst/>
          </a:prstGeom>
          <a:ln w="25400">
            <a:solidFill>
              <a:srgbClr val="2563B7"/>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297680" y="3246120"/>
            <a:ext cx="3593592" cy="1947672"/>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3246120"/>
            <a:ext cx="50292" cy="1947672"/>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3383279"/>
            <a:ext cx="3227832" cy="448056"/>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7352AD"/>
                </a:solidFill>
                <a:latin typeface="Aptos"/>
              </a:defRPr>
            </a:pPr>
            <a:r>
              <a:t>Select</a:t>
            </a:r>
          </a:p>
        </p:txBody>
      </p:sp>
      <p:sp>
        <p:nvSpPr>
          <p:cNvPr id="19" name="TextBox 18"/>
          <p:cNvSpPr txBox="1"/>
          <p:nvPr/>
        </p:nvSpPr>
        <p:spPr>
          <a:xfrm>
            <a:off x="4480560" y="3959352"/>
            <a:ext cx="3227832" cy="1161288"/>
          </a:xfrm>
          <a:prstGeom prst="rect">
            <a:avLst/>
          </a:prstGeom>
          <a:noFill/>
        </p:spPr>
        <p:txBody>
          <a:bodyPr wrap="square" lIns="0" rIns="0" tIns="18288" bIns="0">
            <a:spAutoFit/>
          </a:bodyPr>
          <a:lstStyle/>
          <a:p>
            <a:pPr algn="l">
              <a:lnSpc>
                <a:spcPct val="110000"/>
              </a:lnSpc>
              <a:spcBef>
                <a:spcPts val="0"/>
              </a:spcBef>
              <a:spcAft>
                <a:spcPts val="500"/>
              </a:spcAft>
              <a:defRPr sz="2500" b="0">
                <a:solidFill>
                  <a:srgbClr val="20334E"/>
                </a:solidFill>
                <a:latin typeface="Aptos"/>
              </a:defRPr>
            </a:pPr>
            <a:r>
              <a:t>0 XOR 1</a:t>
            </a:r>
          </a:p>
          <a:p>
            <a:pPr algn="l">
              <a:lnSpc>
                <a:spcPct val="110000"/>
              </a:lnSpc>
              <a:spcBef>
                <a:spcPts val="0"/>
              </a:spcBef>
              <a:spcAft>
                <a:spcPts val="500"/>
              </a:spcAft>
              <a:defRPr sz="2500" b="0">
                <a:solidFill>
                  <a:srgbClr val="20334E"/>
                </a:solidFill>
                <a:latin typeface="Aptos"/>
              </a:defRPr>
            </a:pPr>
            <a:r>
              <a:t>select_a = 1</a:t>
            </a:r>
          </a:p>
        </p:txBody>
      </p:sp>
      <p:cxnSp>
        <p:nvCxnSpPr>
          <p:cNvPr id="20" name="Connector 19"/>
          <p:cNvCxnSpPr/>
          <p:nvPr/>
        </p:nvCxnSpPr>
        <p:spPr>
          <a:xfrm>
            <a:off x="7909560" y="4178808"/>
            <a:ext cx="155448" cy="0"/>
          </a:xfrm>
          <a:prstGeom prst="line">
            <a:avLst/>
          </a:prstGeom>
          <a:ln w="25400">
            <a:solidFill>
              <a:srgbClr val="2563B7"/>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092440" y="3246120"/>
            <a:ext cx="3593592" cy="1947672"/>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92440" y="3246120"/>
            <a:ext cx="50292" cy="1947672"/>
          </a:xfrm>
          <a:prstGeom prst="rect">
            <a:avLst/>
          </a:prstGeom>
          <a:solidFill>
            <a:srgbClr val="C6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3383279"/>
            <a:ext cx="3227832" cy="448056"/>
          </a:xfrm>
          <a:prstGeom prst="rect">
            <a:avLst/>
          </a:prstGeom>
          <a:noFill/>
        </p:spPr>
        <p:txBody>
          <a:bodyPr wrap="square" lIns="0" rIns="0" tIns="18288" bIns="0">
            <a:spAutoFit/>
          </a:bodyPr>
          <a:lstStyle/>
          <a:p>
            <a:pPr algn="l">
              <a:lnSpc>
                <a:spcPct val="110000"/>
              </a:lnSpc>
              <a:spcBef>
                <a:spcPts val="0"/>
              </a:spcBef>
              <a:spcAft>
                <a:spcPts val="500"/>
              </a:spcAft>
              <a:defRPr sz="2300" b="1">
                <a:solidFill>
                  <a:srgbClr val="C66A20"/>
                </a:solidFill>
                <a:latin typeface="Aptos"/>
              </a:defRPr>
            </a:pPr>
            <a:r>
              <a:t>Observe</a:t>
            </a:r>
          </a:p>
        </p:txBody>
      </p:sp>
      <p:sp>
        <p:nvSpPr>
          <p:cNvPr id="24" name="TextBox 23"/>
          <p:cNvSpPr txBox="1"/>
          <p:nvPr/>
        </p:nvSpPr>
        <p:spPr>
          <a:xfrm>
            <a:off x="8275320" y="3959352"/>
            <a:ext cx="3227832" cy="1161288"/>
          </a:xfrm>
          <a:prstGeom prst="rect">
            <a:avLst/>
          </a:prstGeom>
          <a:noFill/>
        </p:spPr>
        <p:txBody>
          <a:bodyPr wrap="square" lIns="0" rIns="0" tIns="18288" bIns="0">
            <a:spAutoFit/>
          </a:bodyPr>
          <a:lstStyle/>
          <a:p>
            <a:pPr algn="l">
              <a:lnSpc>
                <a:spcPct val="110000"/>
              </a:lnSpc>
              <a:spcBef>
                <a:spcPts val="0"/>
              </a:spcBef>
              <a:spcAft>
                <a:spcPts val="500"/>
              </a:spcAft>
              <a:defRPr sz="2500" b="0">
                <a:solidFill>
                  <a:srgbClr val="20334E"/>
                </a:solidFill>
                <a:latin typeface="Aptos"/>
              </a:defRPr>
            </a:pPr>
            <a:r>
              <a:t>a is selected</a:t>
            </a:r>
          </a:p>
          <a:p>
            <a:pPr algn="l">
              <a:lnSpc>
                <a:spcPct val="110000"/>
              </a:lnSpc>
              <a:spcBef>
                <a:spcPts val="0"/>
              </a:spcBef>
              <a:spcAft>
                <a:spcPts val="500"/>
              </a:spcAft>
              <a:defRPr sz="2500" b="0">
                <a:solidFill>
                  <a:srgbClr val="20334E"/>
                </a:solidFill>
                <a:latin typeface="Aptos"/>
              </a:defRPr>
            </a:pPr>
            <a:r>
              <a:t>result = 10</a:t>
            </a:r>
          </a:p>
        </p:txBody>
      </p:sp>
      <p:sp>
        <p:nvSpPr>
          <p:cNvPr id="25" name="Rounded Rectangle 24"/>
          <p:cNvSpPr/>
          <p:nvPr/>
        </p:nvSpPr>
        <p:spPr>
          <a:xfrm>
            <a:off x="502920" y="5797296"/>
            <a:ext cx="11183112" cy="48463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2563B7"/>
                </a:solidFill>
                <a:latin typeface="Aptos"/>
              </a:defRPr>
            </a:pPr>
            <a:r>
              <a:t>Reproduce → isolate → inspect cause → propose correction → rerun related tests.</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05 / CORRECT AND CLOSE</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What the exploratory RTL correction changes</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The repository contains fix_v1 code. It is separate from the measured submission DUT.</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20</a:t>
            </a:r>
          </a:p>
        </p:txBody>
      </p:sp>
      <p:sp>
        <p:nvSpPr>
          <p:cNvPr id="9" name="Rounded Rectangle 8"/>
          <p:cNvSpPr/>
          <p:nvPr/>
        </p:nvSpPr>
        <p:spPr>
          <a:xfrm>
            <a:off x="502920" y="1984248"/>
            <a:ext cx="11183112" cy="932688"/>
          </a:xfrm>
          <a:prstGeom prst="roundRect">
            <a:avLst>
              <a:gd name="adj" fmla="val 12000"/>
            </a:avLst>
          </a:prstGeom>
          <a:solidFill>
            <a:srgbClr val="EDF2F8"/>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48840"/>
            <a:ext cx="10817352" cy="658368"/>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Consolas"/>
              </a:defRPr>
            </a:pPr>
            <a:r>
              <a:t>// MAX: select using a signed comparison</a:t>
            </a:r>
          </a:p>
          <a:p>
            <a:pPr algn="l">
              <a:lnSpc>
                <a:spcPct val="110000"/>
              </a:lnSpc>
              <a:spcBef>
                <a:spcPts val="0"/>
              </a:spcBef>
              <a:spcAft>
                <a:spcPts val="500"/>
              </a:spcAft>
              <a:defRPr sz="1900" b="0">
                <a:solidFill>
                  <a:srgbClr val="20334E"/>
                </a:solidFill>
                <a:latin typeface="Consolas"/>
              </a:defRPr>
            </a:pPr>
            <a:r>
              <a:t>corrected_result = ($signed(a_in) &gt; $signed(b_in)) ? a_in : b_in;</a:t>
            </a:r>
          </a:p>
        </p:txBody>
      </p:sp>
      <p:sp>
        <p:nvSpPr>
          <p:cNvPr id="11" name="Rectangle 10"/>
          <p:cNvSpPr/>
          <p:nvPr/>
        </p:nvSpPr>
        <p:spPr>
          <a:xfrm>
            <a:off x="502920" y="3218688"/>
            <a:ext cx="2423160" cy="475488"/>
          </a:xfrm>
          <a:prstGeom prst="rect">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3328416"/>
            <a:ext cx="2212848" cy="301752"/>
          </a:xfrm>
          <a:prstGeom prst="rect">
            <a:avLst/>
          </a:prstGeom>
          <a:noFill/>
        </p:spPr>
        <p:txBody>
          <a:bodyPr wrap="square" lIns="0" rIns="0" tIns="18288" bIns="0">
            <a:spAutoFit/>
          </a:bodyPr>
          <a:lstStyle/>
          <a:p>
            <a:pPr algn="l">
              <a:lnSpc>
                <a:spcPct val="110000"/>
              </a:lnSpc>
              <a:spcBef>
                <a:spcPts val="0"/>
              </a:spcBef>
              <a:spcAft>
                <a:spcPts val="500"/>
              </a:spcAft>
              <a:defRPr sz="1400" b="1">
                <a:solidFill>
                  <a:srgbClr val="2563B7"/>
                </a:solidFill>
                <a:latin typeface="Aptos"/>
              </a:defRPr>
            </a:pPr>
            <a:r>
              <a:t>Path</a:t>
            </a:r>
          </a:p>
        </p:txBody>
      </p:sp>
      <p:sp>
        <p:nvSpPr>
          <p:cNvPr id="13" name="Rectangle 12"/>
          <p:cNvSpPr/>
          <p:nvPr/>
        </p:nvSpPr>
        <p:spPr>
          <a:xfrm>
            <a:off x="2926080" y="3218688"/>
            <a:ext cx="8759952" cy="475488"/>
          </a:xfrm>
          <a:prstGeom prst="rect">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5808" y="3328416"/>
            <a:ext cx="8549640" cy="301752"/>
          </a:xfrm>
          <a:prstGeom prst="rect">
            <a:avLst/>
          </a:prstGeom>
          <a:noFill/>
        </p:spPr>
        <p:txBody>
          <a:bodyPr wrap="square" lIns="0" rIns="0" tIns="18288" bIns="0">
            <a:spAutoFit/>
          </a:bodyPr>
          <a:lstStyle/>
          <a:p>
            <a:pPr algn="l">
              <a:lnSpc>
                <a:spcPct val="110000"/>
              </a:lnSpc>
              <a:spcBef>
                <a:spcPts val="0"/>
              </a:spcBef>
              <a:spcAft>
                <a:spcPts val="500"/>
              </a:spcAft>
              <a:defRPr sz="1400" b="1">
                <a:solidFill>
                  <a:srgbClr val="2563B7"/>
                </a:solidFill>
                <a:latin typeface="Aptos"/>
              </a:defRPr>
            </a:pPr>
            <a:r>
              <a:t>Correction present in fix_v1</a:t>
            </a:r>
          </a:p>
        </p:txBody>
      </p:sp>
      <p:sp>
        <p:nvSpPr>
          <p:cNvPr id="15" name="Rectangle 14"/>
          <p:cNvSpPr/>
          <p:nvPr/>
        </p:nvSpPr>
        <p:spPr>
          <a:xfrm>
            <a:off x="502920" y="3721608"/>
            <a:ext cx="2423160" cy="4526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3813048"/>
            <a:ext cx="2212848" cy="356616"/>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CPOP / CTZ</a:t>
            </a:r>
          </a:p>
        </p:txBody>
      </p:sp>
      <p:sp>
        <p:nvSpPr>
          <p:cNvPr id="17" name="Rectangle 16"/>
          <p:cNvSpPr/>
          <p:nvPr/>
        </p:nvSpPr>
        <p:spPr>
          <a:xfrm>
            <a:off x="2926080" y="3721608"/>
            <a:ext cx="8759952" cy="4526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35808" y="3813048"/>
            <a:ext cx="8549640" cy="356616"/>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Count all 32 bits; scan CTZ from bit 0, default 32</a:t>
            </a:r>
          </a:p>
        </p:txBody>
      </p:sp>
      <p:sp>
        <p:nvSpPr>
          <p:cNvPr id="19" name="Rectangle 18"/>
          <p:cNvSpPr/>
          <p:nvPr/>
        </p:nvSpPr>
        <p:spPr>
          <a:xfrm>
            <a:off x="502920" y="4197096"/>
            <a:ext cx="2423160" cy="45262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 y="4288536"/>
            <a:ext cx="2212848" cy="356616"/>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PACK / GREV</a:t>
            </a:r>
          </a:p>
        </p:txBody>
      </p:sp>
      <p:sp>
        <p:nvSpPr>
          <p:cNvPr id="21" name="Rectangle 20"/>
          <p:cNvSpPr/>
          <p:nvPr/>
        </p:nvSpPr>
        <p:spPr>
          <a:xfrm>
            <a:off x="2926080" y="4197096"/>
            <a:ext cx="8759952" cy="45262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35808" y="4288536"/>
            <a:ext cx="8549640" cy="356616"/>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Restore halfword order / reverse all four bytes</a:t>
            </a:r>
          </a:p>
        </p:txBody>
      </p:sp>
      <p:sp>
        <p:nvSpPr>
          <p:cNvPr id="23" name="Rectangle 22"/>
          <p:cNvSpPr/>
          <p:nvPr/>
        </p:nvSpPr>
        <p:spPr>
          <a:xfrm>
            <a:off x="502920" y="4672583"/>
            <a:ext cx="2423160" cy="4526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 y="4764023"/>
            <a:ext cx="2212848" cy="356616"/>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CSR write</a:t>
            </a:r>
          </a:p>
        </p:txBody>
      </p:sp>
      <p:sp>
        <p:nvSpPr>
          <p:cNvPr id="25" name="Rectangle 24"/>
          <p:cNvSpPr/>
          <p:nvPr/>
        </p:nvSpPr>
        <p:spPr>
          <a:xfrm>
            <a:off x="2926080" y="4672583"/>
            <a:ext cx="8759952" cy="4526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35808" y="4764023"/>
            <a:ext cx="8549640" cy="356616"/>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csr_imm ? b_in : a_in</a:t>
            </a:r>
          </a:p>
        </p:txBody>
      </p:sp>
      <p:sp>
        <p:nvSpPr>
          <p:cNvPr id="27" name="Rectangle 26"/>
          <p:cNvSpPr/>
          <p:nvPr/>
        </p:nvSpPr>
        <p:spPr>
          <a:xfrm>
            <a:off x="502920" y="5148071"/>
            <a:ext cx="2423160" cy="45262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 y="5239511"/>
            <a:ext cx="2212848" cy="356616"/>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Control checks</a:t>
            </a:r>
          </a:p>
        </p:txBody>
      </p:sp>
      <p:sp>
        <p:nvSpPr>
          <p:cNvPr id="29" name="Rectangle 28"/>
          <p:cNvSpPr/>
          <p:nvPr/>
        </p:nvSpPr>
        <p:spPr>
          <a:xfrm>
            <a:off x="2926080" y="5148071"/>
            <a:ext cx="8759952" cy="45262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35808" y="5239511"/>
            <a:ext cx="8549640" cy="356616"/>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Separate guard logic and required-control checks</a:t>
            </a:r>
          </a:p>
        </p:txBody>
      </p:sp>
      <p:sp>
        <p:nvSpPr>
          <p:cNvPr id="31" name="Rounded Rectangle 30"/>
          <p:cNvSpPr/>
          <p:nvPr/>
        </p:nvSpPr>
        <p:spPr>
          <a:xfrm>
            <a:off x="502920" y="5797296"/>
            <a:ext cx="11183112" cy="484632"/>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600" b="1">
                <a:solidFill>
                  <a:srgbClr val="C66A20"/>
                </a:solidFill>
                <a:latin typeface="Aptos"/>
              </a:defRPr>
            </a:pPr>
            <a:r>
              <a:t>Code changes exist; corrected-DUT regression closure is not established by this evidence.</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05 / CORRECT AND CLOSE</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When can we honestly call a bug fixed?</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A code edit is the start of closure, not the end.</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21</a:t>
            </a:r>
          </a:p>
        </p:txBody>
      </p:sp>
      <p:sp>
        <p:nvSpPr>
          <p:cNvPr id="9" name="Rounded Rectangle 8"/>
          <p:cNvSpPr/>
          <p:nvPr/>
        </p:nvSpPr>
        <p:spPr>
          <a:xfrm>
            <a:off x="502920" y="2240280"/>
            <a:ext cx="2633472" cy="2441448"/>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240280"/>
            <a:ext cx="50292" cy="2441448"/>
          </a:xfrm>
          <a:prstGeom prst="rect">
            <a:avLst/>
          </a:prstGeom>
          <a:solidFill>
            <a:srgbClr val="C6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377440"/>
            <a:ext cx="2267712" cy="448056"/>
          </a:xfrm>
          <a:prstGeom prst="rect">
            <a:avLst/>
          </a:prstGeom>
          <a:noFill/>
        </p:spPr>
        <p:txBody>
          <a:bodyPr wrap="square" lIns="0" rIns="0" tIns="18288" bIns="0">
            <a:spAutoFit/>
          </a:bodyPr>
          <a:lstStyle/>
          <a:p>
            <a:pPr algn="l">
              <a:lnSpc>
                <a:spcPct val="110000"/>
              </a:lnSpc>
              <a:spcBef>
                <a:spcPts val="0"/>
              </a:spcBef>
              <a:spcAft>
                <a:spcPts val="500"/>
              </a:spcAft>
              <a:defRPr sz="2100" b="1">
                <a:solidFill>
                  <a:srgbClr val="C66A20"/>
                </a:solidFill>
                <a:latin typeface="Aptos"/>
              </a:defRPr>
            </a:pPr>
            <a:r>
              <a:t>1  Reproduce</a:t>
            </a:r>
          </a:p>
        </p:txBody>
      </p:sp>
      <p:sp>
        <p:nvSpPr>
          <p:cNvPr id="12" name="TextBox 11"/>
          <p:cNvSpPr txBox="1"/>
          <p:nvPr/>
        </p:nvSpPr>
        <p:spPr>
          <a:xfrm>
            <a:off x="685800" y="2953512"/>
            <a:ext cx="2267712" cy="1655064"/>
          </a:xfrm>
          <a:prstGeom prst="rect">
            <a:avLst/>
          </a:prstGeom>
          <a:noFill/>
        </p:spPr>
        <p:txBody>
          <a:bodyPr wrap="square" lIns="0" rIns="0" tIns="18288" bIns="0">
            <a:spAutoFit/>
          </a:bodyPr>
          <a:lstStyle/>
          <a:p>
            <a:pPr algn="l">
              <a:lnSpc>
                <a:spcPct val="110000"/>
              </a:lnSpc>
              <a:spcBef>
                <a:spcPts val="0"/>
              </a:spcBef>
              <a:spcAft>
                <a:spcPts val="500"/>
              </a:spcAft>
              <a:defRPr sz="2000" b="0">
                <a:solidFill>
                  <a:srgbClr val="20334E"/>
                </a:solidFill>
                <a:latin typeface="Aptos"/>
              </a:defRPr>
            </a:pPr>
            <a:r>
              <a:t>Original DUT fails</a:t>
            </a:r>
          </a:p>
          <a:p>
            <a:pPr algn="l">
              <a:lnSpc>
                <a:spcPct val="110000"/>
              </a:lnSpc>
              <a:spcBef>
                <a:spcPts val="0"/>
              </a:spcBef>
              <a:spcAft>
                <a:spcPts val="500"/>
              </a:spcAft>
              <a:defRPr sz="2000" b="0">
                <a:solidFill>
                  <a:srgbClr val="20334E"/>
                </a:solidFill>
                <a:latin typeface="Aptos"/>
              </a:defRPr>
            </a:pPr>
            <a:r>
              <a:t>Same test and seed</a:t>
            </a:r>
          </a:p>
        </p:txBody>
      </p:sp>
      <p:sp>
        <p:nvSpPr>
          <p:cNvPr id="13" name="Rounded Rectangle 12"/>
          <p:cNvSpPr/>
          <p:nvPr/>
        </p:nvSpPr>
        <p:spPr>
          <a:xfrm>
            <a:off x="3355848" y="2240280"/>
            <a:ext cx="2633472" cy="2441448"/>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55848" y="2240280"/>
            <a:ext cx="50292" cy="2441448"/>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8728" y="2377440"/>
            <a:ext cx="2267712" cy="448056"/>
          </a:xfrm>
          <a:prstGeom prst="rect">
            <a:avLst/>
          </a:prstGeom>
          <a:noFill/>
        </p:spPr>
        <p:txBody>
          <a:bodyPr wrap="square" lIns="0" rIns="0" tIns="18288" bIns="0">
            <a:spAutoFit/>
          </a:bodyPr>
          <a:lstStyle/>
          <a:p>
            <a:pPr algn="l">
              <a:lnSpc>
                <a:spcPct val="110000"/>
              </a:lnSpc>
              <a:spcBef>
                <a:spcPts val="0"/>
              </a:spcBef>
              <a:spcAft>
                <a:spcPts val="500"/>
              </a:spcAft>
              <a:defRPr sz="2100" b="1">
                <a:solidFill>
                  <a:srgbClr val="087F83"/>
                </a:solidFill>
                <a:latin typeface="Aptos"/>
              </a:defRPr>
            </a:pPr>
            <a:r>
              <a:t>2  Retest</a:t>
            </a:r>
          </a:p>
        </p:txBody>
      </p:sp>
      <p:sp>
        <p:nvSpPr>
          <p:cNvPr id="16" name="TextBox 15"/>
          <p:cNvSpPr txBox="1"/>
          <p:nvPr/>
        </p:nvSpPr>
        <p:spPr>
          <a:xfrm>
            <a:off x="3538728" y="2953512"/>
            <a:ext cx="2267712" cy="1655064"/>
          </a:xfrm>
          <a:prstGeom prst="rect">
            <a:avLst/>
          </a:prstGeom>
          <a:noFill/>
        </p:spPr>
        <p:txBody>
          <a:bodyPr wrap="square" lIns="0" rIns="0" tIns="18288" bIns="0">
            <a:spAutoFit/>
          </a:bodyPr>
          <a:lstStyle/>
          <a:p>
            <a:pPr algn="l">
              <a:lnSpc>
                <a:spcPct val="110000"/>
              </a:lnSpc>
              <a:spcBef>
                <a:spcPts val="0"/>
              </a:spcBef>
              <a:spcAft>
                <a:spcPts val="500"/>
              </a:spcAft>
              <a:defRPr sz="2000" b="0">
                <a:solidFill>
                  <a:srgbClr val="20334E"/>
                </a:solidFill>
                <a:latin typeface="Aptos"/>
              </a:defRPr>
            </a:pPr>
            <a:r>
              <a:t>Corrected DUT passes</a:t>
            </a:r>
          </a:p>
          <a:p>
            <a:pPr algn="l">
              <a:lnSpc>
                <a:spcPct val="110000"/>
              </a:lnSpc>
              <a:spcBef>
                <a:spcPts val="0"/>
              </a:spcBef>
              <a:spcAft>
                <a:spcPts val="500"/>
              </a:spcAft>
              <a:defRPr sz="2000" b="0">
                <a:solidFill>
                  <a:srgbClr val="20334E"/>
                </a:solidFill>
                <a:latin typeface="Aptos"/>
              </a:defRPr>
            </a:pPr>
            <a:r>
              <a:t>Same expected result</a:t>
            </a:r>
          </a:p>
        </p:txBody>
      </p:sp>
      <p:sp>
        <p:nvSpPr>
          <p:cNvPr id="17" name="Rounded Rectangle 16"/>
          <p:cNvSpPr/>
          <p:nvPr/>
        </p:nvSpPr>
        <p:spPr>
          <a:xfrm>
            <a:off x="6208776" y="2240280"/>
            <a:ext cx="2633472" cy="2441448"/>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08776" y="2240280"/>
            <a:ext cx="50292" cy="244144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91656" y="2377440"/>
            <a:ext cx="2267712" cy="448056"/>
          </a:xfrm>
          <a:prstGeom prst="rect">
            <a:avLst/>
          </a:prstGeom>
          <a:noFill/>
        </p:spPr>
        <p:txBody>
          <a:bodyPr wrap="square" lIns="0" rIns="0" tIns="18288" bIns="0">
            <a:spAutoFit/>
          </a:bodyPr>
          <a:lstStyle/>
          <a:p>
            <a:pPr algn="l">
              <a:lnSpc>
                <a:spcPct val="110000"/>
              </a:lnSpc>
              <a:spcBef>
                <a:spcPts val="0"/>
              </a:spcBef>
              <a:spcAft>
                <a:spcPts val="500"/>
              </a:spcAft>
              <a:defRPr sz="2100" b="1">
                <a:solidFill>
                  <a:srgbClr val="2563B7"/>
                </a:solidFill>
                <a:latin typeface="Aptos"/>
              </a:defRPr>
            </a:pPr>
            <a:r>
              <a:t>3  Expand</a:t>
            </a:r>
          </a:p>
        </p:txBody>
      </p:sp>
      <p:sp>
        <p:nvSpPr>
          <p:cNvPr id="20" name="TextBox 19"/>
          <p:cNvSpPr txBox="1"/>
          <p:nvPr/>
        </p:nvSpPr>
        <p:spPr>
          <a:xfrm>
            <a:off x="6391656" y="2953512"/>
            <a:ext cx="2267712" cy="1655064"/>
          </a:xfrm>
          <a:prstGeom prst="rect">
            <a:avLst/>
          </a:prstGeom>
          <a:noFill/>
        </p:spPr>
        <p:txBody>
          <a:bodyPr wrap="square" lIns="0" rIns="0" tIns="18288" bIns="0">
            <a:spAutoFit/>
          </a:bodyPr>
          <a:lstStyle/>
          <a:p>
            <a:pPr algn="l">
              <a:lnSpc>
                <a:spcPct val="110000"/>
              </a:lnSpc>
              <a:spcBef>
                <a:spcPts val="0"/>
              </a:spcBef>
              <a:spcAft>
                <a:spcPts val="500"/>
              </a:spcAft>
              <a:defRPr sz="2000" b="0">
                <a:solidFill>
                  <a:srgbClr val="20334E"/>
                </a:solidFill>
                <a:latin typeface="Aptos"/>
              </a:defRPr>
            </a:pPr>
            <a:r>
              <a:t>Related boundaries</a:t>
            </a:r>
          </a:p>
          <a:p>
            <a:pPr algn="l">
              <a:lnSpc>
                <a:spcPct val="110000"/>
              </a:lnSpc>
              <a:spcBef>
                <a:spcPts val="0"/>
              </a:spcBef>
              <a:spcAft>
                <a:spcPts val="500"/>
              </a:spcAft>
              <a:defRPr sz="2000" b="0">
                <a:solidFill>
                  <a:srgbClr val="20334E"/>
                </a:solidFill>
                <a:latin typeface="Aptos"/>
              </a:defRPr>
            </a:pPr>
            <a:r>
              <a:t>Full regression</a:t>
            </a:r>
          </a:p>
        </p:txBody>
      </p:sp>
      <p:sp>
        <p:nvSpPr>
          <p:cNvPr id="21" name="Rounded Rectangle 20"/>
          <p:cNvSpPr/>
          <p:nvPr/>
        </p:nvSpPr>
        <p:spPr>
          <a:xfrm>
            <a:off x="9061704" y="2240280"/>
            <a:ext cx="2633472" cy="2441448"/>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1704" y="2240280"/>
            <a:ext cx="50292" cy="2441448"/>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44584" y="2377440"/>
            <a:ext cx="2267712" cy="448056"/>
          </a:xfrm>
          <a:prstGeom prst="rect">
            <a:avLst/>
          </a:prstGeom>
          <a:noFill/>
        </p:spPr>
        <p:txBody>
          <a:bodyPr wrap="square" lIns="0" rIns="0" tIns="18288" bIns="0">
            <a:spAutoFit/>
          </a:bodyPr>
          <a:lstStyle/>
          <a:p>
            <a:pPr algn="l">
              <a:lnSpc>
                <a:spcPct val="110000"/>
              </a:lnSpc>
              <a:spcBef>
                <a:spcPts val="0"/>
              </a:spcBef>
              <a:spcAft>
                <a:spcPts val="500"/>
              </a:spcAft>
              <a:defRPr sz="2100" b="1">
                <a:solidFill>
                  <a:srgbClr val="7352AD"/>
                </a:solidFill>
                <a:latin typeface="Aptos"/>
              </a:defRPr>
            </a:pPr>
            <a:r>
              <a:t>4  Record</a:t>
            </a:r>
          </a:p>
        </p:txBody>
      </p:sp>
      <p:sp>
        <p:nvSpPr>
          <p:cNvPr id="24" name="TextBox 23"/>
          <p:cNvSpPr txBox="1"/>
          <p:nvPr/>
        </p:nvSpPr>
        <p:spPr>
          <a:xfrm>
            <a:off x="9244584" y="2953512"/>
            <a:ext cx="2267712" cy="1655064"/>
          </a:xfrm>
          <a:prstGeom prst="rect">
            <a:avLst/>
          </a:prstGeom>
          <a:noFill/>
        </p:spPr>
        <p:txBody>
          <a:bodyPr wrap="square" lIns="0" rIns="0" tIns="18288" bIns="0">
            <a:spAutoFit/>
          </a:bodyPr>
          <a:lstStyle/>
          <a:p>
            <a:pPr algn="l">
              <a:lnSpc>
                <a:spcPct val="110000"/>
              </a:lnSpc>
              <a:spcBef>
                <a:spcPts val="0"/>
              </a:spcBef>
              <a:spcAft>
                <a:spcPts val="500"/>
              </a:spcAft>
              <a:defRPr sz="2000" b="0">
                <a:solidFill>
                  <a:srgbClr val="20334E"/>
                </a:solidFill>
                <a:latin typeface="Aptos"/>
              </a:defRPr>
            </a:pPr>
            <a:r>
              <a:t>Source + seed + logs</a:t>
            </a:r>
          </a:p>
          <a:p>
            <a:pPr algn="l">
              <a:lnSpc>
                <a:spcPct val="110000"/>
              </a:lnSpc>
              <a:spcBef>
                <a:spcPts val="0"/>
              </a:spcBef>
              <a:spcAft>
                <a:spcPts val="500"/>
              </a:spcAft>
              <a:defRPr sz="2000" b="0">
                <a:solidFill>
                  <a:srgbClr val="20334E"/>
                </a:solidFill>
                <a:latin typeface="Aptos"/>
              </a:defRPr>
            </a:pPr>
            <a:r>
              <a:t>Update bug disposition</a:t>
            </a:r>
          </a:p>
        </p:txBody>
      </p:sp>
      <p:sp>
        <p:nvSpPr>
          <p:cNvPr id="25" name="Rounded Rectangle 24"/>
          <p:cNvSpPr/>
          <p:nvPr/>
        </p:nvSpPr>
        <p:spPr>
          <a:xfrm>
            <a:off x="502920" y="5797296"/>
            <a:ext cx="11183112" cy="484632"/>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C66A20"/>
                </a:solidFill>
                <a:latin typeface="Aptos"/>
              </a:defRPr>
            </a:pPr>
            <a:r>
              <a:t>Current status: nine original-DUT bugs open; fix_v1 remains exploratory.</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05 / FINAL ASSESSMENT</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What this verification established</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A traceable path from requirements to reproducible evidence.</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22</a:t>
            </a:r>
          </a:p>
        </p:txBody>
      </p:sp>
      <p:sp>
        <p:nvSpPr>
          <p:cNvPr id="9" name="Rounded Rectangle 8"/>
          <p:cNvSpPr/>
          <p:nvPr/>
        </p:nvSpPr>
        <p:spPr>
          <a:xfrm>
            <a:off x="502920" y="1984248"/>
            <a:ext cx="5486400" cy="3200400"/>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84248"/>
            <a:ext cx="50292" cy="32004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121408"/>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500" b="1">
                <a:solidFill>
                  <a:srgbClr val="087F83"/>
                </a:solidFill>
                <a:latin typeface="Aptos"/>
              </a:defRPr>
            </a:pPr>
            <a:r>
              <a:t>Established</a:t>
            </a:r>
          </a:p>
        </p:txBody>
      </p:sp>
      <p:sp>
        <p:nvSpPr>
          <p:cNvPr id="12" name="TextBox 11"/>
          <p:cNvSpPr txBox="1"/>
          <p:nvPr/>
        </p:nvSpPr>
        <p:spPr>
          <a:xfrm>
            <a:off x="685800" y="2697480"/>
            <a:ext cx="5120640" cy="2414016"/>
          </a:xfrm>
          <a:prstGeom prst="rect">
            <a:avLst/>
          </a:prstGeom>
          <a:noFill/>
        </p:spPr>
        <p:txBody>
          <a:bodyPr wrap="square" lIns="0" rIns="0" tIns="18288" bIns="0">
            <a:spAutoFit/>
          </a:bodyPr>
          <a:lstStyle/>
          <a:p>
            <a:pPr algn="l">
              <a:lnSpc>
                <a:spcPct val="110000"/>
              </a:lnSpc>
              <a:spcBef>
                <a:spcPts val="0"/>
              </a:spcBef>
              <a:spcAft>
                <a:spcPts val="500"/>
              </a:spcAft>
              <a:defRPr sz="2400" b="0">
                <a:solidFill>
                  <a:srgbClr val="20334E"/>
                </a:solidFill>
                <a:latin typeface="Aptos"/>
              </a:defRPr>
            </a:pPr>
            <a:r>
              <a:t>17 operation classes exercised</a:t>
            </a:r>
          </a:p>
          <a:p>
            <a:pPr algn="l">
              <a:lnSpc>
                <a:spcPct val="110000"/>
              </a:lnSpc>
              <a:spcBef>
                <a:spcPts val="0"/>
              </a:spcBef>
              <a:spcAft>
                <a:spcPts val="500"/>
              </a:spcAft>
              <a:defRPr sz="2400" b="0">
                <a:solidFill>
                  <a:srgbClr val="20334E"/>
                </a:solidFill>
                <a:latin typeface="Aptos"/>
              </a:defRPr>
            </a:pPr>
            <a:r>
              <a:t>865 predictor self-checks passed</a:t>
            </a:r>
          </a:p>
          <a:p>
            <a:pPr algn="l">
              <a:lnSpc>
                <a:spcPct val="110000"/>
              </a:lnSpc>
              <a:spcBef>
                <a:spcPts val="0"/>
              </a:spcBef>
              <a:spcAft>
                <a:spcPts val="500"/>
              </a:spcAft>
              <a:defRPr sz="2400" b="0">
                <a:solidFill>
                  <a:srgbClr val="20334E"/>
                </a:solidFill>
                <a:latin typeface="Aptos"/>
              </a:defRPr>
            </a:pPr>
            <a:r>
              <a:t>562 functional bins exercised</a:t>
            </a:r>
          </a:p>
          <a:p>
            <a:pPr algn="l">
              <a:lnSpc>
                <a:spcPct val="110000"/>
              </a:lnSpc>
              <a:spcBef>
                <a:spcPts val="0"/>
              </a:spcBef>
              <a:spcAft>
                <a:spcPts val="500"/>
              </a:spcAft>
              <a:defRPr sz="2400" b="0">
                <a:solidFill>
                  <a:srgbClr val="20334E"/>
                </a:solidFill>
                <a:latin typeface="Aptos"/>
              </a:defRPr>
            </a:pPr>
            <a:r>
              <a:t>Nine reproducible DUT findings</a:t>
            </a:r>
          </a:p>
        </p:txBody>
      </p:sp>
      <p:sp>
        <p:nvSpPr>
          <p:cNvPr id="13" name="Rounded Rectangle 12"/>
          <p:cNvSpPr/>
          <p:nvPr/>
        </p:nvSpPr>
        <p:spPr>
          <a:xfrm>
            <a:off x="6199632" y="1984248"/>
            <a:ext cx="5486400" cy="3200400"/>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984248"/>
            <a:ext cx="50292" cy="3200400"/>
          </a:xfrm>
          <a:prstGeom prst="rect">
            <a:avLst/>
          </a:prstGeom>
          <a:solidFill>
            <a:srgbClr val="C6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121408"/>
            <a:ext cx="5120640" cy="448056"/>
          </a:xfrm>
          <a:prstGeom prst="rect">
            <a:avLst/>
          </a:prstGeom>
          <a:noFill/>
        </p:spPr>
        <p:txBody>
          <a:bodyPr wrap="square" lIns="0" rIns="0" tIns="18288" bIns="0">
            <a:spAutoFit/>
          </a:bodyPr>
          <a:lstStyle/>
          <a:p>
            <a:pPr algn="l">
              <a:lnSpc>
                <a:spcPct val="110000"/>
              </a:lnSpc>
              <a:spcBef>
                <a:spcPts val="0"/>
              </a:spcBef>
              <a:spcAft>
                <a:spcPts val="500"/>
              </a:spcAft>
              <a:defRPr sz="2500" b="1">
                <a:solidFill>
                  <a:srgbClr val="C66A20"/>
                </a:solidFill>
                <a:latin typeface="Aptos"/>
              </a:defRPr>
            </a:pPr>
            <a:r>
              <a:t>Still open</a:t>
            </a:r>
          </a:p>
        </p:txBody>
      </p:sp>
      <p:sp>
        <p:nvSpPr>
          <p:cNvPr id="16" name="TextBox 15"/>
          <p:cNvSpPr txBox="1"/>
          <p:nvPr/>
        </p:nvSpPr>
        <p:spPr>
          <a:xfrm>
            <a:off x="6382512" y="2697480"/>
            <a:ext cx="5120640" cy="2414016"/>
          </a:xfrm>
          <a:prstGeom prst="rect">
            <a:avLst/>
          </a:prstGeom>
          <a:noFill/>
        </p:spPr>
        <p:txBody>
          <a:bodyPr wrap="square" lIns="0" rIns="0" tIns="18288" bIns="0">
            <a:spAutoFit/>
          </a:bodyPr>
          <a:lstStyle/>
          <a:p>
            <a:pPr algn="l">
              <a:lnSpc>
                <a:spcPct val="110000"/>
              </a:lnSpc>
              <a:spcBef>
                <a:spcPts val="0"/>
              </a:spcBef>
              <a:spcAft>
                <a:spcPts val="500"/>
              </a:spcAft>
              <a:defRPr sz="2400" b="0">
                <a:solidFill>
                  <a:srgbClr val="20334E"/>
                </a:solidFill>
                <a:latin typeface="Aptos"/>
              </a:defRPr>
            </a:pPr>
            <a:r>
              <a:t>Original RTL defects</a:t>
            </a:r>
          </a:p>
          <a:p>
            <a:pPr algn="l">
              <a:lnSpc>
                <a:spcPct val="110000"/>
              </a:lnSpc>
              <a:spcBef>
                <a:spcPts val="0"/>
              </a:spcBef>
              <a:spcAft>
                <a:spcPts val="500"/>
              </a:spcAft>
              <a:defRPr sz="2400" b="0">
                <a:solidFill>
                  <a:srgbClr val="20334E"/>
                </a:solidFill>
                <a:latin typeface="Aptos"/>
              </a:defRPr>
            </a:pPr>
            <a:r>
              <a:t>Corrected-DUT validation</a:t>
            </a:r>
          </a:p>
          <a:p>
            <a:pPr algn="l">
              <a:lnSpc>
                <a:spcPct val="110000"/>
              </a:lnSpc>
              <a:spcBef>
                <a:spcPts val="0"/>
              </a:spcBef>
              <a:spcAft>
                <a:spcPts val="500"/>
              </a:spcAft>
              <a:defRPr sz="2400" b="0">
                <a:solidFill>
                  <a:srgbClr val="20334E"/>
                </a:solidFill>
                <a:latin typeface="Aptos"/>
              </a:defRPr>
            </a:pPr>
            <a:r>
              <a:t>Incomplete toggle coverage</a:t>
            </a:r>
          </a:p>
          <a:p>
            <a:pPr algn="l">
              <a:lnSpc>
                <a:spcPct val="110000"/>
              </a:lnSpc>
              <a:spcBef>
                <a:spcPts val="0"/>
              </a:spcBef>
              <a:spcAft>
                <a:spcPts val="500"/>
              </a:spcAft>
              <a:defRPr sz="2400" b="0">
                <a:solidFill>
                  <a:srgbClr val="20334E"/>
                </a:solidFill>
                <a:latin typeface="Aptos"/>
              </a:defRPr>
            </a:pPr>
            <a:r>
              <a:t>Three documented assumptions</a:t>
            </a:r>
          </a:p>
        </p:txBody>
      </p:sp>
      <p:sp>
        <p:nvSpPr>
          <p:cNvPr id="17" name="Rounded Rectangle 16"/>
          <p:cNvSpPr/>
          <p:nvPr/>
        </p:nvSpPr>
        <p:spPr>
          <a:xfrm>
            <a:off x="502920" y="5797296"/>
            <a:ext cx="11183112" cy="48463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700" b="1">
                <a:solidFill>
                  <a:srgbClr val="2563B7"/>
                </a:solidFill>
                <a:latin typeface="Aptos"/>
              </a:defRPr>
            </a:pPr>
            <a:r>
              <a:t>The deliverable is reproducible verification evidence, with clear limits and open findings.</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APPENDIX / A</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Operation reference</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32-bit results; shift/index uses b[4:0]; arithmetic wraps modulo 2³².</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23</a:t>
            </a:r>
          </a:p>
        </p:txBody>
      </p:sp>
      <p:sp>
        <p:nvSpPr>
          <p:cNvPr id="9" name="Rectangle 8"/>
          <p:cNvSpPr/>
          <p:nvPr/>
        </p:nvSpPr>
        <p:spPr>
          <a:xfrm>
            <a:off x="502920" y="1901952"/>
            <a:ext cx="3154680" cy="475488"/>
          </a:xfrm>
          <a:prstGeom prst="rect">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011680"/>
            <a:ext cx="2944368" cy="301752"/>
          </a:xfrm>
          <a:prstGeom prst="rect">
            <a:avLst/>
          </a:prstGeom>
          <a:noFill/>
        </p:spPr>
        <p:txBody>
          <a:bodyPr wrap="square" lIns="0" rIns="0" tIns="18288" bIns="0">
            <a:spAutoFit/>
          </a:bodyPr>
          <a:lstStyle/>
          <a:p>
            <a:pPr algn="l">
              <a:lnSpc>
                <a:spcPct val="110000"/>
              </a:lnSpc>
              <a:spcBef>
                <a:spcPts val="0"/>
              </a:spcBef>
              <a:spcAft>
                <a:spcPts val="500"/>
              </a:spcAft>
              <a:defRPr sz="1400" b="1">
                <a:solidFill>
                  <a:srgbClr val="2563B7"/>
                </a:solidFill>
                <a:latin typeface="Aptos"/>
              </a:defRPr>
            </a:pPr>
            <a:r>
              <a:t>Family</a:t>
            </a:r>
          </a:p>
        </p:txBody>
      </p:sp>
      <p:sp>
        <p:nvSpPr>
          <p:cNvPr id="11" name="Rectangle 10"/>
          <p:cNvSpPr/>
          <p:nvPr/>
        </p:nvSpPr>
        <p:spPr>
          <a:xfrm>
            <a:off x="3657600" y="1901952"/>
            <a:ext cx="8028431" cy="475488"/>
          </a:xfrm>
          <a:prstGeom prst="rect">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67328" y="2011680"/>
            <a:ext cx="7818119" cy="301752"/>
          </a:xfrm>
          <a:prstGeom prst="rect">
            <a:avLst/>
          </a:prstGeom>
          <a:noFill/>
        </p:spPr>
        <p:txBody>
          <a:bodyPr wrap="square" lIns="0" rIns="0" tIns="18288" bIns="0">
            <a:spAutoFit/>
          </a:bodyPr>
          <a:lstStyle/>
          <a:p>
            <a:pPr algn="l">
              <a:lnSpc>
                <a:spcPct val="110000"/>
              </a:lnSpc>
              <a:spcBef>
                <a:spcPts val="0"/>
              </a:spcBef>
              <a:spcAft>
                <a:spcPts val="500"/>
              </a:spcAft>
              <a:defRPr sz="1400" b="1">
                <a:solidFill>
                  <a:srgbClr val="2563B7"/>
                </a:solidFill>
                <a:latin typeface="Aptos"/>
              </a:defRPr>
            </a:pPr>
            <a:r>
              <a:t>Expected behavior / legal mode</a:t>
            </a:r>
          </a:p>
        </p:txBody>
      </p:sp>
      <p:sp>
        <p:nvSpPr>
          <p:cNvPr id="13" name="Rectangle 12"/>
          <p:cNvSpPr/>
          <p:nvPr/>
        </p:nvSpPr>
        <p:spPr>
          <a:xfrm>
            <a:off x="502920" y="2404872"/>
            <a:ext cx="3154680" cy="4892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496312"/>
            <a:ext cx="2944368" cy="393192"/>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OR / XOR</a:t>
            </a:r>
          </a:p>
        </p:txBody>
      </p:sp>
      <p:sp>
        <p:nvSpPr>
          <p:cNvPr id="15" name="Rectangle 14"/>
          <p:cNvSpPr/>
          <p:nvPr/>
        </p:nvSpPr>
        <p:spPr>
          <a:xfrm>
            <a:off x="3657600" y="2404872"/>
            <a:ext cx="8028431" cy="4892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67328" y="2496312"/>
            <a:ext cx="7818119" cy="393192"/>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Normal b, or inverted b with zbb=1</a:t>
            </a:r>
          </a:p>
        </p:txBody>
      </p:sp>
      <p:sp>
        <p:nvSpPr>
          <p:cNvPr id="17" name="Rectangle 16"/>
          <p:cNvSpPr/>
          <p:nvPr/>
        </p:nvSpPr>
        <p:spPr>
          <a:xfrm>
            <a:off x="502920" y="2916936"/>
            <a:ext cx="3154680" cy="489204"/>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008376"/>
            <a:ext cx="2944368" cy="393192"/>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SRL / SRA / ROR / BINV</a:t>
            </a:r>
          </a:p>
        </p:txBody>
      </p:sp>
      <p:sp>
        <p:nvSpPr>
          <p:cNvPr id="19" name="Rectangle 18"/>
          <p:cNvSpPr/>
          <p:nvPr/>
        </p:nvSpPr>
        <p:spPr>
          <a:xfrm>
            <a:off x="3657600" y="2916936"/>
            <a:ext cx="8028431" cy="489204"/>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7328" y="3008376"/>
            <a:ext cx="7818119" cy="393192"/>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Logical / arithmetic / rotate / invert indexed bit</a:t>
            </a:r>
          </a:p>
        </p:txBody>
      </p:sp>
      <p:sp>
        <p:nvSpPr>
          <p:cNvPr id="21" name="Rectangle 20"/>
          <p:cNvSpPr/>
          <p:nvPr/>
        </p:nvSpPr>
        <p:spPr>
          <a:xfrm>
            <a:off x="502920" y="3429000"/>
            <a:ext cx="3154680" cy="4892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3520440"/>
            <a:ext cx="2944368" cy="393192"/>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SH2ADD / SUB</a:t>
            </a:r>
          </a:p>
        </p:txBody>
      </p:sp>
      <p:sp>
        <p:nvSpPr>
          <p:cNvPr id="23" name="Rectangle 22"/>
          <p:cNvSpPr/>
          <p:nvPr/>
        </p:nvSpPr>
        <p:spPr>
          <a:xfrm>
            <a:off x="3657600" y="3429000"/>
            <a:ext cx="8028431" cy="4892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67328" y="3520440"/>
            <a:ext cx="7818119" cy="393192"/>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(a&lt;&lt;2)+b with ZBA; a-b without ZBA</a:t>
            </a:r>
          </a:p>
        </p:txBody>
      </p:sp>
      <p:sp>
        <p:nvSpPr>
          <p:cNvPr id="25" name="Rectangle 24"/>
          <p:cNvSpPr/>
          <p:nvPr/>
        </p:nvSpPr>
        <p:spPr>
          <a:xfrm>
            <a:off x="502920" y="3941064"/>
            <a:ext cx="3154680" cy="489204"/>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 y="4032504"/>
            <a:ext cx="2944368" cy="393192"/>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SLT / MAX</a:t>
            </a:r>
          </a:p>
        </p:txBody>
      </p:sp>
      <p:sp>
        <p:nvSpPr>
          <p:cNvPr id="27" name="Rectangle 26"/>
          <p:cNvSpPr/>
          <p:nvPr/>
        </p:nvSpPr>
        <p:spPr>
          <a:xfrm>
            <a:off x="3657600" y="3941064"/>
            <a:ext cx="8028431" cy="489204"/>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67328" y="4032504"/>
            <a:ext cx="7818119" cy="393192"/>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Require SUB; SLT allows unsigned; MAX is signed</a:t>
            </a:r>
          </a:p>
        </p:txBody>
      </p:sp>
      <p:sp>
        <p:nvSpPr>
          <p:cNvPr id="29" name="Rectangle 28"/>
          <p:cNvSpPr/>
          <p:nvPr/>
        </p:nvSpPr>
        <p:spPr>
          <a:xfrm>
            <a:off x="502920" y="4453128"/>
            <a:ext cx="3154680" cy="4892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 y="4544568"/>
            <a:ext cx="2944368" cy="393192"/>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CTZ / CPOP / SEXT.B</a:t>
            </a:r>
          </a:p>
        </p:txBody>
      </p:sp>
      <p:sp>
        <p:nvSpPr>
          <p:cNvPr id="31" name="Rectangle 30"/>
          <p:cNvSpPr/>
          <p:nvPr/>
        </p:nvSpPr>
        <p:spPr>
          <a:xfrm>
            <a:off x="3657600" y="4453128"/>
            <a:ext cx="8028431" cy="4892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67328" y="4544568"/>
            <a:ext cx="7818119" cy="393192"/>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Trailing zeros (zero→32); set bits; sign-extend bit 7</a:t>
            </a:r>
          </a:p>
        </p:txBody>
      </p:sp>
      <p:sp>
        <p:nvSpPr>
          <p:cNvPr id="33" name="Rectangle 32"/>
          <p:cNvSpPr/>
          <p:nvPr/>
        </p:nvSpPr>
        <p:spPr>
          <a:xfrm>
            <a:off x="502920" y="4965192"/>
            <a:ext cx="3154680" cy="489204"/>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 y="5056632"/>
            <a:ext cx="2944368" cy="393192"/>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PACK / GREV</a:t>
            </a:r>
          </a:p>
        </p:txBody>
      </p:sp>
      <p:sp>
        <p:nvSpPr>
          <p:cNvPr id="35" name="Rectangle 34"/>
          <p:cNvSpPr/>
          <p:nvPr/>
        </p:nvSpPr>
        <p:spPr>
          <a:xfrm>
            <a:off x="3657600" y="4965192"/>
            <a:ext cx="8028431" cy="489204"/>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7328" y="5056632"/>
            <a:ext cx="7818119" cy="393192"/>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{b[15:0],a[15:0]}; byte reverse for b[4:0]=24</a:t>
            </a:r>
          </a:p>
        </p:txBody>
      </p:sp>
      <p:sp>
        <p:nvSpPr>
          <p:cNvPr id="37" name="Rectangle 36"/>
          <p:cNvSpPr/>
          <p:nvPr/>
        </p:nvSpPr>
        <p:spPr>
          <a:xfrm>
            <a:off x="502920" y="5477256"/>
            <a:ext cx="3154680" cy="4892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648" y="5568696"/>
            <a:ext cx="2944368" cy="393192"/>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CSR read / write</a:t>
            </a:r>
          </a:p>
        </p:txBody>
      </p:sp>
      <p:sp>
        <p:nvSpPr>
          <p:cNvPr id="39" name="Rectangle 38"/>
          <p:cNvSpPr/>
          <p:nvPr/>
        </p:nvSpPr>
        <p:spPr>
          <a:xfrm>
            <a:off x="3657600" y="5477256"/>
            <a:ext cx="8028431" cy="4892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767328" y="5568696"/>
            <a:ext cx="7818119" cy="393192"/>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Pure bypass; write selects b if immediate else a</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APPENDIX / B</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Bug evidence: data-path defects</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All examples reproduced on the original DUT, seed 1. Hex values have a 0x prefix.</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24</a:t>
            </a:r>
          </a:p>
        </p:txBody>
      </p:sp>
      <p:sp>
        <p:nvSpPr>
          <p:cNvPr id="9" name="Rectangle 8"/>
          <p:cNvSpPr/>
          <p:nvPr/>
        </p:nvSpPr>
        <p:spPr>
          <a:xfrm>
            <a:off x="502920" y="1965960"/>
            <a:ext cx="2011680" cy="475488"/>
          </a:xfrm>
          <a:prstGeom prst="rect">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075688"/>
            <a:ext cx="1801368" cy="301752"/>
          </a:xfrm>
          <a:prstGeom prst="rect">
            <a:avLst/>
          </a:prstGeom>
          <a:noFill/>
        </p:spPr>
        <p:txBody>
          <a:bodyPr wrap="square" lIns="0" rIns="0" tIns="18288" bIns="0">
            <a:spAutoFit/>
          </a:bodyPr>
          <a:lstStyle/>
          <a:p>
            <a:pPr algn="l">
              <a:lnSpc>
                <a:spcPct val="110000"/>
              </a:lnSpc>
              <a:spcBef>
                <a:spcPts val="0"/>
              </a:spcBef>
              <a:spcAft>
                <a:spcPts val="500"/>
              </a:spcAft>
              <a:defRPr sz="1400" b="1">
                <a:solidFill>
                  <a:srgbClr val="2563B7"/>
                </a:solidFill>
                <a:latin typeface="Aptos"/>
              </a:defRPr>
            </a:pPr>
            <a:r>
              <a:t>Bug</a:t>
            </a:r>
          </a:p>
        </p:txBody>
      </p:sp>
      <p:sp>
        <p:nvSpPr>
          <p:cNvPr id="11" name="Rectangle 10"/>
          <p:cNvSpPr/>
          <p:nvPr/>
        </p:nvSpPr>
        <p:spPr>
          <a:xfrm>
            <a:off x="2514600" y="1965960"/>
            <a:ext cx="4389120" cy="475488"/>
          </a:xfrm>
          <a:prstGeom prst="rect">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24328" y="2075688"/>
            <a:ext cx="4178807" cy="301752"/>
          </a:xfrm>
          <a:prstGeom prst="rect">
            <a:avLst/>
          </a:prstGeom>
          <a:noFill/>
        </p:spPr>
        <p:txBody>
          <a:bodyPr wrap="square" lIns="0" rIns="0" tIns="18288" bIns="0">
            <a:spAutoFit/>
          </a:bodyPr>
          <a:lstStyle/>
          <a:p>
            <a:pPr algn="l">
              <a:lnSpc>
                <a:spcPct val="110000"/>
              </a:lnSpc>
              <a:spcBef>
                <a:spcPts val="0"/>
              </a:spcBef>
              <a:spcAft>
                <a:spcPts val="500"/>
              </a:spcAft>
              <a:defRPr sz="1400" b="1">
                <a:solidFill>
                  <a:srgbClr val="2563B7"/>
                </a:solidFill>
                <a:latin typeface="Aptos"/>
              </a:defRPr>
            </a:pPr>
            <a:r>
              <a:t>Stimulus</a:t>
            </a:r>
          </a:p>
        </p:txBody>
      </p:sp>
      <p:sp>
        <p:nvSpPr>
          <p:cNvPr id="13" name="Rectangle 12"/>
          <p:cNvSpPr/>
          <p:nvPr/>
        </p:nvSpPr>
        <p:spPr>
          <a:xfrm>
            <a:off x="6903720" y="1965960"/>
            <a:ext cx="4782312" cy="475488"/>
          </a:xfrm>
          <a:prstGeom prst="rect">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13448" y="2075688"/>
            <a:ext cx="4572000" cy="301752"/>
          </a:xfrm>
          <a:prstGeom prst="rect">
            <a:avLst/>
          </a:prstGeom>
          <a:noFill/>
        </p:spPr>
        <p:txBody>
          <a:bodyPr wrap="square" lIns="0" rIns="0" tIns="18288" bIns="0">
            <a:spAutoFit/>
          </a:bodyPr>
          <a:lstStyle/>
          <a:p>
            <a:pPr algn="l">
              <a:lnSpc>
                <a:spcPct val="110000"/>
              </a:lnSpc>
              <a:spcBef>
                <a:spcPts val="0"/>
              </a:spcBef>
              <a:spcAft>
                <a:spcPts val="500"/>
              </a:spcAft>
              <a:defRPr sz="1400" b="1">
                <a:solidFill>
                  <a:srgbClr val="2563B7"/>
                </a:solidFill>
                <a:latin typeface="Aptos"/>
              </a:defRPr>
            </a:pPr>
            <a:r>
              <a:t>Expected → observed</a:t>
            </a:r>
          </a:p>
        </p:txBody>
      </p:sp>
      <p:sp>
        <p:nvSpPr>
          <p:cNvPr id="15" name="Rectangle 14"/>
          <p:cNvSpPr/>
          <p:nvPr/>
        </p:nvSpPr>
        <p:spPr>
          <a:xfrm>
            <a:off x="502920" y="2468880"/>
            <a:ext cx="2011680"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2560320"/>
            <a:ext cx="1801368"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001 CPOP</a:t>
            </a:r>
          </a:p>
        </p:txBody>
      </p:sp>
      <p:sp>
        <p:nvSpPr>
          <p:cNvPr id="17" name="Rectangle 16"/>
          <p:cNvSpPr/>
          <p:nvPr/>
        </p:nvSpPr>
        <p:spPr>
          <a:xfrm>
            <a:off x="2514600" y="2468880"/>
            <a:ext cx="4389120"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24328" y="2560320"/>
            <a:ext cx="4178807"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a=0xFFFF0000</a:t>
            </a:r>
          </a:p>
        </p:txBody>
      </p:sp>
      <p:sp>
        <p:nvSpPr>
          <p:cNvPr id="19" name="Rectangle 18"/>
          <p:cNvSpPr/>
          <p:nvPr/>
        </p:nvSpPr>
        <p:spPr>
          <a:xfrm>
            <a:off x="6903720" y="2468880"/>
            <a:ext cx="4782312"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13448" y="2560320"/>
            <a:ext cx="4572000"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16 → 0</a:t>
            </a:r>
          </a:p>
        </p:txBody>
      </p:sp>
      <p:sp>
        <p:nvSpPr>
          <p:cNvPr id="21" name="Rectangle 20"/>
          <p:cNvSpPr/>
          <p:nvPr/>
        </p:nvSpPr>
        <p:spPr>
          <a:xfrm>
            <a:off x="502920" y="3017520"/>
            <a:ext cx="2011680" cy="5257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3108960"/>
            <a:ext cx="1801368"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002 PACK</a:t>
            </a:r>
          </a:p>
        </p:txBody>
      </p:sp>
      <p:sp>
        <p:nvSpPr>
          <p:cNvPr id="23" name="Rectangle 22"/>
          <p:cNvSpPr/>
          <p:nvPr/>
        </p:nvSpPr>
        <p:spPr>
          <a:xfrm>
            <a:off x="2514600" y="3017520"/>
            <a:ext cx="4389120" cy="5257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24328" y="3108960"/>
            <a:ext cx="4178807"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a=0x1234, b=0x5678</a:t>
            </a:r>
          </a:p>
        </p:txBody>
      </p:sp>
      <p:sp>
        <p:nvSpPr>
          <p:cNvPr id="25" name="Rectangle 24"/>
          <p:cNvSpPr/>
          <p:nvPr/>
        </p:nvSpPr>
        <p:spPr>
          <a:xfrm>
            <a:off x="6903720" y="3017520"/>
            <a:ext cx="4782312" cy="5257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13448" y="3108960"/>
            <a:ext cx="4572000"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0x56781234 → 0x12345678</a:t>
            </a:r>
          </a:p>
        </p:txBody>
      </p:sp>
      <p:sp>
        <p:nvSpPr>
          <p:cNvPr id="27" name="Rectangle 26"/>
          <p:cNvSpPr/>
          <p:nvPr/>
        </p:nvSpPr>
        <p:spPr>
          <a:xfrm>
            <a:off x="502920" y="3566160"/>
            <a:ext cx="2011680"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 y="3657600"/>
            <a:ext cx="1801368"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003 CSR</a:t>
            </a:r>
          </a:p>
        </p:txBody>
      </p:sp>
      <p:sp>
        <p:nvSpPr>
          <p:cNvPr id="29" name="Rectangle 28"/>
          <p:cNvSpPr/>
          <p:nvPr/>
        </p:nvSpPr>
        <p:spPr>
          <a:xfrm>
            <a:off x="2514600" y="3566160"/>
            <a:ext cx="4389120"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24328" y="3657600"/>
            <a:ext cx="4178807"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a=0x33334444, b=0x11112222</a:t>
            </a:r>
          </a:p>
        </p:txBody>
      </p:sp>
      <p:sp>
        <p:nvSpPr>
          <p:cNvPr id="31" name="Rectangle 30"/>
          <p:cNvSpPr/>
          <p:nvPr/>
        </p:nvSpPr>
        <p:spPr>
          <a:xfrm>
            <a:off x="6903720" y="3566160"/>
            <a:ext cx="4782312"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13448" y="3657600"/>
            <a:ext cx="4572000"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Immediate and register sources reversed</a:t>
            </a:r>
          </a:p>
        </p:txBody>
      </p:sp>
      <p:sp>
        <p:nvSpPr>
          <p:cNvPr id="33" name="Rectangle 32"/>
          <p:cNvSpPr/>
          <p:nvPr/>
        </p:nvSpPr>
        <p:spPr>
          <a:xfrm>
            <a:off x="502920" y="4114800"/>
            <a:ext cx="2011680" cy="5257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 y="4206240"/>
            <a:ext cx="1801368"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005 GREV</a:t>
            </a:r>
          </a:p>
        </p:txBody>
      </p:sp>
      <p:sp>
        <p:nvSpPr>
          <p:cNvPr id="35" name="Rectangle 34"/>
          <p:cNvSpPr/>
          <p:nvPr/>
        </p:nvSpPr>
        <p:spPr>
          <a:xfrm>
            <a:off x="2514600" y="4114800"/>
            <a:ext cx="4389120" cy="5257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624328" y="4206240"/>
            <a:ext cx="4178807"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a=0x12345678, b=24</a:t>
            </a:r>
          </a:p>
        </p:txBody>
      </p:sp>
      <p:sp>
        <p:nvSpPr>
          <p:cNvPr id="37" name="Rectangle 36"/>
          <p:cNvSpPr/>
          <p:nvPr/>
        </p:nvSpPr>
        <p:spPr>
          <a:xfrm>
            <a:off x="6903720" y="4114800"/>
            <a:ext cx="4782312" cy="5257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13448" y="4206240"/>
            <a:ext cx="4572000"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0x78563412 → 0x56781234</a:t>
            </a:r>
          </a:p>
        </p:txBody>
      </p:sp>
      <p:sp>
        <p:nvSpPr>
          <p:cNvPr id="39" name="Rectangle 38"/>
          <p:cNvSpPr/>
          <p:nvPr/>
        </p:nvSpPr>
        <p:spPr>
          <a:xfrm>
            <a:off x="502920" y="4663440"/>
            <a:ext cx="2011680"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2648" y="4754879"/>
            <a:ext cx="1801368"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009 CTZ</a:t>
            </a:r>
          </a:p>
        </p:txBody>
      </p:sp>
      <p:sp>
        <p:nvSpPr>
          <p:cNvPr id="41" name="Rectangle 40"/>
          <p:cNvSpPr/>
          <p:nvPr/>
        </p:nvSpPr>
        <p:spPr>
          <a:xfrm>
            <a:off x="2514600" y="4663440"/>
            <a:ext cx="4389120"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24328" y="4754879"/>
            <a:ext cx="4178807"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a=1</a:t>
            </a:r>
          </a:p>
        </p:txBody>
      </p:sp>
      <p:sp>
        <p:nvSpPr>
          <p:cNvPr id="43" name="Rectangle 42"/>
          <p:cNvSpPr/>
          <p:nvPr/>
        </p:nvSpPr>
        <p:spPr>
          <a:xfrm>
            <a:off x="6903720" y="4663440"/>
            <a:ext cx="4782312"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13448" y="4754879"/>
            <a:ext cx="4572000"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0 → 1</a:t>
            </a:r>
          </a:p>
        </p:txBody>
      </p:sp>
      <p:sp>
        <p:nvSpPr>
          <p:cNvPr id="45" name="Rectangle 44"/>
          <p:cNvSpPr/>
          <p:nvPr/>
        </p:nvSpPr>
        <p:spPr>
          <a:xfrm>
            <a:off x="502920" y="5212079"/>
            <a:ext cx="2011680" cy="5257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2648" y="5303519"/>
            <a:ext cx="1801368"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010 MAX</a:t>
            </a:r>
          </a:p>
        </p:txBody>
      </p:sp>
      <p:sp>
        <p:nvSpPr>
          <p:cNvPr id="47" name="Rectangle 46"/>
          <p:cNvSpPr/>
          <p:nvPr/>
        </p:nvSpPr>
        <p:spPr>
          <a:xfrm>
            <a:off x="2514600" y="5212079"/>
            <a:ext cx="4389120" cy="5257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624328" y="5303519"/>
            <a:ext cx="4178807"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a=10, b=20; max+sub</a:t>
            </a:r>
          </a:p>
        </p:txBody>
      </p:sp>
      <p:sp>
        <p:nvSpPr>
          <p:cNvPr id="49" name="Rectangle 48"/>
          <p:cNvSpPr/>
          <p:nvPr/>
        </p:nvSpPr>
        <p:spPr>
          <a:xfrm>
            <a:off x="6903720" y="5212079"/>
            <a:ext cx="4782312" cy="5257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13448" y="5303519"/>
            <a:ext cx="4572000"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20 → 10</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APPENDIX / C</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Bug evidence: control guards and assumptions</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Invalid captured requests require zero result and error=1 under the adopted rules.</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25</a:t>
            </a:r>
          </a:p>
        </p:txBody>
      </p:sp>
      <p:sp>
        <p:nvSpPr>
          <p:cNvPr id="9" name="Rectangle 8"/>
          <p:cNvSpPr/>
          <p:nvPr/>
        </p:nvSpPr>
        <p:spPr>
          <a:xfrm>
            <a:off x="502920" y="1965960"/>
            <a:ext cx="2194560" cy="475488"/>
          </a:xfrm>
          <a:prstGeom prst="rect">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075688"/>
            <a:ext cx="1984248" cy="301752"/>
          </a:xfrm>
          <a:prstGeom prst="rect">
            <a:avLst/>
          </a:prstGeom>
          <a:noFill/>
        </p:spPr>
        <p:txBody>
          <a:bodyPr wrap="square" lIns="0" rIns="0" tIns="18288" bIns="0">
            <a:spAutoFit/>
          </a:bodyPr>
          <a:lstStyle/>
          <a:p>
            <a:pPr algn="l">
              <a:lnSpc>
                <a:spcPct val="110000"/>
              </a:lnSpc>
              <a:spcBef>
                <a:spcPts val="0"/>
              </a:spcBef>
              <a:spcAft>
                <a:spcPts val="500"/>
              </a:spcAft>
              <a:defRPr sz="1400" b="1">
                <a:solidFill>
                  <a:srgbClr val="2563B7"/>
                </a:solidFill>
                <a:latin typeface="Aptos"/>
              </a:defRPr>
            </a:pPr>
            <a:r>
              <a:t>Bug</a:t>
            </a:r>
          </a:p>
        </p:txBody>
      </p:sp>
      <p:sp>
        <p:nvSpPr>
          <p:cNvPr id="11" name="Rectangle 10"/>
          <p:cNvSpPr/>
          <p:nvPr/>
        </p:nvSpPr>
        <p:spPr>
          <a:xfrm>
            <a:off x="2697480" y="1965960"/>
            <a:ext cx="4416552" cy="475488"/>
          </a:xfrm>
          <a:prstGeom prst="rect">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07208" y="2075688"/>
            <a:ext cx="4206240" cy="301752"/>
          </a:xfrm>
          <a:prstGeom prst="rect">
            <a:avLst/>
          </a:prstGeom>
          <a:noFill/>
        </p:spPr>
        <p:txBody>
          <a:bodyPr wrap="square" lIns="0" rIns="0" tIns="18288" bIns="0">
            <a:spAutoFit/>
          </a:bodyPr>
          <a:lstStyle/>
          <a:p>
            <a:pPr algn="l">
              <a:lnSpc>
                <a:spcPct val="110000"/>
              </a:lnSpc>
              <a:spcBef>
                <a:spcPts val="0"/>
              </a:spcBef>
              <a:spcAft>
                <a:spcPts val="500"/>
              </a:spcAft>
              <a:defRPr sz="1400" b="1">
                <a:solidFill>
                  <a:srgbClr val="2563B7"/>
                </a:solidFill>
                <a:latin typeface="Aptos"/>
              </a:defRPr>
            </a:pPr>
            <a:r>
              <a:t>Invalid request</a:t>
            </a:r>
          </a:p>
        </p:txBody>
      </p:sp>
      <p:sp>
        <p:nvSpPr>
          <p:cNvPr id="13" name="Rectangle 12"/>
          <p:cNvSpPr/>
          <p:nvPr/>
        </p:nvSpPr>
        <p:spPr>
          <a:xfrm>
            <a:off x="7114032" y="1965960"/>
            <a:ext cx="4572000" cy="475488"/>
          </a:xfrm>
          <a:prstGeom prst="rect">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0" y="2075688"/>
            <a:ext cx="4361688" cy="301752"/>
          </a:xfrm>
          <a:prstGeom prst="rect">
            <a:avLst/>
          </a:prstGeom>
          <a:noFill/>
        </p:spPr>
        <p:txBody>
          <a:bodyPr wrap="square" lIns="0" rIns="0" tIns="18288" bIns="0">
            <a:spAutoFit/>
          </a:bodyPr>
          <a:lstStyle/>
          <a:p>
            <a:pPr algn="l">
              <a:lnSpc>
                <a:spcPct val="110000"/>
              </a:lnSpc>
              <a:spcBef>
                <a:spcPts val="0"/>
              </a:spcBef>
              <a:spcAft>
                <a:spcPts val="500"/>
              </a:spcAft>
              <a:defRPr sz="1400" b="1">
                <a:solidFill>
                  <a:srgbClr val="2563B7"/>
                </a:solidFill>
                <a:latin typeface="Aptos"/>
              </a:defRPr>
            </a:pPr>
            <a:r>
              <a:t>Failure</a:t>
            </a:r>
          </a:p>
        </p:txBody>
      </p:sp>
      <p:sp>
        <p:nvSpPr>
          <p:cNvPr id="15" name="Rectangle 14"/>
          <p:cNvSpPr/>
          <p:nvPr/>
        </p:nvSpPr>
        <p:spPr>
          <a:xfrm>
            <a:off x="502920" y="2468880"/>
            <a:ext cx="2194560"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2560320"/>
            <a:ext cx="1984248"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006 • Critical</a:t>
            </a:r>
          </a:p>
        </p:txBody>
      </p:sp>
      <p:sp>
        <p:nvSpPr>
          <p:cNvPr id="17" name="Rectangle 16"/>
          <p:cNvSpPr/>
          <p:nvPr/>
        </p:nvSpPr>
        <p:spPr>
          <a:xfrm>
            <a:off x="2697480" y="2468880"/>
            <a:ext cx="4416552"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07208" y="2560320"/>
            <a:ext cx="4206240"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Empty ap; no CSR read</a:t>
            </a:r>
          </a:p>
        </p:txBody>
      </p:sp>
      <p:sp>
        <p:nvSpPr>
          <p:cNvPr id="19" name="Rectangle 18"/>
          <p:cNvSpPr/>
          <p:nvPr/>
        </p:nvSpPr>
        <p:spPr>
          <a:xfrm>
            <a:off x="7114032" y="2468880"/>
            <a:ext cx="4572000"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0" y="2560320"/>
            <a:ext cx="4361688"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error=0 instead of 1</a:t>
            </a:r>
          </a:p>
        </p:txBody>
      </p:sp>
      <p:sp>
        <p:nvSpPr>
          <p:cNvPr id="21" name="Rectangle 20"/>
          <p:cNvSpPr/>
          <p:nvPr/>
        </p:nvSpPr>
        <p:spPr>
          <a:xfrm>
            <a:off x="502920" y="3017520"/>
            <a:ext cx="2194560" cy="5257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3108960"/>
            <a:ext cx="1984248"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007 • Major</a:t>
            </a:r>
          </a:p>
        </p:txBody>
      </p:sp>
      <p:sp>
        <p:nvSpPr>
          <p:cNvPr id="23" name="Rectangle 22"/>
          <p:cNvSpPr/>
          <p:nvPr/>
        </p:nvSpPr>
        <p:spPr>
          <a:xfrm>
            <a:off x="2697480" y="3017520"/>
            <a:ext cx="4416552" cy="5257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07208" y="3108960"/>
            <a:ext cx="4206240"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SLT or MAX without SUB</a:t>
            </a:r>
          </a:p>
        </p:txBody>
      </p:sp>
      <p:sp>
        <p:nvSpPr>
          <p:cNvPr id="25" name="Rectangle 24"/>
          <p:cNvSpPr/>
          <p:nvPr/>
        </p:nvSpPr>
        <p:spPr>
          <a:xfrm>
            <a:off x="7114032" y="3017520"/>
            <a:ext cx="4572000" cy="5257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0" y="3108960"/>
            <a:ext cx="4361688"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error=0; MAX may return nonzero data</a:t>
            </a:r>
          </a:p>
        </p:txBody>
      </p:sp>
      <p:sp>
        <p:nvSpPr>
          <p:cNvPr id="27" name="Rectangle 26"/>
          <p:cNvSpPr/>
          <p:nvPr/>
        </p:nvSpPr>
        <p:spPr>
          <a:xfrm>
            <a:off x="502920" y="3566160"/>
            <a:ext cx="2194560"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 y="3657600"/>
            <a:ext cx="1984248"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008 • Major</a:t>
            </a:r>
          </a:p>
        </p:txBody>
      </p:sp>
      <p:sp>
        <p:nvSpPr>
          <p:cNvPr id="29" name="Rectangle 28"/>
          <p:cNvSpPr/>
          <p:nvPr/>
        </p:nvSpPr>
        <p:spPr>
          <a:xfrm>
            <a:off x="2697480" y="3566160"/>
            <a:ext cx="4416552"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07208" y="3657600"/>
            <a:ext cx="4206240"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GREV with b[4:0]=5</a:t>
            </a:r>
          </a:p>
        </p:txBody>
      </p:sp>
      <p:sp>
        <p:nvSpPr>
          <p:cNvPr id="31" name="Rectangle 30"/>
          <p:cNvSpPr/>
          <p:nvPr/>
        </p:nvSpPr>
        <p:spPr>
          <a:xfrm>
            <a:off x="7114032" y="3566160"/>
            <a:ext cx="4572000"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60" y="3657600"/>
            <a:ext cx="4361688" cy="429768"/>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Aptos"/>
              </a:defRPr>
            </a:pPr>
            <a:r>
              <a:t>error=0 under CLARIF-004</a:t>
            </a:r>
          </a:p>
        </p:txBody>
      </p:sp>
      <p:sp>
        <p:nvSpPr>
          <p:cNvPr id="33" name="Rounded Rectangle 32"/>
          <p:cNvSpPr/>
          <p:nvPr/>
        </p:nvSpPr>
        <p:spPr>
          <a:xfrm>
            <a:off x="502920" y="4334256"/>
            <a:ext cx="11183112" cy="1207008"/>
          </a:xfrm>
          <a:prstGeom prst="roundRect">
            <a:avLst>
              <a:gd name="adj" fmla="val 12000"/>
            </a:avLst>
          </a:prstGeom>
          <a:solidFill>
            <a:srgbClr val="F0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4334256"/>
            <a:ext cx="50292" cy="1207008"/>
          </a:xfrm>
          <a:prstGeom prst="rect">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4425696"/>
            <a:ext cx="10817352" cy="393192"/>
          </a:xfrm>
          <a:prstGeom prst="rect">
            <a:avLst/>
          </a:prstGeom>
          <a:noFill/>
        </p:spPr>
        <p:txBody>
          <a:bodyPr wrap="square" lIns="0" rIns="0" tIns="18288" bIns="0">
            <a:spAutoFit/>
          </a:bodyPr>
          <a:lstStyle/>
          <a:p>
            <a:pPr algn="l">
              <a:lnSpc>
                <a:spcPct val="110000"/>
              </a:lnSpc>
              <a:spcBef>
                <a:spcPts val="0"/>
              </a:spcBef>
              <a:spcAft>
                <a:spcPts val="500"/>
              </a:spcAft>
              <a:defRPr sz="2100" b="1">
                <a:solidFill>
                  <a:srgbClr val="7352AD"/>
                </a:solidFill>
                <a:latin typeface="Aptos"/>
              </a:defRPr>
            </a:pPr>
            <a:r>
              <a:t>Recorded assumptions</a:t>
            </a:r>
          </a:p>
        </p:txBody>
      </p:sp>
      <p:sp>
        <p:nvSpPr>
          <p:cNvPr id="36" name="TextBox 35"/>
          <p:cNvSpPr txBox="1"/>
          <p:nvPr/>
        </p:nvSpPr>
        <p:spPr>
          <a:xfrm>
            <a:off x="685800" y="4892040"/>
            <a:ext cx="10817352" cy="621792"/>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001: timing/reset/scan   •   004: invalid GREV   •   005: pure CSR read versus conflict</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APPENDIX / D</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Assertion and coverage reference</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Use properties, functional bins, and code metrics together.</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26</a:t>
            </a:r>
          </a:p>
        </p:txBody>
      </p:sp>
      <p:sp>
        <p:nvSpPr>
          <p:cNvPr id="9" name="Rounded Rectangle 8"/>
          <p:cNvSpPr/>
          <p:nvPr/>
        </p:nvSpPr>
        <p:spPr>
          <a:xfrm>
            <a:off x="502920" y="1965960"/>
            <a:ext cx="5577840" cy="3648456"/>
          </a:xfrm>
          <a:prstGeom prst="roundRect">
            <a:avLst>
              <a:gd name="adj" fmla="val 12000"/>
            </a:avLst>
          </a:prstGeom>
          <a:solidFill>
            <a:srgbClr val="EDF2F8"/>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30552"/>
            <a:ext cx="5212079" cy="3374136"/>
          </a:xfrm>
          <a:prstGeom prst="rect">
            <a:avLst/>
          </a:prstGeom>
          <a:noFill/>
        </p:spPr>
        <p:txBody>
          <a:bodyPr wrap="square" lIns="0" rIns="0" tIns="18288" bIns="0">
            <a:spAutoFit/>
          </a:bodyPr>
          <a:lstStyle/>
          <a:p>
            <a:pPr algn="l">
              <a:lnSpc>
                <a:spcPct val="110000"/>
              </a:lnSpc>
              <a:spcBef>
                <a:spcPts val="0"/>
              </a:spcBef>
              <a:spcAft>
                <a:spcPts val="500"/>
              </a:spcAft>
              <a:defRPr sz="1300" b="0">
                <a:solidFill>
                  <a:srgbClr val="20334E"/>
                </a:solidFill>
                <a:latin typeface="Consolas"/>
              </a:defRPr>
            </a:pPr>
            <a:r>
              <a:t>reset_suppresses_error</a:t>
            </a:r>
          </a:p>
          <a:p>
            <a:pPr algn="l">
              <a:lnSpc>
                <a:spcPct val="110000"/>
              </a:lnSpc>
              <a:spcBef>
                <a:spcPts val="0"/>
              </a:spcBef>
              <a:spcAft>
                <a:spcPts val="500"/>
              </a:spcAft>
              <a:defRPr sz="1300" b="0">
                <a:solidFill>
                  <a:srgbClr val="20334E"/>
                </a:solidFill>
                <a:latin typeface="Consolas"/>
              </a:defRPr>
            </a:pPr>
            <a:r>
              <a:t>reset_clears_result</a:t>
            </a:r>
          </a:p>
          <a:p>
            <a:pPr algn="l">
              <a:lnSpc>
                <a:spcPct val="110000"/>
              </a:lnSpc>
              <a:spcBef>
                <a:spcPts val="0"/>
              </a:spcBef>
              <a:spcAft>
                <a:spcPts val="500"/>
              </a:spcAft>
              <a:defRPr sz="1300" b="0">
                <a:solidFill>
                  <a:srgbClr val="20334E"/>
                </a:solidFill>
                <a:latin typeface="Consolas"/>
              </a:defRPr>
            </a:pPr>
            <a:r>
              <a:t>result_holds_when_invalid</a:t>
            </a:r>
          </a:p>
          <a:p>
            <a:pPr algn="l">
              <a:lnSpc>
                <a:spcPct val="110000"/>
              </a:lnSpc>
              <a:spcBef>
                <a:spcPts val="0"/>
              </a:spcBef>
              <a:spcAft>
                <a:spcPts val="500"/>
              </a:spcAft>
              <a:defRPr sz="1300" b="0">
                <a:solidFill>
                  <a:srgbClr val="20334E"/>
                </a:solidFill>
                <a:latin typeface="Consolas"/>
              </a:defRPr>
            </a:pPr>
            <a:r>
              <a:t>valid_result_is_registered</a:t>
            </a:r>
          </a:p>
          <a:p>
            <a:pPr algn="l">
              <a:lnSpc>
                <a:spcPct val="110000"/>
              </a:lnSpc>
              <a:spcBef>
                <a:spcPts val="0"/>
              </a:spcBef>
              <a:spcAft>
                <a:spcPts val="500"/>
              </a:spcAft>
              <a:defRPr sz="1300" b="0">
                <a:solidFill>
                  <a:srgbClr val="20334E"/>
                </a:solidFill>
                <a:latin typeface="Consolas"/>
              </a:defRPr>
            </a:pPr>
            <a:r>
              <a:t>one_primary_operation</a:t>
            </a:r>
          </a:p>
          <a:p>
            <a:pPr algn="l">
              <a:lnSpc>
                <a:spcPct val="110000"/>
              </a:lnSpc>
              <a:spcBef>
                <a:spcPts val="0"/>
              </a:spcBef>
              <a:spcAft>
                <a:spcPts val="500"/>
              </a:spcAft>
              <a:defRPr sz="1300" b="0">
                <a:solidFill>
                  <a:srgbClr val="20334E"/>
                </a:solidFill>
                <a:latin typeface="Consolas"/>
              </a:defRPr>
            </a:pPr>
            <a:r>
              <a:t>empty_valid_request</a:t>
            </a:r>
          </a:p>
          <a:p>
            <a:pPr algn="l">
              <a:lnSpc>
                <a:spcPct val="110000"/>
              </a:lnSpc>
              <a:spcBef>
                <a:spcPts val="0"/>
              </a:spcBef>
              <a:spcAft>
                <a:spcPts val="500"/>
              </a:spcAft>
              <a:defRPr sz="1300" b="0">
                <a:solidFill>
                  <a:srgbClr val="20334E"/>
                </a:solidFill>
                <a:latin typeface="Consolas"/>
              </a:defRPr>
            </a:pPr>
            <a:r>
              <a:t>live_error_when_invalid</a:t>
            </a:r>
          </a:p>
          <a:p>
            <a:pPr algn="l">
              <a:lnSpc>
                <a:spcPct val="110000"/>
              </a:lnSpc>
              <a:spcBef>
                <a:spcPts val="0"/>
              </a:spcBef>
              <a:spcAft>
                <a:spcPts val="500"/>
              </a:spcAft>
              <a:defRPr sz="1300" b="0">
                <a:solidFill>
                  <a:srgbClr val="20334E"/>
                </a:solidFill>
                <a:latin typeface="Consolas"/>
              </a:defRPr>
            </a:pPr>
            <a:r>
              <a:t>csr_conflict</a:t>
            </a:r>
          </a:p>
          <a:p>
            <a:pPr algn="l">
              <a:lnSpc>
                <a:spcPct val="110000"/>
              </a:lnSpc>
              <a:spcBef>
                <a:spcPts val="0"/>
              </a:spcBef>
              <a:spcAft>
                <a:spcPts val="500"/>
              </a:spcAft>
              <a:defRPr sz="1300" b="0">
                <a:solidFill>
                  <a:srgbClr val="20334E"/>
                </a:solidFill>
                <a:latin typeface="Consolas"/>
              </a:defRPr>
            </a:pPr>
            <a:r>
              <a:t>sh2add_requires_zba</a:t>
            </a:r>
          </a:p>
          <a:p>
            <a:pPr algn="l">
              <a:lnSpc>
                <a:spcPct val="110000"/>
              </a:lnSpc>
              <a:spcBef>
                <a:spcPts val="0"/>
              </a:spcBef>
              <a:spcAft>
                <a:spcPts val="500"/>
              </a:spcAft>
              <a:defRPr sz="1300" b="0">
                <a:solidFill>
                  <a:srgbClr val="20334E"/>
                </a:solidFill>
                <a:latin typeface="Consolas"/>
              </a:defRPr>
            </a:pPr>
            <a:r>
              <a:t>sub_rejects_zba</a:t>
            </a:r>
          </a:p>
          <a:p>
            <a:pPr algn="l">
              <a:lnSpc>
                <a:spcPct val="110000"/>
              </a:lnSpc>
              <a:spcBef>
                <a:spcPts val="0"/>
              </a:spcBef>
              <a:spcAft>
                <a:spcPts val="500"/>
              </a:spcAft>
              <a:defRPr sz="1300" b="0">
                <a:solidFill>
                  <a:srgbClr val="20334E"/>
                </a:solidFill>
                <a:latin typeface="Consolas"/>
              </a:defRPr>
            </a:pPr>
            <a:r>
              <a:t>slt_requires_sub</a:t>
            </a:r>
          </a:p>
          <a:p>
            <a:pPr algn="l">
              <a:lnSpc>
                <a:spcPct val="110000"/>
              </a:lnSpc>
              <a:spcBef>
                <a:spcPts val="0"/>
              </a:spcBef>
              <a:spcAft>
                <a:spcPts val="500"/>
              </a:spcAft>
              <a:defRPr sz="1300" b="0">
                <a:solidFill>
                  <a:srgbClr val="20334E"/>
                </a:solidFill>
                <a:latin typeface="Consolas"/>
              </a:defRPr>
            </a:pPr>
            <a:r>
              <a:t>max_requires_sub</a:t>
            </a:r>
          </a:p>
          <a:p>
            <a:pPr algn="l">
              <a:lnSpc>
                <a:spcPct val="110000"/>
              </a:lnSpc>
              <a:spcBef>
                <a:spcPts val="0"/>
              </a:spcBef>
              <a:spcAft>
                <a:spcPts val="500"/>
              </a:spcAft>
              <a:defRPr sz="1300" b="0">
                <a:solidFill>
                  <a:srgbClr val="20334E"/>
                </a:solidFill>
                <a:latin typeface="Consolas"/>
              </a:defRPr>
            </a:pPr>
            <a:r>
              <a:t>grev_encoding</a:t>
            </a:r>
          </a:p>
        </p:txBody>
      </p:sp>
      <p:sp>
        <p:nvSpPr>
          <p:cNvPr id="11" name="Rounded Rectangle 10"/>
          <p:cNvSpPr/>
          <p:nvPr/>
        </p:nvSpPr>
        <p:spPr>
          <a:xfrm>
            <a:off x="6327648" y="1965960"/>
            <a:ext cx="5358384" cy="1600200"/>
          </a:xfrm>
          <a:prstGeom prst="roundRect">
            <a:avLst>
              <a:gd name="adj" fmla="val 12000"/>
            </a:avLst>
          </a:prstGeom>
          <a:solidFill>
            <a:srgbClr val="E5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27648" y="1965960"/>
            <a:ext cx="50292" cy="16002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2103120"/>
            <a:ext cx="4992624"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087F83"/>
                </a:solidFill>
                <a:latin typeface="Aptos"/>
              </a:defRPr>
            </a:pPr>
            <a:r>
              <a:t>Functional dimensions</a:t>
            </a:r>
          </a:p>
        </p:txBody>
      </p:sp>
      <p:sp>
        <p:nvSpPr>
          <p:cNvPr id="14" name="TextBox 13"/>
          <p:cNvSpPr txBox="1"/>
          <p:nvPr/>
        </p:nvSpPr>
        <p:spPr>
          <a:xfrm>
            <a:off x="6510528" y="2679191"/>
            <a:ext cx="4992624" cy="813816"/>
          </a:xfrm>
          <a:prstGeom prst="rect">
            <a:avLst/>
          </a:prstGeom>
          <a:noFill/>
        </p:spPr>
        <p:txBody>
          <a:bodyPr wrap="square" lIns="0" rIns="0" tIns="18288" bIns="0">
            <a:spAutoFit/>
          </a:bodyPr>
          <a:lstStyle/>
          <a:p>
            <a:pPr algn="l">
              <a:lnSpc>
                <a:spcPct val="110000"/>
              </a:lnSpc>
              <a:spcBef>
                <a:spcPts val="0"/>
              </a:spcBef>
              <a:spcAft>
                <a:spcPts val="500"/>
              </a:spcAft>
              <a:defRPr sz="1900" b="0">
                <a:solidFill>
                  <a:srgbClr val="20334E"/>
                </a:solidFill>
                <a:latin typeface="Aptos"/>
              </a:defRPr>
            </a:pPr>
            <a:r>
              <a:t>Operations × patterns; valid/error</a:t>
            </a:r>
          </a:p>
          <a:p>
            <a:pPr algn="l">
              <a:lnSpc>
                <a:spcPct val="110000"/>
              </a:lnSpc>
              <a:spcBef>
                <a:spcPts val="0"/>
              </a:spcBef>
              <a:spcAft>
                <a:spcPts val="500"/>
              </a:spcAft>
              <a:defRPr sz="1900" b="0">
                <a:solidFill>
                  <a:srgbClr val="20334E"/>
                </a:solidFill>
                <a:latin typeface="Aptos"/>
              </a:defRPr>
            </a:pPr>
            <a:r>
              <a:t>Shift/index; CTZ/CPOP count; modes</a:t>
            </a:r>
          </a:p>
        </p:txBody>
      </p:sp>
      <p:sp>
        <p:nvSpPr>
          <p:cNvPr id="15" name="Rounded Rectangle 14"/>
          <p:cNvSpPr/>
          <p:nvPr/>
        </p:nvSpPr>
        <p:spPr>
          <a:xfrm>
            <a:off x="6327648" y="3794760"/>
            <a:ext cx="5358384" cy="1810512"/>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27648" y="3794760"/>
            <a:ext cx="50292" cy="1810512"/>
          </a:xfrm>
          <a:prstGeom prst="rect">
            <a:avLst/>
          </a:prstGeom>
          <a:solidFill>
            <a:srgbClr val="C6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0528" y="3931920"/>
            <a:ext cx="4992624" cy="448056"/>
          </a:xfrm>
          <a:prstGeom prst="rect">
            <a:avLst/>
          </a:prstGeom>
          <a:noFill/>
        </p:spPr>
        <p:txBody>
          <a:bodyPr wrap="square" lIns="0" rIns="0" tIns="18288" bIns="0">
            <a:spAutoFit/>
          </a:bodyPr>
          <a:lstStyle/>
          <a:p>
            <a:pPr algn="l">
              <a:lnSpc>
                <a:spcPct val="110000"/>
              </a:lnSpc>
              <a:spcBef>
                <a:spcPts val="0"/>
              </a:spcBef>
              <a:spcAft>
                <a:spcPts val="500"/>
              </a:spcAft>
              <a:defRPr sz="2200" b="1">
                <a:solidFill>
                  <a:srgbClr val="C66A20"/>
                </a:solidFill>
                <a:latin typeface="Aptos"/>
              </a:defRPr>
            </a:pPr>
            <a:r>
              <a:t>Measurement limits</a:t>
            </a:r>
          </a:p>
        </p:txBody>
      </p:sp>
      <p:sp>
        <p:nvSpPr>
          <p:cNvPr id="18" name="TextBox 17"/>
          <p:cNvSpPr txBox="1"/>
          <p:nvPr/>
        </p:nvSpPr>
        <p:spPr>
          <a:xfrm>
            <a:off x="6510528" y="4507992"/>
            <a:ext cx="4992624" cy="1024128"/>
          </a:xfrm>
          <a:prstGeom prst="rect">
            <a:avLst/>
          </a:prstGeom>
          <a:noFill/>
        </p:spPr>
        <p:txBody>
          <a:bodyPr wrap="square" lIns="0" rIns="0" tIns="18288" bIns="0">
            <a:spAutoFit/>
          </a:bodyPr>
          <a:lstStyle/>
          <a:p>
            <a:pPr algn="l">
              <a:lnSpc>
                <a:spcPct val="110000"/>
              </a:lnSpc>
              <a:spcBef>
                <a:spcPts val="0"/>
              </a:spcBef>
              <a:spcAft>
                <a:spcPts val="500"/>
              </a:spcAft>
              <a:defRPr sz="1800" b="0">
                <a:solidFill>
                  <a:srgbClr val="20334E"/>
                </a:solidFill>
                <a:latin typeface="Aptos"/>
              </a:defRPr>
            </a:pPr>
            <a:r>
              <a:t>11/13 assertion coverage ≠ pass rate</a:t>
            </a:r>
          </a:p>
          <a:p>
            <a:pPr algn="l">
              <a:lnSpc>
                <a:spcPct val="110000"/>
              </a:lnSpc>
              <a:spcBef>
                <a:spcPts val="0"/>
              </a:spcBef>
              <a:spcAft>
                <a:spcPts val="500"/>
              </a:spcAft>
              <a:defRPr sz="1800" b="0">
                <a:solidFill>
                  <a:srgbClr val="20334E"/>
                </a:solidFill>
                <a:latin typeface="Aptos"/>
              </a:defRPr>
            </a:pPr>
            <a:r>
              <a:t>3 scored expressions ≠ every expression</a:t>
            </a:r>
          </a:p>
          <a:p>
            <a:pPr algn="l">
              <a:lnSpc>
                <a:spcPct val="110000"/>
              </a:lnSpc>
              <a:spcBef>
                <a:spcPts val="0"/>
              </a:spcBef>
              <a:spcAft>
                <a:spcPts val="500"/>
              </a:spcAft>
              <a:defRPr sz="1800" b="0">
                <a:solidFill>
                  <a:srgbClr val="20334E"/>
                </a:solidFill>
                <a:latin typeface="Aptos"/>
              </a:defRPr>
            </a:pPr>
            <a:r>
              <a:t>65.01% toggles; no FSM claim</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APPENDIX / E</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Reproduce the evidence</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Run from the repository root with Xcelium and a working Cadence license.</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27</a:t>
            </a:r>
          </a:p>
        </p:txBody>
      </p:sp>
      <p:sp>
        <p:nvSpPr>
          <p:cNvPr id="9" name="Rounded Rectangle 8"/>
          <p:cNvSpPr/>
          <p:nvPr/>
        </p:nvSpPr>
        <p:spPr>
          <a:xfrm>
            <a:off x="502920" y="1965960"/>
            <a:ext cx="11183112" cy="3291840"/>
          </a:xfrm>
          <a:prstGeom prst="roundRect">
            <a:avLst>
              <a:gd name="adj" fmla="val 12000"/>
            </a:avLst>
          </a:prstGeom>
          <a:solidFill>
            <a:srgbClr val="EDF2F8"/>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30552"/>
            <a:ext cx="10817352" cy="3017520"/>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20334E"/>
                </a:solidFill>
                <a:latin typeface="Consolas"/>
              </a:defRPr>
            </a:pPr>
            <a:r>
              <a:t># Passing setup checks</a:t>
            </a:r>
          </a:p>
          <a:p>
            <a:pPr algn="l">
              <a:lnSpc>
                <a:spcPct val="110000"/>
              </a:lnSpc>
              <a:spcBef>
                <a:spcPts val="0"/>
              </a:spcBef>
              <a:spcAft>
                <a:spcPts val="500"/>
              </a:spcAft>
              <a:defRPr sz="1700" b="0">
                <a:solidFill>
                  <a:srgbClr val="20334E"/>
                </a:solidFill>
                <a:latin typeface="Consolas"/>
              </a:defRPr>
            </a:pPr>
            <a:r>
              <a:t>make -C sim run TEST=bmu_model_self_test SEED=1</a:t>
            </a:r>
          </a:p>
          <a:p>
            <a:pPr algn="l">
              <a:lnSpc>
                <a:spcPct val="110000"/>
              </a:lnSpc>
              <a:spcBef>
                <a:spcPts val="0"/>
              </a:spcBef>
              <a:spcAft>
                <a:spcPts val="500"/>
              </a:spcAft>
              <a:defRPr sz="1700" b="0">
                <a:solidFill>
                  <a:srgbClr val="20334E"/>
                </a:solidFill>
                <a:latin typeface="Consolas"/>
              </a:defRPr>
            </a:pPr>
            <a:r>
              <a:t>make -C sim run TEST=bmu_timing_reset_test SEED=1</a:t>
            </a:r>
          </a:p>
          <a:p>
            <a:pPr algn="l">
              <a:lnSpc>
                <a:spcPct val="110000"/>
              </a:lnSpc>
              <a:spcBef>
                <a:spcPts val="0"/>
              </a:spcBef>
              <a:spcAft>
                <a:spcPts val="500"/>
              </a:spcAft>
              <a:defRPr sz="1700" b="0">
                <a:solidFill>
                  <a:srgbClr val="20334E"/>
                </a:solidFill>
                <a:latin typeface="Consolas"/>
              </a:defRPr>
            </a:pPr>
          </a:p>
          <a:p>
            <a:pPr algn="l">
              <a:lnSpc>
                <a:spcPct val="110000"/>
              </a:lnSpc>
              <a:spcBef>
                <a:spcPts val="0"/>
              </a:spcBef>
              <a:spcAft>
                <a:spcPts val="500"/>
              </a:spcAft>
              <a:defRPr sz="1700" b="0">
                <a:solidFill>
                  <a:srgbClr val="20334E"/>
                </a:solidFill>
                <a:latin typeface="Consolas"/>
              </a:defRPr>
            </a:pPr>
            <a:r>
              <a:t># Full regression and isolated MAX failure</a:t>
            </a:r>
          </a:p>
          <a:p>
            <a:pPr algn="l">
              <a:lnSpc>
                <a:spcPct val="110000"/>
              </a:lnSpc>
              <a:spcBef>
                <a:spcPts val="0"/>
              </a:spcBef>
              <a:spcAft>
                <a:spcPts val="500"/>
              </a:spcAft>
              <a:defRPr sz="1700" b="0">
                <a:solidFill>
                  <a:srgbClr val="20334E"/>
                </a:solidFill>
                <a:latin typeface="Consolas"/>
              </a:defRPr>
            </a:pPr>
            <a:r>
              <a:t>make -C sim regression</a:t>
            </a:r>
          </a:p>
          <a:p>
            <a:pPr algn="l">
              <a:lnSpc>
                <a:spcPct val="110000"/>
              </a:lnSpc>
              <a:spcBef>
                <a:spcPts val="0"/>
              </a:spcBef>
              <a:spcAft>
                <a:spcPts val="500"/>
              </a:spcAft>
              <a:defRPr sz="1700" b="0">
                <a:solidFill>
                  <a:srgbClr val="20334E"/>
                </a:solidFill>
                <a:latin typeface="Consolas"/>
              </a:defRPr>
            </a:pPr>
            <a:r>
              <a:t>make -C sim run TEST=bmu_bug_010_test SEED=1</a:t>
            </a:r>
          </a:p>
          <a:p>
            <a:pPr algn="l">
              <a:lnSpc>
                <a:spcPct val="110000"/>
              </a:lnSpc>
              <a:spcBef>
                <a:spcPts val="0"/>
              </a:spcBef>
              <a:spcAft>
                <a:spcPts val="500"/>
              </a:spcAft>
              <a:defRPr sz="1700" b="0">
                <a:solidFill>
                  <a:srgbClr val="20334E"/>
                </a:solidFill>
                <a:latin typeface="Consolas"/>
              </a:defRPr>
            </a:pPr>
          </a:p>
          <a:p>
            <a:pPr algn="l">
              <a:lnSpc>
                <a:spcPct val="110000"/>
              </a:lnSpc>
              <a:spcBef>
                <a:spcPts val="0"/>
              </a:spcBef>
              <a:spcAft>
                <a:spcPts val="500"/>
              </a:spcAft>
              <a:defRPr sz="1700" b="0">
                <a:solidFill>
                  <a:srgbClr val="20334E"/>
                </a:solidFill>
                <a:latin typeface="Consolas"/>
              </a:defRPr>
            </a:pPr>
            <a:r>
              <a:t># Coverage extraction after the coverage test</a:t>
            </a:r>
          </a:p>
          <a:p>
            <a:pPr algn="l">
              <a:lnSpc>
                <a:spcPct val="110000"/>
              </a:lnSpc>
              <a:spcBef>
                <a:spcPts val="0"/>
              </a:spcBef>
              <a:spcAft>
                <a:spcPts val="500"/>
              </a:spcAft>
              <a:defRPr sz="1700" b="0">
                <a:solidFill>
                  <a:srgbClr val="20334E"/>
                </a:solidFill>
                <a:latin typeface="Consolas"/>
              </a:defRPr>
            </a:pPr>
            <a:r>
              <a:t>imc -exec sim/scripts/report_coverage.tcl</a:t>
            </a:r>
          </a:p>
        </p:txBody>
      </p:sp>
      <p:sp>
        <p:nvSpPr>
          <p:cNvPr id="11" name="Rounded Rectangle 10"/>
          <p:cNvSpPr/>
          <p:nvPr/>
        </p:nvSpPr>
        <p:spPr>
          <a:xfrm>
            <a:off x="502920" y="5797296"/>
            <a:ext cx="11183112" cy="484632"/>
          </a:xfrm>
          <a:prstGeom prst="roundRect">
            <a:avLst>
              <a:gd name="adj" fmla="val 12000"/>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600" b="1">
                <a:solidFill>
                  <a:srgbClr val="C66A20"/>
                </a:solidFill>
                <a:latin typeface="Aptos"/>
              </a:defRPr>
            </a:pPr>
            <a:r>
              <a:t>Expected DUT failures remain failures. Zero UVM fatals does not mean every test passed.</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2563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058400" cy="274320"/>
          </a:xfrm>
          <a:prstGeom prst="rect">
            <a:avLst/>
          </a:prstGeom>
          <a:noFill/>
        </p:spPr>
        <p:txBody>
          <a:bodyPr wrap="square" lIns="0" rIns="0" tIns="18288" bIns="0">
            <a:spAutoFit/>
          </a:bodyPr>
          <a:lstStyle/>
          <a:p>
            <a:pPr algn="l">
              <a:lnSpc>
                <a:spcPct val="110000"/>
              </a:lnSpc>
              <a:spcBef>
                <a:spcPts val="0"/>
              </a:spcBef>
              <a:spcAft>
                <a:spcPts val="500"/>
              </a:spcAft>
              <a:defRPr sz="1100" b="1">
                <a:solidFill>
                  <a:srgbClr val="087F83"/>
                </a:solidFill>
                <a:latin typeface="Aptos"/>
              </a:defRPr>
            </a:pPr>
            <a:r>
              <a:t>APPENDIX / F</a:t>
            </a:r>
          </a:p>
        </p:txBody>
      </p:sp>
      <p:sp>
        <p:nvSpPr>
          <p:cNvPr id="4" name="TextBox 3"/>
          <p:cNvSpPr txBox="1"/>
          <p:nvPr/>
        </p:nvSpPr>
        <p:spPr>
          <a:xfrm>
            <a:off x="502920" y="704088"/>
            <a:ext cx="11064240" cy="621792"/>
          </a:xfrm>
          <a:prstGeom prst="rect">
            <a:avLst/>
          </a:prstGeom>
          <a:noFill/>
        </p:spPr>
        <p:txBody>
          <a:bodyPr wrap="square" lIns="0" rIns="0" tIns="18288" bIns="0">
            <a:spAutoFit/>
          </a:bodyPr>
          <a:lstStyle/>
          <a:p>
            <a:pPr algn="l">
              <a:lnSpc>
                <a:spcPct val="110000"/>
              </a:lnSpc>
              <a:spcBef>
                <a:spcPts val="0"/>
              </a:spcBef>
              <a:spcAft>
                <a:spcPts val="500"/>
              </a:spcAft>
              <a:defRPr sz="3000" b="1">
                <a:solidFill>
                  <a:srgbClr val="20334E"/>
                </a:solidFill>
                <a:latin typeface="Aptos"/>
              </a:defRPr>
            </a:pPr>
            <a:r>
              <a:t>Where to find the supporting evidence</a:t>
            </a:r>
          </a:p>
        </p:txBody>
      </p:sp>
      <p:sp>
        <p:nvSpPr>
          <p:cNvPr id="5" name="TextBox 4"/>
          <p:cNvSpPr txBox="1"/>
          <p:nvPr/>
        </p:nvSpPr>
        <p:spPr>
          <a:xfrm>
            <a:off x="502920" y="1353312"/>
            <a:ext cx="11064240" cy="539496"/>
          </a:xfrm>
          <a:prstGeom prst="rect">
            <a:avLst/>
          </a:prstGeom>
          <a:noFill/>
        </p:spPr>
        <p:txBody>
          <a:bodyPr wrap="square" lIns="0" rIns="0" tIns="18288" bIns="0">
            <a:spAutoFit/>
          </a:bodyPr>
          <a:lstStyle/>
          <a:p>
            <a:pPr algn="l">
              <a:lnSpc>
                <a:spcPct val="110000"/>
              </a:lnSpc>
              <a:spcBef>
                <a:spcPts val="0"/>
              </a:spcBef>
              <a:spcAft>
                <a:spcPts val="500"/>
              </a:spcAft>
              <a:defRPr sz="1700" b="0">
                <a:solidFill>
                  <a:srgbClr val="586B82"/>
                </a:solidFill>
                <a:latin typeface="Aptos"/>
              </a:defRPr>
            </a:pPr>
            <a:r>
              <a:t>The README is the project walkthrough; these files hold the detailed records.</a:t>
            </a:r>
          </a:p>
        </p:txBody>
      </p:sp>
      <p:sp>
        <p:nvSpPr>
          <p:cNvPr id="6" name="TextBox 5"/>
          <p:cNvSpPr txBox="1"/>
          <p:nvPr/>
        </p:nvSpPr>
        <p:spPr>
          <a:xfrm>
            <a:off x="502920" y="6519672"/>
            <a:ext cx="8138160" cy="201168"/>
          </a:xfrm>
          <a:prstGeom prst="rect">
            <a:avLst/>
          </a:prstGeom>
          <a:noFill/>
        </p:spPr>
        <p:txBody>
          <a:bodyPr wrap="square" lIns="0" rIns="0" tIns="18288" bIns="0">
            <a:spAutoFit/>
          </a:bodyPr>
          <a:lstStyle/>
          <a:p>
            <a:pPr algn="l">
              <a:lnSpc>
                <a:spcPct val="110000"/>
              </a:lnSpc>
              <a:spcBef>
                <a:spcPts val="0"/>
              </a:spcBef>
              <a:spcAft>
                <a:spcPts val="500"/>
              </a:spcAft>
              <a:defRPr sz="900" b="0">
                <a:solidFill>
                  <a:srgbClr val="586B82"/>
                </a:solidFill>
                <a:latin typeface="Aptos"/>
              </a:defRPr>
            </a:pPr>
            <a:r>
              <a:t>BMU VERIFICATION  /  JHT127  /  ORIGINAL-DUT BASELINE: 22 SEP 2026</a:t>
            </a:r>
          </a:p>
        </p:txBody>
      </p:sp>
      <p:sp>
        <p:nvSpPr>
          <p:cNvPr id="7" name="TextBox 6">
            <a:hlinkClick action="ppaction://hlinksldjump" r:id="rId3"/>
          </p:cNvPr>
          <p:cNvSpPr txBox="1"/>
          <p:nvPr/>
        </p:nvSpPr>
        <p:spPr>
          <a:xfrm>
            <a:off x="10561320" y="6473952"/>
            <a:ext cx="640080" cy="237744"/>
          </a:xfrm>
          <a:prstGeom prst="rect">
            <a:avLst/>
          </a:prstGeom>
          <a:noFill/>
        </p:spPr>
        <p:txBody>
          <a:bodyPr wrap="square" lIns="0" rIns="0" tIns="18288" bIns="0">
            <a:spAutoFit/>
          </a:bodyPr>
          <a:lstStyle/>
          <a:p>
            <a:pPr algn="l">
              <a:lnSpc>
                <a:spcPct val="110000"/>
              </a:lnSpc>
              <a:spcBef>
                <a:spcPts val="0"/>
              </a:spcBef>
              <a:spcAft>
                <a:spcPts val="500"/>
              </a:spcAft>
              <a:defRPr sz="1000" b="1">
                <a:solidFill>
                  <a:srgbClr val="2563B7"/>
                </a:solidFill>
                <a:latin typeface="Aptos"/>
              </a:defRPr>
            </a:pPr>
            <a:r>
              <a:t>MENU</a:t>
            </a:r>
          </a:p>
        </p:txBody>
      </p:sp>
      <p:sp>
        <p:nvSpPr>
          <p:cNvPr id="8" name="TextBox 7"/>
          <p:cNvSpPr txBox="1"/>
          <p:nvPr/>
        </p:nvSpPr>
        <p:spPr>
          <a:xfrm>
            <a:off x="11292840" y="6473952"/>
            <a:ext cx="411480" cy="256032"/>
          </a:xfrm>
          <a:prstGeom prst="rect">
            <a:avLst/>
          </a:prstGeom>
          <a:noFill/>
        </p:spPr>
        <p:txBody>
          <a:bodyPr wrap="square" lIns="0" rIns="0" tIns="18288" bIns="0">
            <a:spAutoFit/>
          </a:bodyPr>
          <a:lstStyle/>
          <a:p>
            <a:pPr algn="r">
              <a:lnSpc>
                <a:spcPct val="110000"/>
              </a:lnSpc>
              <a:spcBef>
                <a:spcPts val="0"/>
              </a:spcBef>
              <a:spcAft>
                <a:spcPts val="500"/>
              </a:spcAft>
              <a:defRPr sz="1100" b="0">
                <a:solidFill>
                  <a:srgbClr val="586B82"/>
                </a:solidFill>
                <a:latin typeface="Aptos"/>
              </a:defRPr>
            </a:pPr>
            <a:r>
              <a:t>28</a:t>
            </a:r>
          </a:p>
        </p:txBody>
      </p:sp>
      <p:sp>
        <p:nvSpPr>
          <p:cNvPr id="9" name="Rectangle 8"/>
          <p:cNvSpPr/>
          <p:nvPr/>
        </p:nvSpPr>
        <p:spPr>
          <a:xfrm>
            <a:off x="502920" y="1965960"/>
            <a:ext cx="3383280" cy="475488"/>
          </a:xfrm>
          <a:prstGeom prst="rect">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075688"/>
            <a:ext cx="3172968" cy="301752"/>
          </a:xfrm>
          <a:prstGeom prst="rect">
            <a:avLst/>
          </a:prstGeom>
          <a:noFill/>
        </p:spPr>
        <p:txBody>
          <a:bodyPr wrap="square" lIns="0" rIns="0" tIns="18288" bIns="0">
            <a:spAutoFit/>
          </a:bodyPr>
          <a:lstStyle/>
          <a:p>
            <a:pPr algn="l">
              <a:lnSpc>
                <a:spcPct val="110000"/>
              </a:lnSpc>
              <a:spcBef>
                <a:spcPts val="0"/>
              </a:spcBef>
              <a:spcAft>
                <a:spcPts val="500"/>
              </a:spcAft>
              <a:defRPr sz="1400" b="1">
                <a:solidFill>
                  <a:srgbClr val="2563B7"/>
                </a:solidFill>
                <a:latin typeface="Aptos"/>
              </a:defRPr>
            </a:pPr>
            <a:r>
              <a:t>Question</a:t>
            </a:r>
          </a:p>
        </p:txBody>
      </p:sp>
      <p:sp>
        <p:nvSpPr>
          <p:cNvPr id="11" name="Rectangle 10"/>
          <p:cNvSpPr/>
          <p:nvPr/>
        </p:nvSpPr>
        <p:spPr>
          <a:xfrm>
            <a:off x="3886200" y="1965960"/>
            <a:ext cx="7799831" cy="475488"/>
          </a:xfrm>
          <a:prstGeom prst="rect">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95928" y="2075688"/>
            <a:ext cx="7589519" cy="301752"/>
          </a:xfrm>
          <a:prstGeom prst="rect">
            <a:avLst/>
          </a:prstGeom>
          <a:noFill/>
        </p:spPr>
        <p:txBody>
          <a:bodyPr wrap="square" lIns="0" rIns="0" tIns="18288" bIns="0">
            <a:spAutoFit/>
          </a:bodyPr>
          <a:lstStyle/>
          <a:p>
            <a:pPr algn="l">
              <a:lnSpc>
                <a:spcPct val="110000"/>
              </a:lnSpc>
              <a:spcBef>
                <a:spcPts val="0"/>
              </a:spcBef>
              <a:spcAft>
                <a:spcPts val="500"/>
              </a:spcAft>
              <a:defRPr sz="1400" b="1">
                <a:solidFill>
                  <a:srgbClr val="2563B7"/>
                </a:solidFill>
                <a:latin typeface="Aptos"/>
              </a:defRPr>
            </a:pPr>
            <a:r>
              <a:t>Repository artifact</a:t>
            </a:r>
          </a:p>
        </p:txBody>
      </p:sp>
      <p:sp>
        <p:nvSpPr>
          <p:cNvPr id="13" name="Rectangle 12"/>
          <p:cNvSpPr/>
          <p:nvPr/>
        </p:nvSpPr>
        <p:spPr>
          <a:xfrm>
            <a:off x="502920" y="2468880"/>
            <a:ext cx="3383280" cy="51663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560320"/>
            <a:ext cx="3172968" cy="420623"/>
          </a:xfrm>
          <a:prstGeom prst="rect">
            <a:avLst/>
          </a:prstGeom>
          <a:noFill/>
        </p:spPr>
        <p:txBody>
          <a:bodyPr wrap="square" lIns="0" rIns="0" tIns="18288" bIns="0">
            <a:spAutoFit/>
          </a:bodyPr>
          <a:lstStyle/>
          <a:p>
            <a:pPr algn="l">
              <a:lnSpc>
                <a:spcPct val="110000"/>
              </a:lnSpc>
              <a:spcBef>
                <a:spcPts val="0"/>
              </a:spcBef>
              <a:spcAft>
                <a:spcPts val="500"/>
              </a:spcAft>
              <a:defRPr sz="1600" b="0">
                <a:solidFill>
                  <a:srgbClr val="20334E"/>
                </a:solidFill>
                <a:latin typeface="Aptos"/>
              </a:defRPr>
            </a:pPr>
            <a:r>
              <a:t>What was required?</a:t>
            </a:r>
          </a:p>
        </p:txBody>
      </p:sp>
      <p:sp>
        <p:nvSpPr>
          <p:cNvPr id="15" name="Rectangle 14"/>
          <p:cNvSpPr/>
          <p:nvPr/>
        </p:nvSpPr>
        <p:spPr>
          <a:xfrm>
            <a:off x="3886200" y="2468880"/>
            <a:ext cx="7799831" cy="51663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95928" y="2560320"/>
            <a:ext cx="7589519" cy="420623"/>
          </a:xfrm>
          <a:prstGeom prst="rect">
            <a:avLst/>
          </a:prstGeom>
          <a:noFill/>
        </p:spPr>
        <p:txBody>
          <a:bodyPr wrap="square" lIns="0" rIns="0" tIns="18288" bIns="0">
            <a:spAutoFit/>
          </a:bodyPr>
          <a:lstStyle/>
          <a:p>
            <a:pPr algn="l">
              <a:lnSpc>
                <a:spcPct val="110000"/>
              </a:lnSpc>
              <a:spcBef>
                <a:spcPts val="0"/>
              </a:spcBef>
              <a:spcAft>
                <a:spcPts val="500"/>
              </a:spcAft>
              <a:defRPr sz="1600" b="0">
                <a:solidFill>
                  <a:srgbClr val="20334E"/>
                </a:solidFill>
                <a:latin typeface="Aptos"/>
              </a:defRPr>
            </a:pPr>
            <a:r>
              <a:t>docs/00_spec/BMU_Specification_v1.2.pdf</a:t>
            </a:r>
          </a:p>
        </p:txBody>
      </p:sp>
      <p:sp>
        <p:nvSpPr>
          <p:cNvPr id="17" name="Rectangle 16"/>
          <p:cNvSpPr/>
          <p:nvPr/>
        </p:nvSpPr>
        <p:spPr>
          <a:xfrm>
            <a:off x="502920" y="3008376"/>
            <a:ext cx="3383280" cy="516635"/>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099816"/>
            <a:ext cx="3172968" cy="420623"/>
          </a:xfrm>
          <a:prstGeom prst="rect">
            <a:avLst/>
          </a:prstGeom>
          <a:noFill/>
        </p:spPr>
        <p:txBody>
          <a:bodyPr wrap="square" lIns="0" rIns="0" tIns="18288" bIns="0">
            <a:spAutoFit/>
          </a:bodyPr>
          <a:lstStyle/>
          <a:p>
            <a:pPr algn="l">
              <a:lnSpc>
                <a:spcPct val="110000"/>
              </a:lnSpc>
              <a:spcBef>
                <a:spcPts val="0"/>
              </a:spcBef>
              <a:spcAft>
                <a:spcPts val="500"/>
              </a:spcAft>
              <a:defRPr sz="1600" b="0">
                <a:solidFill>
                  <a:srgbClr val="20334E"/>
                </a:solidFill>
                <a:latin typeface="Aptos"/>
              </a:defRPr>
            </a:pPr>
            <a:r>
              <a:t>What was tested?</a:t>
            </a:r>
          </a:p>
        </p:txBody>
      </p:sp>
      <p:sp>
        <p:nvSpPr>
          <p:cNvPr id="19" name="Rectangle 18"/>
          <p:cNvSpPr/>
          <p:nvPr/>
        </p:nvSpPr>
        <p:spPr>
          <a:xfrm>
            <a:off x="3886200" y="3008376"/>
            <a:ext cx="7799831" cy="516635"/>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95928" y="3099816"/>
            <a:ext cx="7589519" cy="420623"/>
          </a:xfrm>
          <a:prstGeom prst="rect">
            <a:avLst/>
          </a:prstGeom>
          <a:noFill/>
        </p:spPr>
        <p:txBody>
          <a:bodyPr wrap="square" lIns="0" rIns="0" tIns="18288" bIns="0">
            <a:spAutoFit/>
          </a:bodyPr>
          <a:lstStyle/>
          <a:p>
            <a:pPr algn="l">
              <a:lnSpc>
                <a:spcPct val="110000"/>
              </a:lnSpc>
              <a:spcBef>
                <a:spcPts val="0"/>
              </a:spcBef>
              <a:spcAft>
                <a:spcPts val="500"/>
              </a:spcAft>
              <a:defRPr sz="1600" b="0">
                <a:solidFill>
                  <a:srgbClr val="20334E"/>
                </a:solidFill>
                <a:latin typeface="Aptos"/>
              </a:defRPr>
            </a:pPr>
            <a:r>
              <a:t>docs/02_test_plan/BMU_Test_Plan.md</a:t>
            </a:r>
          </a:p>
        </p:txBody>
      </p:sp>
      <p:sp>
        <p:nvSpPr>
          <p:cNvPr id="21" name="Rectangle 20"/>
          <p:cNvSpPr/>
          <p:nvPr/>
        </p:nvSpPr>
        <p:spPr>
          <a:xfrm>
            <a:off x="502920" y="3547872"/>
            <a:ext cx="3383280" cy="51663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3639312"/>
            <a:ext cx="3172968" cy="420623"/>
          </a:xfrm>
          <a:prstGeom prst="rect">
            <a:avLst/>
          </a:prstGeom>
          <a:noFill/>
        </p:spPr>
        <p:txBody>
          <a:bodyPr wrap="square" lIns="0" rIns="0" tIns="18288" bIns="0">
            <a:spAutoFit/>
          </a:bodyPr>
          <a:lstStyle/>
          <a:p>
            <a:pPr algn="l">
              <a:lnSpc>
                <a:spcPct val="110000"/>
              </a:lnSpc>
              <a:spcBef>
                <a:spcPts val="0"/>
              </a:spcBef>
              <a:spcAft>
                <a:spcPts val="500"/>
              </a:spcAft>
              <a:defRPr sz="1600" b="0">
                <a:solidFill>
                  <a:srgbClr val="20334E"/>
                </a:solidFill>
                <a:latin typeface="Aptos"/>
              </a:defRPr>
            </a:pPr>
            <a:r>
              <a:t>What failed?</a:t>
            </a:r>
          </a:p>
        </p:txBody>
      </p:sp>
      <p:sp>
        <p:nvSpPr>
          <p:cNvPr id="23" name="Rectangle 22"/>
          <p:cNvSpPr/>
          <p:nvPr/>
        </p:nvSpPr>
        <p:spPr>
          <a:xfrm>
            <a:off x="3886200" y="3547872"/>
            <a:ext cx="7799831" cy="51663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95928" y="3639312"/>
            <a:ext cx="7589519" cy="420623"/>
          </a:xfrm>
          <a:prstGeom prst="rect">
            <a:avLst/>
          </a:prstGeom>
          <a:noFill/>
        </p:spPr>
        <p:txBody>
          <a:bodyPr wrap="square" lIns="0" rIns="0" tIns="18288" bIns="0">
            <a:spAutoFit/>
          </a:bodyPr>
          <a:lstStyle/>
          <a:p>
            <a:pPr algn="l">
              <a:lnSpc>
                <a:spcPct val="110000"/>
              </a:lnSpc>
              <a:spcBef>
                <a:spcPts val="0"/>
              </a:spcBef>
              <a:spcAft>
                <a:spcPts val="500"/>
              </a:spcAft>
              <a:defRPr sz="1600" b="0">
                <a:solidFill>
                  <a:srgbClr val="20334E"/>
                </a:solidFill>
                <a:latin typeface="Aptos"/>
              </a:defRPr>
            </a:pPr>
            <a:r>
              <a:t>docs/04_bug_reports/BMU_Bug_Log.md + results/bugs/</a:t>
            </a:r>
          </a:p>
        </p:txBody>
      </p:sp>
      <p:sp>
        <p:nvSpPr>
          <p:cNvPr id="25" name="Rectangle 24"/>
          <p:cNvSpPr/>
          <p:nvPr/>
        </p:nvSpPr>
        <p:spPr>
          <a:xfrm>
            <a:off x="502920" y="4087368"/>
            <a:ext cx="3383280" cy="516635"/>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 y="4178807"/>
            <a:ext cx="3172968" cy="420623"/>
          </a:xfrm>
          <a:prstGeom prst="rect">
            <a:avLst/>
          </a:prstGeom>
          <a:noFill/>
        </p:spPr>
        <p:txBody>
          <a:bodyPr wrap="square" lIns="0" rIns="0" tIns="18288" bIns="0">
            <a:spAutoFit/>
          </a:bodyPr>
          <a:lstStyle/>
          <a:p>
            <a:pPr algn="l">
              <a:lnSpc>
                <a:spcPct val="110000"/>
              </a:lnSpc>
              <a:spcBef>
                <a:spcPts val="0"/>
              </a:spcBef>
              <a:spcAft>
                <a:spcPts val="500"/>
              </a:spcAft>
              <a:defRPr sz="1600" b="0">
                <a:solidFill>
                  <a:srgbClr val="20334E"/>
                </a:solidFill>
                <a:latin typeface="Aptos"/>
              </a:defRPr>
            </a:pPr>
            <a:r>
              <a:t>What ran?</a:t>
            </a:r>
          </a:p>
        </p:txBody>
      </p:sp>
      <p:sp>
        <p:nvSpPr>
          <p:cNvPr id="27" name="Rectangle 26"/>
          <p:cNvSpPr/>
          <p:nvPr/>
        </p:nvSpPr>
        <p:spPr>
          <a:xfrm>
            <a:off x="3886200" y="4087368"/>
            <a:ext cx="7799831" cy="516635"/>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95928" y="4178807"/>
            <a:ext cx="7589519" cy="420623"/>
          </a:xfrm>
          <a:prstGeom prst="rect">
            <a:avLst/>
          </a:prstGeom>
          <a:noFill/>
        </p:spPr>
        <p:txBody>
          <a:bodyPr wrap="square" lIns="0" rIns="0" tIns="18288" bIns="0">
            <a:spAutoFit/>
          </a:bodyPr>
          <a:lstStyle/>
          <a:p>
            <a:pPr algn="l">
              <a:lnSpc>
                <a:spcPct val="110000"/>
              </a:lnSpc>
              <a:spcBef>
                <a:spcPts val="0"/>
              </a:spcBef>
              <a:spcAft>
                <a:spcPts val="500"/>
              </a:spcAft>
              <a:defRPr sz="1600" b="0">
                <a:solidFill>
                  <a:srgbClr val="20334E"/>
                </a:solidFill>
                <a:latin typeface="Aptos"/>
              </a:defRPr>
            </a:pPr>
            <a:r>
              <a:t>results/reports/regression_summary.csv</a:t>
            </a:r>
          </a:p>
        </p:txBody>
      </p:sp>
      <p:sp>
        <p:nvSpPr>
          <p:cNvPr id="29" name="Rectangle 28"/>
          <p:cNvSpPr/>
          <p:nvPr/>
        </p:nvSpPr>
        <p:spPr>
          <a:xfrm>
            <a:off x="502920" y="4626864"/>
            <a:ext cx="3383280" cy="51663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 y="4718303"/>
            <a:ext cx="3172968" cy="420623"/>
          </a:xfrm>
          <a:prstGeom prst="rect">
            <a:avLst/>
          </a:prstGeom>
          <a:noFill/>
        </p:spPr>
        <p:txBody>
          <a:bodyPr wrap="square" lIns="0" rIns="0" tIns="18288" bIns="0">
            <a:spAutoFit/>
          </a:bodyPr>
          <a:lstStyle/>
          <a:p>
            <a:pPr algn="l">
              <a:lnSpc>
                <a:spcPct val="110000"/>
              </a:lnSpc>
              <a:spcBef>
                <a:spcPts val="0"/>
              </a:spcBef>
              <a:spcAft>
                <a:spcPts val="500"/>
              </a:spcAft>
              <a:defRPr sz="1600" b="0">
                <a:solidFill>
                  <a:srgbClr val="20334E"/>
                </a:solidFill>
                <a:latin typeface="Aptos"/>
              </a:defRPr>
            </a:pPr>
            <a:r>
              <a:t>What produced the results?</a:t>
            </a:r>
          </a:p>
        </p:txBody>
      </p:sp>
      <p:sp>
        <p:nvSpPr>
          <p:cNvPr id="31" name="Rectangle 30"/>
          <p:cNvSpPr/>
          <p:nvPr/>
        </p:nvSpPr>
        <p:spPr>
          <a:xfrm>
            <a:off x="3886200" y="4626864"/>
            <a:ext cx="7799831" cy="51663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95928" y="4718303"/>
            <a:ext cx="7589519" cy="420623"/>
          </a:xfrm>
          <a:prstGeom prst="rect">
            <a:avLst/>
          </a:prstGeom>
          <a:noFill/>
        </p:spPr>
        <p:txBody>
          <a:bodyPr wrap="square" lIns="0" rIns="0" tIns="18288" bIns="0">
            <a:spAutoFit/>
          </a:bodyPr>
          <a:lstStyle/>
          <a:p>
            <a:pPr algn="l">
              <a:lnSpc>
                <a:spcPct val="110000"/>
              </a:lnSpc>
              <a:spcBef>
                <a:spcPts val="0"/>
              </a:spcBef>
              <a:spcAft>
                <a:spcPts val="500"/>
              </a:spcAft>
              <a:defRPr sz="1600" b="0">
                <a:solidFill>
                  <a:srgbClr val="20334E"/>
                </a:solidFill>
                <a:latin typeface="Aptos"/>
              </a:defRPr>
            </a:pPr>
            <a:r>
              <a:t>results/reports/run_manifest.json</a:t>
            </a:r>
          </a:p>
        </p:txBody>
      </p:sp>
      <p:sp>
        <p:nvSpPr>
          <p:cNvPr id="33" name="Rectangle 32"/>
          <p:cNvSpPr/>
          <p:nvPr/>
        </p:nvSpPr>
        <p:spPr>
          <a:xfrm>
            <a:off x="502920" y="5166359"/>
            <a:ext cx="3383280" cy="516635"/>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 y="5257799"/>
            <a:ext cx="3172968" cy="420623"/>
          </a:xfrm>
          <a:prstGeom prst="rect">
            <a:avLst/>
          </a:prstGeom>
          <a:noFill/>
        </p:spPr>
        <p:txBody>
          <a:bodyPr wrap="square" lIns="0" rIns="0" tIns="18288" bIns="0">
            <a:spAutoFit/>
          </a:bodyPr>
          <a:lstStyle/>
          <a:p>
            <a:pPr algn="l">
              <a:lnSpc>
                <a:spcPct val="110000"/>
              </a:lnSpc>
              <a:spcBef>
                <a:spcPts val="0"/>
              </a:spcBef>
              <a:spcAft>
                <a:spcPts val="500"/>
              </a:spcAft>
              <a:defRPr sz="1600" b="0">
                <a:solidFill>
                  <a:srgbClr val="20334E"/>
                </a:solidFill>
                <a:latin typeface="Aptos"/>
              </a:defRPr>
            </a:pPr>
            <a:r>
              <a:t>What are the limits?</a:t>
            </a:r>
          </a:p>
        </p:txBody>
      </p:sp>
      <p:sp>
        <p:nvSpPr>
          <p:cNvPr id="35" name="Rectangle 34"/>
          <p:cNvSpPr/>
          <p:nvPr/>
        </p:nvSpPr>
        <p:spPr>
          <a:xfrm>
            <a:off x="3886200" y="5166359"/>
            <a:ext cx="7799831" cy="516635"/>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995928" y="5257799"/>
            <a:ext cx="7589519" cy="420623"/>
          </a:xfrm>
          <a:prstGeom prst="rect">
            <a:avLst/>
          </a:prstGeom>
          <a:noFill/>
        </p:spPr>
        <p:txBody>
          <a:bodyPr wrap="square" lIns="0" rIns="0" tIns="18288" bIns="0">
            <a:spAutoFit/>
          </a:bodyPr>
          <a:lstStyle/>
          <a:p>
            <a:pPr algn="l">
              <a:lnSpc>
                <a:spcPct val="110000"/>
              </a:lnSpc>
              <a:spcBef>
                <a:spcPts val="0"/>
              </a:spcBef>
              <a:spcAft>
                <a:spcPts val="500"/>
              </a:spcAft>
              <a:defRPr sz="1600" b="0">
                <a:solidFill>
                  <a:srgbClr val="20334E"/>
                </a:solidFill>
                <a:latin typeface="Aptos"/>
              </a:defRPr>
            </a:pPr>
            <a:r>
              <a:t>docs/08_signoff/BMU_Signoff_Report.md</a:t>
            </a:r>
          </a:p>
        </p:txBody>
      </p:sp>
      <p:sp>
        <p:nvSpPr>
          <p:cNvPr id="37" name="Rounded Rectangle 36"/>
          <p:cNvSpPr/>
          <p:nvPr/>
        </p:nvSpPr>
        <p:spPr>
          <a:xfrm>
            <a:off x="502920" y="5797296"/>
            <a:ext cx="11183112" cy="484632"/>
          </a:xfrm>
          <a:prstGeom prst="roundRect">
            <a:avLst>
              <a:gd name="adj" fmla="val 12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879592"/>
            <a:ext cx="10789920" cy="320040"/>
          </a:xfrm>
          <a:prstGeom prst="rect">
            <a:avLst/>
          </a:prstGeom>
          <a:noFill/>
        </p:spPr>
        <p:txBody>
          <a:bodyPr wrap="square" lIns="0" rIns="0" tIns="18288" bIns="0">
            <a:spAutoFit/>
          </a:bodyPr>
          <a:lstStyle/>
          <a:p>
            <a:pPr algn="l">
              <a:lnSpc>
                <a:spcPct val="110000"/>
              </a:lnSpc>
              <a:spcBef>
                <a:spcPts val="0"/>
              </a:spcBef>
              <a:spcAft>
                <a:spcPts val="500"/>
              </a:spcAft>
              <a:defRPr sz="1800" b="1">
                <a:solidFill>
                  <a:srgbClr val="2563B7"/>
                </a:solidFill>
                <a:latin typeface="Aptos"/>
              </a:defRPr>
            </a:pPr>
            <a:r>
              <a:t>Questions? Return to MENU to revisit any part of the verification story.</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BMU Verification | From Specification to Bug Evidence</dc:title>
  <dc:subject>Training project: original-DUT verification, findings, and exploratory RTL corrections</dc:subject>
  <dc:creator>JHT127</dc:creator>
  <cp:keywords>BMU, SystemVerilog, UVM, verification, functional coverage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