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27435" autoAdjust="0"/>
  </p:normalViewPr>
  <p:slideViewPr>
    <p:cSldViewPr snapToGrid="0" snapToObjects="1">
      <p:cViewPr varScale="1">
        <p:scale>
          <a:sx n="18" d="100"/>
          <a:sy n="18" d="100"/>
        </p:scale>
        <p:origin x="2712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873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BMU VERIFICATION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From specification to bug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00800" cy="150876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 32-bit BMU.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 complete verification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6309360" cy="9144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SystemVerilog + UVM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Directed + random testing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Assertions +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1051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2360" y="1810512"/>
            <a:ext cx="50292" cy="10607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01952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6829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operation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04495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3044952"/>
            <a:ext cx="50292" cy="10607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136392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562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60273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functional bins hit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27939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4279392"/>
            <a:ext cx="50292" cy="10607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4370831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83717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open DUT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10328"/>
            <a:ext cx="6172200" cy="5303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Original RTL. Reproducible failures.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Trace one MAX request to the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INTERACTIVE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The verification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Specification → stimulus →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02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50292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502920" y="2011680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68580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01  Understand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8580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Specification, controls, timing, DUT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429768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hlinkClick r:id="rId5" action="ppaction://hlinksldjump"/>
          </p:cNvPr>
          <p:cNvSpPr/>
          <p:nvPr/>
        </p:nvSpPr>
        <p:spPr>
          <a:xfrm>
            <a:off x="4297680" y="2011680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448056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02  Follow a request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448056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Environment and MAX transaction</a:t>
            </a:r>
          </a:p>
        </p:txBody>
      </p:sp>
      <p:sp>
        <p:nvSpPr>
          <p:cNvPr id="17" name="Rounded Rectangle 16">
            <a:hlinkClick r:id="rId6" action="ppaction://hlinksldjump"/>
          </p:cNvPr>
          <p:cNvSpPr/>
          <p:nvPr/>
        </p:nvSpPr>
        <p:spPr>
          <a:xfrm>
            <a:off x="809244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hlinkClick r:id="rId6" action="ppaction://hlinksldjump"/>
          </p:cNvPr>
          <p:cNvSpPr/>
          <p:nvPr/>
        </p:nvSpPr>
        <p:spPr>
          <a:xfrm>
            <a:off x="8092440" y="2011680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hlinkClick r:id="rId6" action="ppaction://hlinksldjump"/>
          </p:cNvPr>
          <p:cNvSpPr txBox="1"/>
          <p:nvPr/>
        </p:nvSpPr>
        <p:spPr>
          <a:xfrm>
            <a:off x="827532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03  Test the design</a:t>
            </a:r>
          </a:p>
        </p:txBody>
      </p:sp>
      <p:sp>
        <p:nvSpPr>
          <p:cNvPr id="20" name="TextBox 19">
            <a:hlinkClick r:id="rId6" action="ppaction://hlinksldjump"/>
          </p:cNvPr>
          <p:cNvSpPr txBox="1"/>
          <p:nvPr/>
        </p:nvSpPr>
        <p:spPr>
          <a:xfrm>
            <a:off x="827532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Directed, random, assertions</a:t>
            </a:r>
          </a:p>
        </p:txBody>
      </p:sp>
      <p:sp>
        <p:nvSpPr>
          <p:cNvPr id="21" name="Rounded Rectangle 20">
            <a:hlinkClick r:id="rId7" action="ppaction://hlinksldjump"/>
          </p:cNvPr>
          <p:cNvSpPr/>
          <p:nvPr/>
        </p:nvSpPr>
        <p:spPr>
          <a:xfrm>
            <a:off x="50292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502920" y="3685032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hlinkClick r:id="rId7" action="ppaction://hlinksldjump"/>
          </p:cNvPr>
          <p:cNvSpPr txBox="1"/>
          <p:nvPr/>
        </p:nvSpPr>
        <p:spPr>
          <a:xfrm>
            <a:off x="68580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5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04  Measure + debug</a:t>
            </a:r>
          </a:p>
        </p:txBody>
      </p:sp>
      <p:sp>
        <p:nvSpPr>
          <p:cNvPr id="24" name="TextBox 23">
            <a:hlinkClick r:id="rId7" action="ppaction://hlinksldjump"/>
          </p:cNvPr>
          <p:cNvSpPr txBox="1"/>
          <p:nvPr/>
        </p:nvSpPr>
        <p:spPr>
          <a:xfrm>
            <a:off x="68580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Coverage, results, nine findings</a:t>
            </a:r>
          </a:p>
        </p:txBody>
      </p:sp>
      <p:sp>
        <p:nvSpPr>
          <p:cNvPr id="25" name="Rounded Rectangle 24">
            <a:hlinkClick r:id="rId8" action="ppaction://hlinksldjump"/>
          </p:cNvPr>
          <p:cNvSpPr/>
          <p:nvPr/>
        </p:nvSpPr>
        <p:spPr>
          <a:xfrm>
            <a:off x="429768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hlinkClick r:id="rId8" action="ppaction://hlinksldjump"/>
          </p:cNvPr>
          <p:cNvSpPr/>
          <p:nvPr/>
        </p:nvSpPr>
        <p:spPr>
          <a:xfrm>
            <a:off x="4297680" y="3685032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8" action="ppaction://hlinksldjump"/>
          </p:cNvPr>
          <p:cNvSpPr txBox="1"/>
          <p:nvPr/>
        </p:nvSpPr>
        <p:spPr>
          <a:xfrm>
            <a:off x="448056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05  Correct + close</a:t>
            </a:r>
          </a:p>
        </p:txBody>
      </p:sp>
      <p:sp>
        <p:nvSpPr>
          <p:cNvPr id="28" name="TextBox 27">
            <a:hlinkClick r:id="rId8" action="ppaction://hlinksldjump"/>
          </p:cNvPr>
          <p:cNvSpPr txBox="1"/>
          <p:nvPr/>
        </p:nvSpPr>
        <p:spPr>
          <a:xfrm>
            <a:off x="448056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Existing fix code and validation gate</a:t>
            </a:r>
          </a:p>
        </p:txBody>
      </p:sp>
      <p:sp>
        <p:nvSpPr>
          <p:cNvPr id="29" name="Rounded Rectangle 28">
            <a:hlinkClick r:id="rId9" action="ppaction://hlinksldjump"/>
          </p:cNvPr>
          <p:cNvSpPr/>
          <p:nvPr/>
        </p:nvSpPr>
        <p:spPr>
          <a:xfrm>
            <a:off x="809244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hlinkClick r:id="rId9" action="ppaction://hlinksldjump"/>
          </p:cNvPr>
          <p:cNvSpPr/>
          <p:nvPr/>
        </p:nvSpPr>
        <p:spPr>
          <a:xfrm>
            <a:off x="8092440" y="3685032"/>
            <a:ext cx="50292" cy="144475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hlinkClick r:id="rId9" action="ppaction://hlinksldjump"/>
          </p:cNvPr>
          <p:cNvSpPr txBox="1"/>
          <p:nvPr/>
        </p:nvSpPr>
        <p:spPr>
          <a:xfrm>
            <a:off x="827532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06  Explore details</a:t>
            </a:r>
          </a:p>
        </p:txBody>
      </p:sp>
      <p:sp>
        <p:nvSpPr>
          <p:cNvPr id="32" name="TextBox 31">
            <a:hlinkClick r:id="rId9" action="ppaction://hlinksldjump"/>
          </p:cNvPr>
          <p:cNvSpPr txBox="1"/>
          <p:nvPr/>
        </p:nvSpPr>
        <p:spPr>
          <a:xfrm>
            <a:off x="827532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Operations, evidence, commands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Audience checkpoints: predict a result • classify a failure • read assertions, coverage, and bug evidence.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What does this BMU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32-bit operands in; a registered result and a live error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6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56816"/>
            <a:ext cx="50292" cy="14630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9397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Logic and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OR, XOR, SRL, SRA, ROR, BINV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56816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56816"/>
            <a:ext cx="50292" cy="14630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09397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Arithmetic and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70048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SH2ADD, SUB, SLT/SLTU, signed 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66744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66744"/>
            <a:ext cx="50292" cy="14630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Count and rearrange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9976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CTZ, CPOP, SEXT.B, PACK, GREV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66744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66744"/>
            <a:ext cx="50292" cy="14630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03904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data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79976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Bypass read and write-data selection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Predict: CPOP(0xFFFF0000) = ?   Keep your answer for the bug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Turn the specification into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Example requirement: signed MAX selects the larger operand and requires SUB.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0292" cy="17099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Signed MAX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max=1, sub=1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5848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2240280"/>
            <a:ext cx="50292" cy="17099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STIMULUS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a=10, b=20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valid_in=1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07608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08776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8776" y="2240280"/>
            <a:ext cx="50292" cy="17099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result=20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error=0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0536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61704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61704" y="2240280"/>
            <a:ext cx="50292" cy="17099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44584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Compare + log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cover scenario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15968"/>
            <a:ext cx="5486400" cy="10698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315968"/>
            <a:ext cx="50292" cy="10698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407407"/>
            <a:ext cx="5120640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Negative companion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73752"/>
            <a:ext cx="5120640" cy="48463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Remove SUB: require error=1 and captured result=0.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315968"/>
            <a:ext cx="5486400" cy="10698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99632" y="4315968"/>
            <a:ext cx="50292" cy="10698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4407407"/>
            <a:ext cx="5120640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Record ambiguities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873752"/>
            <a:ext cx="5120640" cy="48463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Timing, GREV invalid encoding, CSR conflicts.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One selected operation can require several control bits. “Legal” is not simply one-hot.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The interface contract determines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No ready signal. No output-valid handshake. valid_in enables result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172968" cy="342900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0292" cy="34290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807208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1"/>
            <a:ext cx="2807208" cy="2642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a_in, b_in: 32 bits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ap: 42 control bits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enable + read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rst_l, valid_in, scan_mode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965960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1965960"/>
            <a:ext cx="50292" cy="10058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057400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Falling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523744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Driver applies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136391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136391"/>
            <a:ext cx="50292" cy="10058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227832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Between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694176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Combinational paths settle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306824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4306824"/>
            <a:ext cx="50292" cy="10058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4398264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Rising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64608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Capture result; monitor samples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valid_in=0 → result holds. Invalid controls can still assert the live error output.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Inside the DUT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Parallel datapaths feed a combined result; implemented error logic gates capture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0292" cy="164592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155448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1"/>
            <a:ext cx="1554480" cy="85953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a, b, 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2024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1920240"/>
            <a:ext cx="50292" cy="7132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03911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Logic / CSR read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41448" y="2276856"/>
            <a:ext cx="411480" cy="969264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3288" y="2276856"/>
            <a:ext cx="758952" cy="969264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78892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80360" y="2788920"/>
            <a:ext cx="50292" cy="7132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2907791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Adder / compare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441448" y="3145536"/>
            <a:ext cx="411480" cy="100584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33288" y="3145536"/>
            <a:ext cx="758952" cy="100584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80360" y="365760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3657600"/>
            <a:ext cx="50292" cy="7132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40" y="377647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Shift / rotate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41448" y="3246120"/>
            <a:ext cx="411480" cy="768095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33288" y="3246120"/>
            <a:ext cx="758952" cy="768095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80360" y="452628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80360" y="4526280"/>
            <a:ext cx="50292" cy="7132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63240" y="464515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Count / pack / bits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41448" y="3246120"/>
            <a:ext cx="411480" cy="1636776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33288" y="3246120"/>
            <a:ext cx="758952" cy="1636776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19672" y="2468880"/>
            <a:ext cx="2084831" cy="161848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19672" y="2468880"/>
            <a:ext cx="50292" cy="1618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02552" y="2606040"/>
            <a:ext cx="171907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Combine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3182112"/>
            <a:ext cx="1719072" cy="83210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Masked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 → zero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468880"/>
            <a:ext cx="2542032" cy="161848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0" y="2468880"/>
            <a:ext cx="50292" cy="1618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2606040"/>
            <a:ext cx="217627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 register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182112"/>
            <a:ext cx="2176272" cy="83210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result_ff[31:0]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reset / enable / hold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31936" y="3246120"/>
            <a:ext cx="466344" cy="0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519672" y="4434840"/>
            <a:ext cx="5166360" cy="8321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19672" y="4434840"/>
            <a:ext cx="50292" cy="8321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02552" y="4553712"/>
            <a:ext cx="4800600" cy="63093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5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Live error: implemented guards are incomplete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543800" y="4105656"/>
            <a:ext cx="0" cy="301752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Data bugs and missing control guards need different checks.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02 / FOLLOW A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The UVM environment: from sequence item to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Stimulus in. Evidence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993392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Sequencer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1993392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23760" y="1993392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993392"/>
            <a:ext cx="2221992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64040" y="1993392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2112264"/>
            <a:ext cx="185623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1772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828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23760" y="3355848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0" y="3355848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3474720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Monitor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47304" y="2834640"/>
            <a:ext cx="0" cy="475488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77639" y="3355848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77639" y="3355848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3474720"/>
            <a:ext cx="210312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Reference model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483096" y="3767328"/>
            <a:ext cx="713232" cy="0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77639" y="4773168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77639" y="4773168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4892040"/>
            <a:ext cx="210312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Scoreboard + checker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12080" y="4206240"/>
            <a:ext cx="0" cy="530352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96512" y="4315968"/>
            <a:ext cx="1005840" cy="2286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expected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483096" y="4215384"/>
            <a:ext cx="1289304" cy="859536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03720" y="4517136"/>
            <a:ext cx="548640" cy="2286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actual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4389120"/>
            <a:ext cx="2221992" cy="9418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64040" y="4389120"/>
            <a:ext cx="50292" cy="9418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46919" y="4480559"/>
            <a:ext cx="18562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19" y="4946904"/>
            <a:ext cx="185623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Scenarios exercised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07424" y="3794760"/>
            <a:ext cx="1362456" cy="566928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64040" y="3154680"/>
            <a:ext cx="2221992" cy="82296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64040" y="3154680"/>
            <a:ext cx="50292" cy="82296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46919" y="3273552"/>
            <a:ext cx="185623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Assertions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69680" y="2852928"/>
            <a:ext cx="548640" cy="667512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089136" y="2990088"/>
            <a:ext cx="374904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91472" y="2807208"/>
            <a:ext cx="1828800" cy="2194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DUT outputs to interface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3355848"/>
            <a:ext cx="2926080" cy="8869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Active agent: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sequencer, driver, monitor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Predict from observed inputs. Compare result_ff and error under a fully independent reference model.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02 / FOLLOW A REQUEST •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Your turn: construct a legal MAX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Predict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5486400" cy="3291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5120640" cy="30175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// Transaction values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rst_l 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valid_in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ap.max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ap.sub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a_in      = 10;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b_in      = 20;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75104"/>
            <a:ext cx="5376672" cy="132588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75104"/>
            <a:ext cx="50292" cy="1325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66544"/>
            <a:ext cx="5010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Question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5010912" cy="7406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Is max=1 alone a legal request?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47872"/>
            <a:ext cx="5376672" cy="132588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547872"/>
            <a:ext cx="50292" cy="1325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639312"/>
            <a:ext cx="5010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Question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05656"/>
            <a:ext cx="5010912" cy="7406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rPr b="0">
                <a:solidFill>
                  <a:srgbClr val="EFF5F4"/>
                </a:solidFill>
                <a:latin typeface="IBM Plex Sans"/>
              </a:rPr>
              <a:t>What should result_ff and error be for a legal signed MAX request?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hlinkClick r:id="rId4" action="ppaction://hlinksldjump"/>
          </p:cNvPr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Next: drive → sample → compare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02 / FOLLOW A REQUEST •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The request becomes pin-level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rPr b="0">
                <a:solidFill>
                  <a:srgbClr val="EFF5F4"/>
                </a:solidFill>
                <a:latin typeface="IBM Plex Sans"/>
              </a:rPr>
              <a:t>Sequence item → sequencer → driver → interface → DUT → monitor → predictor → 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458968" cy="256032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093207" cy="22860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// UVM handshake — simplified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start_item(req);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// fill request fields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finish_item(req);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// Driver: get → drive → item_done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0292" cy="9418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rPr b="0">
                <a:solidFill>
                  <a:srgbClr val="EFF5F4"/>
                </a:solidFill>
                <a:latin typeface="IBM Plex Sans"/>
              </a:rPr>
              <a:t>10 ns: falling edge</a:t>
            </a:r>
          </a:p>
          <a:p>
            <a:r>
              <a:rPr b="0">
                <a:solidFill>
                  <a:srgbClr val="EFF5F4"/>
                </a:solidFill>
                <a:latin typeface="IBM Plex Sans"/>
              </a:rPr>
              <a:t>Drive legal request: max=1, sub=1, a=10, b=20</a:t>
            </a:r>
          </a:p>
          <a:p>
            <a:r>
              <a:rPr b="0">
                <a:solidFill>
                  <a:srgbClr val="EFF5F4"/>
                </a:solidFill>
                <a:latin typeface="IBM Plex Sans"/>
              </a:rPr>
              <a:t>15 ns: rising edge</a:t>
            </a:r>
          </a:p>
          <a:p>
            <a:r>
              <a:rPr b="0">
                <a:solidFill>
                  <a:srgbClr val="EFF5F4"/>
                </a:solidFill>
                <a:latin typeface="IBM Plex Sans"/>
              </a:rPr>
              <a:t>Monitor captures result_ff and compares with the 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Drive MAX, SUB, a=10, b=20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63239"/>
            <a:ext cx="50292" cy="9418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79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10–15 ns: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21023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 path and live error settle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60520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160520"/>
            <a:ext cx="50292" cy="94183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59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15 ns: rising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18304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Register updates; monitor 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00016"/>
            <a:ext cx="5303520" cy="80467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Driven ≠ correct.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hlinkClick r:id="rId4" action="ppaction://hlinksldjump"/>
          </p:cNvPr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Expected: result_ff=20, error=0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02 / FOLLOW A REQUEST •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The scoreboard exposes the MAX defect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Same observed request. Independent prediction. Different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383280" cy="19202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0292" cy="19202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79"/>
            <a:ext cx="301752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017520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result_ff = 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383280" cy="19202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03120"/>
            <a:ext cx="50292" cy="19202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79"/>
            <a:ext cx="301752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3017520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result_ff =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103120"/>
            <a:ext cx="3410712" cy="19202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2103120"/>
            <a:ext cx="50292" cy="192024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240279"/>
            <a:ext cx="304495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16352"/>
            <a:ext cx="3044952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Mismatch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BMU-BUG-010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063240"/>
            <a:ext cx="4023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3063240"/>
            <a:ext cx="402336" cy="0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4480560"/>
            <a:ext cx="11183112" cy="87782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45152"/>
            <a:ext cx="10817352" cy="60350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@ 15 ns   expected: 0x00000014 / error=0   actual: 0x0000000a / error=0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A scenario can be covered and incorrect at the same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02 / TRUST THE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Who is checking the checker?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 useful failure must distinguish a DUT defect from a testbench issue using independent prediction, assertions, and a clean signal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865 predictor self-checks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Legal, invalid, boundary and state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Passing setup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 smoke and timing/reset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Complete comparisons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 + error; four-state equality; queue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Honest failure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UVM errors, assertions and incomplete runs fail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Prediction is independent of RTL. Coverage shares specification classification helpers.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Directed testing asks precise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Select inputs because they target a requirement, a boundary, or a suspected defect.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42316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22128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3977639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075688"/>
            <a:ext cx="3767327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965960"/>
            <a:ext cx="4782312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75688"/>
            <a:ext cx="457200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Expected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423160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Nominal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468880"/>
            <a:ext cx="3977639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35808" y="256032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 with known a and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468880"/>
            <a:ext cx="4782312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256032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Exact result and error=0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63240"/>
            <a:ext cx="2423160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5468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063240"/>
            <a:ext cx="3977639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35808" y="315468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CTZ(0); shift by 0 or 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40"/>
            <a:ext cx="4782312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8" y="315468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Defined edge behavior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57600"/>
            <a:ext cx="2423160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749039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Negative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657600"/>
            <a:ext cx="3977639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35808" y="3749039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MAX without SUB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657600"/>
            <a:ext cx="4782312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3448" y="3749039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error=1; capture zero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51960"/>
            <a:ext cx="2423160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434340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Timing /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251960"/>
            <a:ext cx="3977639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35808" y="434340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valid_in=0; reset mid-traffic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251960"/>
            <a:ext cx="4782312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13448" y="434340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Hold, clear, recover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46320"/>
            <a:ext cx="2423160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93776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Bug reproducer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846320"/>
            <a:ext cx="3977639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35808" y="493776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MAX(10,20)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846320"/>
            <a:ext cx="4782312" cy="5715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3448" y="493776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Detect the isolated defect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Small, intentional tests explain failures quickly.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Three kinds of random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Each family generates 100 requests per run; the monitored reset adds one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48256"/>
            <a:ext cx="50292" cy="305409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Legal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Valid operation + legal modifiers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Broad operand combinations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Seeds 101 / 102 / 103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048256"/>
            <a:ext cx="50292" cy="305409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Corner 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Independent corners for a and 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0, all ones, signed limits, patterns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Seeds 201 / 202 / 203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48256"/>
            <a:ext cx="50292" cy="305409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 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Ten invalid-request classes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Conflicts and missing requirements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Seeds 301 / 302 / 303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Directed tests target known risks. Random tests explore combinations. Seeds reproduce stimulus.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Assertions guard protocol behavior across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Scoreboard: data. Assertions: time and protocol.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11183112" cy="102412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0817352" cy="74980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@(posedge clk) disable iff (!rst_l)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    !valid_in |=&gt; $stable(result_ff);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50292" cy="181965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Clear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Suppress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3401568"/>
            <a:ext cx="50292" cy="181965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Timing / 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Hold when disabled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Known enabled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401568"/>
            <a:ext cx="50292" cy="1819656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Control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conflict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Missing SUB / ZBA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Audience check: result holds, but error changes while valid_in=0. Is that allowed?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04 / MEASURE AND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rPr sz="2500" b="1">
                <a:solidFill>
                  <a:srgbClr val="EFF5F4"/>
                </a:solidFill>
                <a:latin typeface="IBM Plex Sans"/>
              </a:rPr>
              <a:t>Coverage measures exercise; assertions + independent prediction confirm correctness and make the flow CI-ready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Three lenses. One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194560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Functional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1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Did we exercise the planned scenarios?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Operations, modes, count values, crosses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36392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355848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Code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Which RTL structures were exercised?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Blocks, scored expressions, toggles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4517136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Assertion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07408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Which properties were exercised?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Read coverage separately from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100% bins ≠ correctness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04 / ADVANCED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Beyond smoke tests: systematic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Sweeps + random + assertions = repeatable 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Control mutation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Legal base → add forbidden field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Also remove required SUB / ZBA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Boundary enumeration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32 shift/index values; counts 0–32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256 bytes; 32 GREV encodings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Race-aware checking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Falling-edge drive, post-update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Reset/hold state in the predictor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Reproducible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Effective seeds, isolated logs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Source and log SHA-256 fingerprints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Coverage closure uses 5,036 comparisons on the original DUT; failures remain visible.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04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Measured results: exercise achieved, bugs remain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Recorded baseline: 22 September 2026 • original DUT • coverage test seed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50292" cy="12893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runs: 3 pass / 23 fail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947672"/>
            <a:ext cx="50292" cy="12893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562 / 562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functional bins hit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947672"/>
            <a:ext cx="50292" cy="12893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open DUT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2102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Functional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3685032"/>
            <a:ext cx="5943600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488" y="3685032"/>
            <a:ext cx="5943600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362102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100.00%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1538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DUT blocks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4279392"/>
            <a:ext cx="5943600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61488" y="4279392"/>
            <a:ext cx="5943600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421538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16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DUT toggles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4873752"/>
            <a:ext cx="5943600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61488" y="4873752"/>
            <a:ext cx="3863934" cy="1828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6840" y="480974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1,230 / 1,892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3/3 scored expressions only. Toggle coverage is incomplete. No DUT correctness sign-off.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04 / BUG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Nine findings, four recurring defect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All open; one critical and eight major. Each has a seed-1 isolated reproducer.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Count / bit 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001: CPOP ignores upper half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009: CTZ reversal ordering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Data arrangement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002: PACK halves reversed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005: GREV swaps halfwords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Source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003: CSR sources reversed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010: MAX chooses wrong operand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Missing rejection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006: incomplete guards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007: missing SUB; 008: invalid GREV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BUG-008 depends on CLARIF-004. BUG-004 was withdrawn; pure CSR bypass is legal.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04 / DEBUG ONE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MAX root cause: the selector is inverted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The isolated request removes unrelated controls and makes the cause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85039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10817352" cy="57607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bitmanip_minmax_sel_a = ge ^ ap_max;   // original RTL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0292" cy="194767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10 &gt;= 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ge = 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4178808"/>
            <a:ext cx="155448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3246120"/>
            <a:ext cx="50292" cy="194767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 XOR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select_a =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178808"/>
            <a:ext cx="155448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9244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246120"/>
            <a:ext cx="50292" cy="194767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 is selected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 =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Reproduce → isolate → inspect cause → propose correction → rerun related tests.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05 / CORRECT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What the exploratory RTL correction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The repository contains exploratory fix_v1 code. It is deliberately separated from the measured submission-DUT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11183112" cy="93268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1081735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// MAX: select using a signed comparison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Consola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corrected_result = ($signed(a_in) &gt; $signed(b_in)) ? a_in : b_in;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18688"/>
            <a:ext cx="242316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328416"/>
            <a:ext cx="22128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218688"/>
            <a:ext cx="8759952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3328416"/>
            <a:ext cx="854964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Correction present in fix_v1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21608"/>
            <a:ext cx="2423160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813048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CPOP / CTZ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721608"/>
            <a:ext cx="8759952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35808" y="3813048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Count all 32 bits; scan CTZ from bit 0, default 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97096"/>
            <a:ext cx="2423160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288536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PACK / GREV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197096"/>
            <a:ext cx="8759952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5808" y="4288536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Restore halfword order / reverse all four bytes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72583"/>
            <a:ext cx="2423160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4764023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write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672583"/>
            <a:ext cx="8759952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5808" y="4764023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csr_imm ? b_in : a_in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48071"/>
            <a:ext cx="2423160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5239511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Control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148071"/>
            <a:ext cx="8759952" cy="45262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35808" y="5239511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Separate guard logic and required-control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Code changes exist; corrected-DUT regression closure is not established by this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05 / CORRECT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When can we honestly call a bug fixed with evidence?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 code edit is the start of closure, not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0292" cy="24414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  Reproduce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Original DUT fails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Same test and 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2240280"/>
            <a:ext cx="50292" cy="24414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2  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Corrected DUT passes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Same expected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2240280"/>
            <a:ext cx="50292" cy="24414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3 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Related boundaries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Full 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2240280"/>
            <a:ext cx="50292" cy="244144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4 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Source + seed + logs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Update bug disposition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Current status: nine original-DUT bugs open; fix_v1 remains exploratory.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05 /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rPr sz="2500" b="1">
                <a:solidFill>
                  <a:srgbClr val="EFF5F4"/>
                </a:solidFill>
                <a:latin typeface="IBM Plex Sans"/>
              </a:rPr>
              <a:t>What this project demonstrates: advanced verification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Specification → evidence →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320040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32004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Established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24140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17 operation classes exercised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865 predictor self-checks passed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562 functional bins exercised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Nine reproducible DUT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320040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32004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Still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24140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Original RTL defects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Corrected-DUT validation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Incomplete toggle coverage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Three documented assumptions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Evidence with limits.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Operation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32-bit results; shift/index uses b[4:0]; arithmetic wraps modulo 2³².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315468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11680"/>
            <a:ext cx="29443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01952"/>
            <a:ext cx="8028431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2011680"/>
            <a:ext cx="7818119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Expected behavior / legal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04872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OR / XOR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04872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2496312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Normal b, or inverted b with zbb=1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16936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008376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SRL / SRA / ROR / BINV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916936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3008376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Logical / arithmetic / rotate / invert indexed 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29000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520440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SH2ADD / SUB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429000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8" y="3520440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(a&lt;&lt;2)+b with ZBA; a-b without ZBA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41064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032504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SLT / MAX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941064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4032504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Require SUB; SLT allows unsigned; MAX is signed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53128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4544568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CTZ / CPOP / SEXT.B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453128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67328" y="4544568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Trailing zeros (zero→32); set bits; sign-extend bit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65192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056632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PACK / GREV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965192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67328" y="5056632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{b[15:0],a[15:0]}; byte reverse for b[4:0]=24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477256"/>
            <a:ext cx="3154680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5568696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CSR read / write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5477256"/>
            <a:ext cx="8028431" cy="489204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67328" y="5568696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Pure bypass; write selects b if immediate else 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Bug evidence: data-path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All examples reproduced on the original DUT, seed 1. Hex values have a 0x prefix.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01168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18013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965960"/>
            <a:ext cx="438912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8" y="2075688"/>
            <a:ext cx="4178807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Stimulus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965960"/>
            <a:ext cx="4782312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75688"/>
            <a:ext cx="457200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Expected → 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001 CPOP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468880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4328" y="256032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a=0xFFFF0000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468880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256032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16 →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0896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002 PACK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017520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24328" y="310896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a=0x1234, b=0x5678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17520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8" y="310896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0x56781234 → 0x12345678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003 CSR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3566160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24328" y="365760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a=0x33334444, b=0x11112222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566160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3448" y="365760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Immediate and register sources reversed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14800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420624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005 GREV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114800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24328" y="420624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a=0x12345678, b=24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114800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13448" y="420624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0x78563412 → 0x56781234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663440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754879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009 CTZ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4663440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24328" y="4754879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663440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3448" y="4754879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 →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212079"/>
            <a:ext cx="201168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5303519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010 MAX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5212079"/>
            <a:ext cx="438912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24328" y="5303519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a=10, b=20; max+sub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5212079"/>
            <a:ext cx="478231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13448" y="5303519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20 →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Bug evidence: control guards and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Invalid captured requests require zero result and error=1 under the adopted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19456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19842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965960"/>
            <a:ext cx="4416552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2075688"/>
            <a:ext cx="420624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Invalid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4032" y="1965960"/>
            <a:ext cx="457200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075688"/>
            <a:ext cx="436168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19456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006 • 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468880"/>
            <a:ext cx="441655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7208" y="256032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Empty ap; no CSR 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4032" y="2468880"/>
            <a:ext cx="457200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256032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error=0 instead of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19456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0896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007 • Major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017520"/>
            <a:ext cx="441655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310896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SLT or MAX without SUB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4032" y="3017520"/>
            <a:ext cx="457200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310896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error=0; MAX may return nonzero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219456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008 • Major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566160"/>
            <a:ext cx="4416552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7208" y="365760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GREV with b[4:0]=5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4032" y="3566160"/>
            <a:ext cx="4572000" cy="52578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365760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error=0 under CLARIF-004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34256"/>
            <a:ext cx="11183112" cy="1207008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4334256"/>
            <a:ext cx="50292" cy="120700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425696"/>
            <a:ext cx="10817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Recorded assumptions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1081735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001: timing/reset/scan   •   004: invalid GREV   •   005: pure CSR read versus conflict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Assertion and coverage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Use properties, functional bins, and code metrics together to build a verification stack that is both rigorous and CI-friendly.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577840" cy="3648456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212079" cy="341689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reset_suppresses_error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reset_clears_result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result_holds_when_invalid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valid_result_is_registered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one_primary_operation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empty_valid_request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live_error_when_invalid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csr_conflict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>
                <a:solidFill>
                  <a:srgbClr val="EFF5F4"/>
                </a:solidFill>
                <a:latin typeface="IBM Plex Sans"/>
              </a:rPr>
              <a:t>sh2add_requires_zba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sub_rejects_zba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slt_requires_sub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max_requires_sub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rPr sz="1200" b="0" dirty="0" err="1">
                <a:solidFill>
                  <a:srgbClr val="EFF5F4"/>
                </a:solidFill>
                <a:latin typeface="IBM Plex Sans"/>
              </a:rPr>
              <a:t>grev_encoding</a:t>
            </a:r>
            <a:endParaRPr sz="1200" b="0" dirty="0">
              <a:solidFill>
                <a:srgbClr val="EFF5F4"/>
              </a:solidFill>
              <a:latin typeface="IBM Plex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27648" y="1965960"/>
            <a:ext cx="5358384" cy="160020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7648" y="1965960"/>
            <a:ext cx="50292" cy="1600200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03120"/>
            <a:ext cx="4992624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Functional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79191"/>
            <a:ext cx="4992624" cy="8138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Operations × patterns; valid/error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Shift/index; CTZ/CPOP count;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794760"/>
            <a:ext cx="5358384" cy="181051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3794760"/>
            <a:ext cx="50292" cy="1810512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931920"/>
            <a:ext cx="4992624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Measurement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507992"/>
            <a:ext cx="4992624" cy="10241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11/13 assertion coverage ≠ pass 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3 scored expressions ≠ every expression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65.01% toggles; no FSM 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Reproduce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Run from the repository root with Xcelium and a working Cadence license.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3291840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10817352" cy="30175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# Passing setup checks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make -C sim run TEST=</a:t>
            </a:r>
            <a:r>
              <a:rPr sz="1400" b="0" dirty="0" err="1">
                <a:solidFill>
                  <a:srgbClr val="EFF5F4"/>
                </a:solidFill>
                <a:latin typeface="IBM Plex Sans"/>
              </a:rPr>
              <a:t>bmu_model_self_test</a:t>
            </a:r>
            <a:r>
              <a:rPr sz="1400" b="0" dirty="0">
                <a:solidFill>
                  <a:srgbClr val="EFF5F4"/>
                </a:solidFill>
                <a:latin typeface="IBM Plex Sans"/>
              </a:rPr>
              <a:t>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make -C sim run TEST=</a:t>
            </a:r>
            <a:r>
              <a:rPr sz="1400" b="0" dirty="0" err="1">
                <a:solidFill>
                  <a:srgbClr val="EFF5F4"/>
                </a:solidFill>
                <a:latin typeface="IBM Plex Sans"/>
              </a:rPr>
              <a:t>bmu_timing_reset_test</a:t>
            </a:r>
            <a:r>
              <a:rPr sz="1400" b="0" dirty="0">
                <a:solidFill>
                  <a:srgbClr val="EFF5F4"/>
                </a:solidFill>
                <a:latin typeface="IBM Plex Sans"/>
              </a:rPr>
              <a:t>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endParaRPr sz="1400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# Full regression and isolated MAX failure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make -C sim regression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make -C sim run TEST=bmu_bug_010_test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endParaRPr sz="1400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>
                <a:solidFill>
                  <a:srgbClr val="EFF5F4"/>
                </a:solidFill>
                <a:latin typeface="IBM Plex Sans"/>
              </a:rPr>
              <a:t># Coverage extraction after the coverage 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rPr sz="1400" b="0" dirty="0" err="1">
                <a:solidFill>
                  <a:srgbClr val="EFF5F4"/>
                </a:solidFill>
                <a:latin typeface="IBM Plex Sans"/>
              </a:rPr>
              <a:t>imc</a:t>
            </a:r>
            <a:r>
              <a:rPr sz="1400" b="0" dirty="0">
                <a:solidFill>
                  <a:srgbClr val="EFF5F4"/>
                </a:solidFill>
                <a:latin typeface="IBM Plex Sans"/>
              </a:rPr>
              <a:t> -exec sim/scripts/</a:t>
            </a:r>
            <a:r>
              <a:rPr sz="1400" b="0" dirty="0" err="1">
                <a:solidFill>
                  <a:srgbClr val="EFF5F4"/>
                </a:solidFill>
                <a:latin typeface="IBM Plex Sans"/>
              </a:rPr>
              <a:t>report_coverage.tcl</a:t>
            </a:r>
            <a:endParaRPr sz="1400" b="0" dirty="0">
              <a:solidFill>
                <a:srgbClr val="EFF5F4"/>
              </a:solidFill>
              <a:latin typeface="IBM Plex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C66A20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Expected DUT failures remain failures. Zero UVM fatals does not mean every test passed.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rPr sz="1000" b="1">
                <a:solidFill>
                  <a:srgbClr val="CDEF55"/>
                </a:solidFill>
                <a:latin typeface="IBM Plex Mono"/>
              </a:rPr>
              <a:t>APPENDIX /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rPr sz="2500" b="1">
                <a:solidFill>
                  <a:srgbClr val="EFF5F4"/>
                </a:solidFill>
                <a:latin typeface="IBM Plex Sans"/>
              </a:rPr>
              <a:t>Where to find the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The README is the project walkthrough; these files hold the detailed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rPr sz="900" b="0">
                <a:solidFill>
                  <a:srgbClr val="A4B5B9"/>
                </a:solidFill>
                <a:latin typeface="IBM Plex Sans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383280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31729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965960"/>
            <a:ext cx="7799831" cy="475488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95928" y="2075688"/>
            <a:ext cx="7589519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Repository artifact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560320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was required?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468880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5928" y="2560320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docs/00_spec/BMU_Specification_v1.2.pdf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099816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was tested?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008376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95928" y="3099816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docs/02_test_plan/BMU_Test_Plan.md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47872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39312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failed?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547872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95928" y="3639312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docs/04_bug_reports/BMU_Bug_Log.md + results/bugs/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87368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178807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ran?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087368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28" y="4178807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results/reports/regression_summary.csv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26864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4718303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produced the results?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4626864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95928" y="4718303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results/reports/run_manifest.json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66359"/>
            <a:ext cx="3383280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257799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What are the limits?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5166359"/>
            <a:ext cx="7799831" cy="516635"/>
          </a:xfrm>
          <a:prstGeom prst="rect">
            <a:avLst/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95928" y="5257799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rPr b="0">
                <a:solidFill>
                  <a:srgbClr val="EFF5F4"/>
                </a:solidFill>
                <a:latin typeface="IBM Plex Sans"/>
              </a:rPr>
              <a:t>docs/08_signoff/BMU_Signoff_Report.md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121D2D"/>
          </a:solidFill>
          <a:ln w="1">
            <a:solidFill>
              <a:srgbClr val="30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r>
              <a:t>Evidence 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" y="0"/>
            <a:ext cx="0" cy="5"/>
          </a:xfrm>
          <a:prstGeom prst="rect">
            <a:avLst/>
          </a:prstGeom>
          <a:solidFill>
            <a:srgbClr val="304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" y="1"/>
            <a:ext cx="0" cy="0"/>
          </a:xfrm>
          <a:prstGeom prst="ellipse">
            <a:avLst/>
          </a:prstGeom>
          <a:solidFill>
            <a:srgbClr val="2C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2" y="3"/>
            <a:ext cx="0" cy="0"/>
          </a:xfrm>
          <a:prstGeom prst="ellipse">
            <a:avLst/>
          </a:prstGeom>
          <a:solidFill>
            <a:srgbClr val="CDE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2" y="5"/>
            <a:ext cx="0" cy="0"/>
          </a:xfrm>
          <a:prstGeom prst="ellipse">
            <a:avLst/>
          </a:prstGeom>
          <a:solidFill>
            <a:srgbClr val="FF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" y="6"/>
            <a:ext cx="0" cy="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r"/>
            <a:r>
              <a:rPr sz="900" b="1">
                <a:solidFill>
                  <a:srgbClr val="CDEF55"/>
                </a:solidFill>
                <a:latin typeface="IBM Plex Mono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2701</Words>
  <Application>Microsoft Office PowerPoint</Application>
  <PresentationFormat>Widescreen</PresentationFormat>
  <Paragraphs>522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BMU Verification | From Specification to Bug Evidence</dc:title>
  <dc:subject>Training project: original-DUT verification, findings, and exploratory RTL corrections</dc:subject>
  <dc:creator>JHT127</dc:creator>
  <cp:keywords>BMU, SystemVerilog, UVM, verification, functional coverage</cp:keywords>
  <dc:description>generated using python-pptx</dc:description>
  <cp:lastModifiedBy>Luna Thaher</cp:lastModifiedBy>
  <cp:revision>3</cp:revision>
  <dcterms:created xsi:type="dcterms:W3CDTF">2013-01-27T09:14:16Z</dcterms:created>
  <dcterms:modified xsi:type="dcterms:W3CDTF">2026-09-23T14:44:29Z</dcterms:modified>
  <cp:category/>
</cp:coreProperties>
</file>