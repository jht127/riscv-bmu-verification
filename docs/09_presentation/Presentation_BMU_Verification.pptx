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28020" autoAdjust="0"/>
  </p:normalViewPr>
  <p:slideViewPr>
    <p:cSldViewPr snapToGrid="0" snapToObjects="1">
      <p:cViewPr varScale="1">
        <p:scale>
          <a:sx n="18" d="100"/>
          <a:sy n="18" d="100"/>
        </p:scale>
        <p:origin x="271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873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BMU VERIFICATION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From specification to bug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6" name="TextBox 5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00800" cy="150876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200" b="1">
                <a:solidFill>
                  <a:srgbClr val="20334E"/>
                </a:solidFill>
                <a:latin typeface="Aptos"/>
              </a:defRPr>
            </a:pPr>
            <a:r>
              <a:t>A 32-bit BMU.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200" b="1">
                <a:solidFill>
                  <a:srgbClr val="20334E"/>
                </a:solidFill>
                <a:latin typeface="Aptos"/>
              </a:defRPr>
            </a:pPr>
            <a:r>
              <a:t>A complete verification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6309360" cy="9144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t>SystemVerilog + UVM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t>Directed + random testing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t>Assertions +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810512"/>
            <a:ext cx="4096512" cy="1060704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52360" y="1810512"/>
            <a:ext cx="50292" cy="1060704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01952"/>
            <a:ext cx="37307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563B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368296"/>
            <a:ext cx="3730752" cy="4754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operation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044952"/>
            <a:ext cx="4096512" cy="1060704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3044952"/>
            <a:ext cx="50292" cy="1060704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3136392"/>
            <a:ext cx="37307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87F83"/>
                </a:solidFill>
                <a:latin typeface="Aptos"/>
              </a:defRPr>
            </a:pPr>
            <a:r>
              <a:t>562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602736"/>
            <a:ext cx="3730752" cy="4754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functional bins hit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279392"/>
            <a:ext cx="4096512" cy="1060704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4279392"/>
            <a:ext cx="50292" cy="1060704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4370831"/>
            <a:ext cx="37307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C66A2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837176"/>
            <a:ext cx="3730752" cy="4754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open DUT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10328"/>
            <a:ext cx="6172200" cy="5303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t>Original RTL. Reproducible failures.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Follow one MAX request from sequence creation to root-cause evidence.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INTERACTIVE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The route through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Click a section to jump there. Use MENU on any slide to return.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502920" y="2011680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502920" y="2011680"/>
            <a:ext cx="50292" cy="1444752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685800" y="2148840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t>01  Understand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685800" y="2724912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Specification, controls, timing, DUT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4297680" y="2011680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hlinkClick r:id="rId5" action="ppaction://hlinksldjump"/>
          </p:cNvPr>
          <p:cNvSpPr/>
          <p:nvPr/>
        </p:nvSpPr>
        <p:spPr>
          <a:xfrm>
            <a:off x="4297680" y="2011680"/>
            <a:ext cx="50292" cy="144475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hlinkClick r:id="rId5" action="ppaction://hlinksldjump"/>
          </p:cNvPr>
          <p:cNvSpPr txBox="1"/>
          <p:nvPr/>
        </p:nvSpPr>
        <p:spPr>
          <a:xfrm>
            <a:off x="4480560" y="2148840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t>02  Follow a request</a:t>
            </a:r>
          </a:p>
        </p:txBody>
      </p:sp>
      <p:sp>
        <p:nvSpPr>
          <p:cNvPr id="16" name="TextBox 15">
            <a:hlinkClick r:id="rId5" action="ppaction://hlinksldjump"/>
          </p:cNvPr>
          <p:cNvSpPr txBox="1"/>
          <p:nvPr/>
        </p:nvSpPr>
        <p:spPr>
          <a:xfrm>
            <a:off x="4480560" y="2724912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Environment and MAX transaction</a:t>
            </a:r>
          </a:p>
        </p:txBody>
      </p:sp>
      <p:sp>
        <p:nvSpPr>
          <p:cNvPr id="17" name="Rounded Rectangle 16">
            <a:hlinkClick r:id="rId6" action="ppaction://hlinksldjump"/>
          </p:cNvPr>
          <p:cNvSpPr/>
          <p:nvPr/>
        </p:nvSpPr>
        <p:spPr>
          <a:xfrm>
            <a:off x="8092440" y="2011680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hlinkClick r:id="rId6" action="ppaction://hlinksldjump"/>
          </p:cNvPr>
          <p:cNvSpPr/>
          <p:nvPr/>
        </p:nvSpPr>
        <p:spPr>
          <a:xfrm>
            <a:off x="8092440" y="2011680"/>
            <a:ext cx="50292" cy="144475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hlinkClick r:id="rId6" action="ppaction://hlinksldjump"/>
          </p:cNvPr>
          <p:cNvSpPr txBox="1"/>
          <p:nvPr/>
        </p:nvSpPr>
        <p:spPr>
          <a:xfrm>
            <a:off x="8275320" y="2148840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t>03  Test the design</a:t>
            </a:r>
          </a:p>
        </p:txBody>
      </p:sp>
      <p:sp>
        <p:nvSpPr>
          <p:cNvPr id="20" name="TextBox 19">
            <a:hlinkClick r:id="rId6" action="ppaction://hlinksldjump"/>
          </p:cNvPr>
          <p:cNvSpPr txBox="1"/>
          <p:nvPr/>
        </p:nvSpPr>
        <p:spPr>
          <a:xfrm>
            <a:off x="8275320" y="2724912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Directed, random, assertions</a:t>
            </a:r>
          </a:p>
        </p:txBody>
      </p:sp>
      <p:sp>
        <p:nvSpPr>
          <p:cNvPr id="21" name="Rounded Rectangle 20">
            <a:hlinkClick r:id="rId7" action="ppaction://hlinksldjump"/>
          </p:cNvPr>
          <p:cNvSpPr/>
          <p:nvPr/>
        </p:nvSpPr>
        <p:spPr>
          <a:xfrm>
            <a:off x="502920" y="3685032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hlinkClick r:id="rId7" action="ppaction://hlinksldjump"/>
          </p:cNvPr>
          <p:cNvSpPr/>
          <p:nvPr/>
        </p:nvSpPr>
        <p:spPr>
          <a:xfrm>
            <a:off x="502920" y="3685032"/>
            <a:ext cx="50292" cy="1444752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hlinkClick r:id="rId7" action="ppaction://hlinksldjump"/>
          </p:cNvPr>
          <p:cNvSpPr txBox="1"/>
          <p:nvPr/>
        </p:nvSpPr>
        <p:spPr>
          <a:xfrm>
            <a:off x="685800" y="3822192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50" b="1">
                <a:solidFill>
                  <a:srgbClr val="C66A20"/>
                </a:solidFill>
                <a:latin typeface="Aptos"/>
              </a:defRPr>
            </a:pPr>
            <a:r>
              <a:t>04  Measure + debug</a:t>
            </a:r>
          </a:p>
        </p:txBody>
      </p:sp>
      <p:sp>
        <p:nvSpPr>
          <p:cNvPr id="24" name="TextBox 23">
            <a:hlinkClick r:id="rId7" action="ppaction://hlinksldjump"/>
          </p:cNvPr>
          <p:cNvSpPr txBox="1"/>
          <p:nvPr/>
        </p:nvSpPr>
        <p:spPr>
          <a:xfrm>
            <a:off x="685800" y="4398264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Coverage, results, nine findings</a:t>
            </a:r>
          </a:p>
        </p:txBody>
      </p:sp>
      <p:sp>
        <p:nvSpPr>
          <p:cNvPr id="25" name="Rounded Rectangle 24">
            <a:hlinkClick r:id="rId8" action="ppaction://hlinksldjump"/>
          </p:cNvPr>
          <p:cNvSpPr/>
          <p:nvPr/>
        </p:nvSpPr>
        <p:spPr>
          <a:xfrm>
            <a:off x="4297680" y="3685032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hlinkClick r:id="rId8" action="ppaction://hlinksldjump"/>
          </p:cNvPr>
          <p:cNvSpPr/>
          <p:nvPr/>
        </p:nvSpPr>
        <p:spPr>
          <a:xfrm>
            <a:off x="4297680" y="3685032"/>
            <a:ext cx="50292" cy="1444752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8" action="ppaction://hlinksldjump"/>
          </p:cNvPr>
          <p:cNvSpPr txBox="1"/>
          <p:nvPr/>
        </p:nvSpPr>
        <p:spPr>
          <a:xfrm>
            <a:off x="4480560" y="3822192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t>05  Correct + close</a:t>
            </a:r>
          </a:p>
        </p:txBody>
      </p:sp>
      <p:sp>
        <p:nvSpPr>
          <p:cNvPr id="28" name="TextBox 27">
            <a:hlinkClick r:id="rId8" action="ppaction://hlinksldjump"/>
          </p:cNvPr>
          <p:cNvSpPr txBox="1"/>
          <p:nvPr/>
        </p:nvSpPr>
        <p:spPr>
          <a:xfrm>
            <a:off x="4480560" y="4398264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Existing fix code and validation gate</a:t>
            </a:r>
          </a:p>
        </p:txBody>
      </p:sp>
      <p:sp>
        <p:nvSpPr>
          <p:cNvPr id="29" name="Rounded Rectangle 28">
            <a:hlinkClick r:id="rId9" action="ppaction://hlinksldjump"/>
          </p:cNvPr>
          <p:cNvSpPr/>
          <p:nvPr/>
        </p:nvSpPr>
        <p:spPr>
          <a:xfrm>
            <a:off x="8092440" y="3685032"/>
            <a:ext cx="3593592" cy="144475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hlinkClick r:id="rId9" action="ppaction://hlinksldjump"/>
          </p:cNvPr>
          <p:cNvSpPr/>
          <p:nvPr/>
        </p:nvSpPr>
        <p:spPr>
          <a:xfrm>
            <a:off x="8092440" y="3685032"/>
            <a:ext cx="50292" cy="144475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hlinkClick r:id="rId9" action="ppaction://hlinksldjump"/>
          </p:cNvPr>
          <p:cNvSpPr txBox="1"/>
          <p:nvPr/>
        </p:nvSpPr>
        <p:spPr>
          <a:xfrm>
            <a:off x="8275320" y="3822192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t>06  Explore details</a:t>
            </a:r>
          </a:p>
        </p:txBody>
      </p:sp>
      <p:sp>
        <p:nvSpPr>
          <p:cNvPr id="32" name="TextBox 31">
            <a:hlinkClick r:id="rId9" action="ppaction://hlinksldjump"/>
          </p:cNvPr>
          <p:cNvSpPr txBox="1"/>
          <p:nvPr/>
        </p:nvSpPr>
        <p:spPr>
          <a:xfrm>
            <a:off x="8275320" y="4398264"/>
            <a:ext cx="322783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Operations, evidence, commands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Audience checkpoints: predict a result • classify a failure • interpret coverage.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What does this BMU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32-bit operands in; a registered result and a live error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6816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56816"/>
            <a:ext cx="50292" cy="146304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9397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t>Logic and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0048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OR, XOR, SRL, SRA, ROR, BINV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56816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56816"/>
            <a:ext cx="50292" cy="146304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09397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t>Arithmetic and 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70048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SH2ADD, SUB, SLT/SLTU, signed 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66744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66744"/>
            <a:ext cx="50292" cy="146304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t>Count and rearrange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9976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CTZ, CPOP, SEXT.B, PACK, GREV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66744"/>
            <a:ext cx="5486400" cy="146304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66744"/>
            <a:ext cx="50292" cy="146304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03904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t>CSR data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79976"/>
            <a:ext cx="5120640" cy="6766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Bypass read and write-data selection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t>Predict: CPOP(0xFFFF0000) = ?   Keep your answer for the bug review.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Turn the specification into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Example requirement: signed MAX selects the larger operand and requires SUB.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0292" cy="170992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Signed MAX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max=1, sub=1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108960"/>
            <a:ext cx="1737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5848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2240280"/>
            <a:ext cx="50292" cy="170992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8728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STIMULUS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a=10, b=20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valid_in=1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07608" y="3108960"/>
            <a:ext cx="1737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08776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08776" y="2240280"/>
            <a:ext cx="50292" cy="170992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result=20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error=0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0536" y="3108960"/>
            <a:ext cx="1737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61704" y="2240280"/>
            <a:ext cx="2633472" cy="1709928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61704" y="2240280"/>
            <a:ext cx="50292" cy="170992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44584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53512"/>
            <a:ext cx="2267712" cy="9235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Compare + log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cover scenario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15968"/>
            <a:ext cx="5486400" cy="1069848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315968"/>
            <a:ext cx="50292" cy="1069848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407407"/>
            <a:ext cx="5120640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C66A20"/>
                </a:solidFill>
                <a:latin typeface="Aptos"/>
              </a:defRPr>
            </a:pPr>
            <a:r>
              <a:t>Negative companion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73752"/>
            <a:ext cx="5120640" cy="48463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500" b="0">
                <a:solidFill>
                  <a:srgbClr val="20334E"/>
                </a:solidFill>
                <a:latin typeface="Aptos"/>
              </a:defRPr>
            </a:pPr>
            <a:r>
              <a:t>Remove SUB: require error=1 and captured result=0.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315968"/>
            <a:ext cx="5486400" cy="1069848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99632" y="4315968"/>
            <a:ext cx="50292" cy="1069848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4407407"/>
            <a:ext cx="5120640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7352AD"/>
                </a:solidFill>
                <a:latin typeface="Aptos"/>
              </a:defRPr>
            </a:pPr>
            <a:r>
              <a:t>Record ambiguities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873752"/>
            <a:ext cx="5120640" cy="48463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Timing, GREV invalid encoding, CSR conflicts.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63B7"/>
                </a:solidFill>
                <a:latin typeface="Aptos"/>
              </a:defRPr>
            </a:pPr>
            <a:r>
              <a:t>One selected operation can require several control bits. “Legal” is not simply one-hot.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The interface contract determines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No ready signal. No output-valid handshake. valid_in enables result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3172968" cy="342900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0292" cy="342900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2807208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1"/>
            <a:ext cx="2807208" cy="2642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a_in, b_in: 32 bits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ap: 42 control bits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CSR enable + read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rst_l, valid_in, scan_mode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965960"/>
            <a:ext cx="7662672" cy="100584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1965960"/>
            <a:ext cx="50292" cy="100584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057400"/>
            <a:ext cx="7296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563B7"/>
                </a:solidFill>
                <a:latin typeface="Aptos"/>
              </a:defRPr>
            </a:pPr>
            <a:r>
              <a:t>Falling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523744"/>
            <a:ext cx="7296912" cy="42062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Driver applies 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136391"/>
            <a:ext cx="7662672" cy="1005840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0" y="3136391"/>
            <a:ext cx="50292" cy="1005840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3227832"/>
            <a:ext cx="7296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7352AD"/>
                </a:solidFill>
                <a:latin typeface="Aptos"/>
              </a:defRPr>
            </a:pPr>
            <a:r>
              <a:t>Between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694176"/>
            <a:ext cx="7296912" cy="42062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Combinational paths settle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306824"/>
            <a:ext cx="7662672" cy="100584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4306824"/>
            <a:ext cx="50292" cy="100584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06240" y="4398264"/>
            <a:ext cx="7296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087F83"/>
                </a:solidFill>
                <a:latin typeface="Aptos"/>
              </a:defRPr>
            </a:pPr>
            <a:r>
              <a:t>Rising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64608"/>
            <a:ext cx="7296912" cy="42062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Capture result; monitor samples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t>valid_in=0 → result holds. Invalid controls can still assert the live error output.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01 /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Inside the DUT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Parallel datapaths feed a combined result; implemented error logic gates capture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0292" cy="164592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155448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1"/>
            <a:ext cx="1554480" cy="85953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a, b, 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CSR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2024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1920240"/>
            <a:ext cx="50292" cy="71323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2039112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t>Logic / CSR read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441448" y="2276856"/>
            <a:ext cx="411480" cy="969264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33288" y="2276856"/>
            <a:ext cx="758952" cy="969264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278892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80360" y="2788920"/>
            <a:ext cx="50292" cy="71323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40" y="2907791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t>Adder / compare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441448" y="3145536"/>
            <a:ext cx="411480" cy="100584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33288" y="3145536"/>
            <a:ext cx="758952" cy="100584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80360" y="365760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80360" y="3657600"/>
            <a:ext cx="50292" cy="71323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40" y="3776472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t>Shift / rotate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41448" y="3246120"/>
            <a:ext cx="411480" cy="768095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33288" y="3246120"/>
            <a:ext cx="758952" cy="768095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80360" y="4526280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80360" y="4526280"/>
            <a:ext cx="50292" cy="71323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63240" y="4645152"/>
            <a:ext cx="2468880" cy="512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t>Count / pack / bits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41448" y="3246120"/>
            <a:ext cx="411480" cy="1636776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733288" y="3246120"/>
            <a:ext cx="758952" cy="1636776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19672" y="2468880"/>
            <a:ext cx="2084831" cy="1618488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19672" y="2468880"/>
            <a:ext cx="50292" cy="161848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02552" y="2606040"/>
            <a:ext cx="171907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t>Combine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3182112"/>
            <a:ext cx="1719072" cy="83210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Masked 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error → zero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2468880"/>
            <a:ext cx="2542032" cy="1618488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44000" y="2468880"/>
            <a:ext cx="50292" cy="161848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2606040"/>
            <a:ext cx="217627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1">
                <a:solidFill>
                  <a:srgbClr val="2563B7"/>
                </a:solidFill>
                <a:latin typeface="Aptos"/>
              </a:defRPr>
            </a:pPr>
            <a:r>
              <a:t>Result register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182112"/>
            <a:ext cx="2176272" cy="83210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result_ff[31:0]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reset / enable / hold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31936" y="3246120"/>
            <a:ext cx="466344" cy="0"/>
          </a:xfrm>
          <a:prstGeom prst="line">
            <a:avLst/>
          </a:prstGeom>
          <a:ln w="25400">
            <a:solidFill>
              <a:srgbClr val="087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519672" y="4434840"/>
            <a:ext cx="5166360" cy="832104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19672" y="4434840"/>
            <a:ext cx="50292" cy="832104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02552" y="4553712"/>
            <a:ext cx="4800600" cy="63093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50" b="1">
                <a:solidFill>
                  <a:srgbClr val="C66A20"/>
                </a:solidFill>
                <a:latin typeface="Aptos"/>
              </a:defRPr>
            </a:pPr>
            <a:r>
              <a:t>Live error: implemented guards are incomplete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543800" y="4105656"/>
            <a:ext cx="0" cy="301752"/>
          </a:xfrm>
          <a:prstGeom prst="line">
            <a:avLst/>
          </a:prstGeom>
          <a:ln w="25400">
            <a:solidFill>
              <a:srgbClr val="C66A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Data bugs and missing control guards need different checks.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02 / FOLLOW A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The UVM environment: two flows, one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Stimulus travels toward the DUT. Observations fan out to checking and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50292" cy="82296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993392"/>
            <a:ext cx="50292" cy="82296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Sequencer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1993392"/>
            <a:ext cx="50292" cy="82296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Driver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993392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23760" y="1993392"/>
            <a:ext cx="50292" cy="82296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2112264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993392"/>
            <a:ext cx="2221992" cy="82296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64040" y="1993392"/>
            <a:ext cx="50292" cy="82296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19" y="2112264"/>
            <a:ext cx="185623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DUT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1772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98280" y="2395728"/>
            <a:ext cx="31089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23760" y="3355848"/>
            <a:ext cx="1856231" cy="82296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23760" y="3355848"/>
            <a:ext cx="50292" cy="82296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3474720"/>
            <a:ext cx="149047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Monitor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47304" y="2834640"/>
            <a:ext cx="0" cy="475488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77639" y="3355848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77639" y="3355848"/>
            <a:ext cx="50292" cy="822960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3474720"/>
            <a:ext cx="210312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t>Reference model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483096" y="3767328"/>
            <a:ext cx="713232" cy="0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977639" y="4773168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977639" y="4773168"/>
            <a:ext cx="50292" cy="82296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4892040"/>
            <a:ext cx="210312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087F83"/>
                </a:solidFill>
                <a:latin typeface="Aptos"/>
              </a:defRPr>
            </a:pPr>
            <a:r>
              <a:t>Scoreboard + checker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12080" y="4206240"/>
            <a:ext cx="0" cy="530352"/>
          </a:xfrm>
          <a:prstGeom prst="line">
            <a:avLst/>
          </a:prstGeom>
          <a:ln w="25400">
            <a:solidFill>
              <a:srgbClr val="7352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96512" y="4315968"/>
            <a:ext cx="1005840" cy="2286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7352AD"/>
                </a:solidFill>
                <a:latin typeface="Aptos"/>
              </a:defRPr>
            </a:pPr>
            <a:r>
              <a:t>expected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483096" y="4215384"/>
            <a:ext cx="1289304" cy="859536"/>
          </a:xfrm>
          <a:prstGeom prst="line">
            <a:avLst/>
          </a:prstGeom>
          <a:ln w="25400">
            <a:solidFill>
              <a:srgbClr val="087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03720" y="4517136"/>
            <a:ext cx="548640" cy="2286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087F83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4389120"/>
            <a:ext cx="2221992" cy="941832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464040" y="4389120"/>
            <a:ext cx="50292" cy="94183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46919" y="4480559"/>
            <a:ext cx="18562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087F83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19" y="4946904"/>
            <a:ext cx="185623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20334E"/>
                </a:solidFill>
                <a:latin typeface="Aptos"/>
              </a:defRPr>
            </a:pPr>
            <a:r>
              <a:t>Scenarios exercised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07424" y="3794760"/>
            <a:ext cx="1362456" cy="566928"/>
          </a:xfrm>
          <a:prstGeom prst="line">
            <a:avLst/>
          </a:prstGeom>
          <a:ln w="25400">
            <a:solidFill>
              <a:srgbClr val="087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464040" y="3154680"/>
            <a:ext cx="2221992" cy="82296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464040" y="3154680"/>
            <a:ext cx="50292" cy="822960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46919" y="3273552"/>
            <a:ext cx="185623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t>Assertions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69680" y="2852928"/>
            <a:ext cx="548640" cy="667512"/>
          </a:xfrm>
          <a:prstGeom prst="line">
            <a:avLst/>
          </a:prstGeom>
          <a:ln w="25400">
            <a:solidFill>
              <a:srgbClr val="C66A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089136" y="2990088"/>
            <a:ext cx="374904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491472" y="2807208"/>
            <a:ext cx="1828800" cy="2194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0">
                <a:solidFill>
                  <a:srgbClr val="586B82"/>
                </a:solidFill>
                <a:latin typeface="Aptos"/>
              </a:defRPr>
            </a:pPr>
            <a:r>
              <a:t>DUT outputs to interface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3355848"/>
            <a:ext cx="2926080" cy="8869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586B82"/>
                </a:solidFill>
                <a:latin typeface="Aptos"/>
              </a:defRPr>
            </a:pPr>
            <a:r>
              <a:t>Active agent: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0">
                <a:solidFill>
                  <a:srgbClr val="586B82"/>
                </a:solidFill>
                <a:latin typeface="Aptos"/>
              </a:defRPr>
            </a:pPr>
            <a:r>
              <a:t>sequencer, driver, monitor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Predict from observed inputs. Compare both result_ff and error.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02 / FOLLOW A REQUEST •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Your turn: construct a legal MAX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Before revealing the DUT output, predict what should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75104"/>
            <a:ext cx="5486400" cy="3291840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5120640" cy="30175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// Transaction values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rst_l   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valid_in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ap.max  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ap.sub    = 1;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a_in      = 10;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b_in      = 20;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75104"/>
            <a:ext cx="5376672" cy="1325880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975104"/>
            <a:ext cx="50292" cy="1325880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66544"/>
            <a:ext cx="5010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8"/>
            <a:ext cx="5010912" cy="7406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Is max=1 alone a legal request?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47872"/>
            <a:ext cx="5376672" cy="132588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547872"/>
            <a:ext cx="50292" cy="1325880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639312"/>
            <a:ext cx="501091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05656"/>
            <a:ext cx="5010912" cy="7406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What are result_ff and error?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hlinkClick r:id="rId4" action="ppaction://hlinksldjump"/>
          </p:cNvPr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t>Think first. The next two slides reveal when the request is driven and what happens.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02 / FOLLOW A REQUEST •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The request becomes pin-level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Sequence → sequencer → driver → interface → DUT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458968" cy="2560320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093207" cy="22860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t>// UVM handshake — simplified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t>start_item(req);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t>// fill request fields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t>finish_item(req);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Consolas"/>
              </a:defRPr>
            </a:pPr>
            <a:r>
              <a:t>// Driver: get → drive → item_done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468112" cy="9418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50292" cy="941832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102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t>10 ns: falling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510235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Drive MAX, SUB, a=10, b=20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468112" cy="94183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063239"/>
            <a:ext cx="50292" cy="94183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154679"/>
            <a:ext cx="5102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7352AD"/>
                </a:solidFill>
                <a:latin typeface="Aptos"/>
              </a:defRPr>
            </a:pPr>
            <a:r>
              <a:t>10–15 ns: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21023"/>
            <a:ext cx="510235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Result path and live error settle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60520"/>
            <a:ext cx="5468112" cy="941832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160520"/>
            <a:ext cx="50292" cy="94183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59"/>
            <a:ext cx="5102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t>15 ns: rising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18304"/>
            <a:ext cx="5102352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Register updates; monitor samples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700016"/>
            <a:ext cx="5303520" cy="80467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t>Driver completion means the item was driven.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0">
                <a:solidFill>
                  <a:srgbClr val="586B82"/>
                </a:solidFill>
                <a:latin typeface="Aptos"/>
              </a:defRPr>
            </a:pPr>
            <a:r>
              <a:t>The scoreboard determines correctness.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hlinkClick r:id="rId4" action="ppaction://hlinksldjump"/>
          </p:cNvPr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63B7"/>
                </a:solidFill>
                <a:latin typeface="Aptos"/>
              </a:defRPr>
            </a:pPr>
            <a:r>
              <a:t>Expected after capture: result_ff=20, error=0. The next slide reveals the actual result.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02 / FOLLOW A REQUEST •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The scoreboard exposes the MAX defect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Same observed request. Independent prediction. Different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3383280" cy="1920240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0292" cy="1920240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79"/>
            <a:ext cx="301752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t>EXPECTED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3017520" cy="11338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t>result_ff = 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t>error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383280" cy="192024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03120"/>
            <a:ext cx="50292" cy="1920240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79"/>
            <a:ext cx="301752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2"/>
            <a:ext cx="3017520" cy="11338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t>result_ff = 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0">
                <a:solidFill>
                  <a:srgbClr val="20334E"/>
                </a:solidFill>
                <a:latin typeface="Aptos"/>
              </a:defRPr>
            </a:pPr>
            <a:r>
              <a:t>error 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103120"/>
            <a:ext cx="3410712" cy="192024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2103120"/>
            <a:ext cx="50292" cy="192024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240279"/>
            <a:ext cx="304495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16352"/>
            <a:ext cx="3044952" cy="11338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0334E"/>
                </a:solidFill>
                <a:latin typeface="Aptos"/>
              </a:defRPr>
            </a:pPr>
            <a:r>
              <a:t>Mismatch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600" b="0">
                <a:solidFill>
                  <a:srgbClr val="20334E"/>
                </a:solidFill>
                <a:latin typeface="Aptos"/>
              </a:defRPr>
            </a:pPr>
            <a:r>
              <a:t>BMU-BUG-010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063240"/>
            <a:ext cx="402336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3063240"/>
            <a:ext cx="402336" cy="0"/>
          </a:xfrm>
          <a:prstGeom prst="line">
            <a:avLst/>
          </a:prstGeom>
          <a:ln w="25400">
            <a:solidFill>
              <a:srgbClr val="C66A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" y="4480560"/>
            <a:ext cx="11183112" cy="877824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645152"/>
            <a:ext cx="10817352" cy="60350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@ 15 ns   expected: 0x00000014 / error=0   actual: 0x0000000a / error=0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t>A scenario can be covered and incorrect at the same time.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02 / TRUST THE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Who checks the checker?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A useful failure must distinguish a DUT defect from a testbench mistake.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1472184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t>865 predictor self-checks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Legal, invalid, boundary and state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1472184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t>Passing setup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OR smoke and timing/reset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94176"/>
            <a:ext cx="50292" cy="1472184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087F83"/>
                </a:solidFill>
                <a:latin typeface="Aptos"/>
              </a:defRPr>
            </a:pPr>
            <a:r>
              <a:t>Complete comparisons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Result + error; four-state equality; queue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94176"/>
            <a:ext cx="50292" cy="1472184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t>Honest failure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UVM errors, assertions and incomplete runs fail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t>Prediction is independent of RTL. Coverage shares specification classification helpers.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03 / CHALLENGE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Directed testing asks precise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Select inputs because they target a requirement, a boundary, or a suspected defect.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42316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221284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3977639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075688"/>
            <a:ext cx="3767327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965960"/>
            <a:ext cx="4782312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75688"/>
            <a:ext cx="457200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Expected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242316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Nominal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468880"/>
            <a:ext cx="3977639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35808" y="256032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OR with known a and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468880"/>
            <a:ext cx="478231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3448" y="256032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Exact result and error=0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63240"/>
            <a:ext cx="2423160" cy="5715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15468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063240"/>
            <a:ext cx="3977639" cy="5715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35808" y="315468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CTZ(0); shift by 0 or 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63240"/>
            <a:ext cx="4782312" cy="5715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8" y="315468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Defined edge behavior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57600"/>
            <a:ext cx="242316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749039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Negative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657600"/>
            <a:ext cx="3977639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35808" y="3749039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MAX without SUB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657600"/>
            <a:ext cx="478231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13448" y="3749039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error=1; capture zero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51960"/>
            <a:ext cx="2423160" cy="5715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434340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Timing / reset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251960"/>
            <a:ext cx="3977639" cy="5715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35808" y="434340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valid_in=0; reset mid-traffic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251960"/>
            <a:ext cx="4782312" cy="5715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13448" y="434340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Hold, clear, recover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846320"/>
            <a:ext cx="242316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937760"/>
            <a:ext cx="2212848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Bug reproducer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4846320"/>
            <a:ext cx="3977639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35808" y="4937760"/>
            <a:ext cx="3767327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MAX(10,20)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4846320"/>
            <a:ext cx="478231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13448" y="4937760"/>
            <a:ext cx="4572000" cy="4754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Detect the isolated defect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Small, intentional tests explain failures quickly.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03 / CHALLENGE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Three kinds of random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Each family generates 100 requests per run; the monitored reset adds one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48256"/>
            <a:ext cx="3593592" cy="3054096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048256"/>
            <a:ext cx="50292" cy="3054096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85416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t>Legal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61488"/>
            <a:ext cx="3227832" cy="226771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Valid operation + legal modifiers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Broad operand combinations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Seeds 101 / 102 / 103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48256"/>
            <a:ext cx="3593592" cy="3054096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048256"/>
            <a:ext cx="50292" cy="3054096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185416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t>Corner 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61488"/>
            <a:ext cx="3227832" cy="226771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Independent corners for a and 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0, all ones, signed limits, patterns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Seeds 201 / 202 / 203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48256"/>
            <a:ext cx="3593592" cy="3054096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48256"/>
            <a:ext cx="50292" cy="3054096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185416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t>Error 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761488"/>
            <a:ext cx="3227832" cy="226771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Ten invalid-request classes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Conflicts and missing requirements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Aptos"/>
              </a:defRPr>
            </a:pPr>
            <a:r>
              <a:t>Seeds 301 / 302 / 303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2563B7"/>
                </a:solidFill>
                <a:latin typeface="Aptos"/>
              </a:defRPr>
            </a:pPr>
            <a:r>
              <a:t>Directed tests target known risks. Random tests explore combinations. Seeds reproduce stimulus.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03 / CHALLENGE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Assertions guard behavior across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The scoreboard checks data. Assertions express signal-level and temporal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11183112" cy="1024128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0817352" cy="74980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@(posedge clk) disable iff (!rst_l)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Consolas"/>
              </a:defRPr>
            </a:pPr>
            <a:r>
              <a:t>    !valid_in |=&gt; $stable(result_ff);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01568"/>
            <a:ext cx="3593592" cy="1819656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50292" cy="1819656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538728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3227832" cy="103327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t>Clear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t>Suppress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401568"/>
            <a:ext cx="3593592" cy="1819656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3401568"/>
            <a:ext cx="50292" cy="1819656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538728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087F83"/>
                </a:solidFill>
                <a:latin typeface="Aptos"/>
              </a:defRPr>
            </a:pPr>
            <a:r>
              <a:t>Timing / 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14800"/>
            <a:ext cx="3227832" cy="103327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t>Hold when disabled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t>Known enabled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401568"/>
            <a:ext cx="3593592" cy="1819656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401568"/>
            <a:ext cx="50292" cy="1819656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3538728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t>Control 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114800"/>
            <a:ext cx="3227832" cy="1033271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t>CSR conflict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0">
                <a:solidFill>
                  <a:srgbClr val="20334E"/>
                </a:solidFill>
                <a:latin typeface="Aptos"/>
              </a:defRPr>
            </a:pPr>
            <a:r>
              <a:t>Missing SUB / ZBA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7352AD"/>
                </a:solidFill>
                <a:latin typeface="Aptos"/>
              </a:defRPr>
            </a:pPr>
            <a:r>
              <a:t>Audience check: result holds, but error changes while valid_in=0. Is that allowed?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04 / MEASURE AND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Coverage measures exercise, not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Different coverage types answer different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75104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194560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087F83"/>
                </a:solidFill>
                <a:latin typeface="Aptos"/>
              </a:defRPr>
            </a:pPr>
            <a:r>
              <a:t>Functional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84831"/>
            <a:ext cx="6858000" cy="7589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Did we exercise the planned scenarios?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Operations, modes, count values, crosses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36392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355848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t>Code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6858000" cy="7589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Which RTL structures were exercised?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Blocks, scored expressions, toggles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4517136"/>
            <a:ext cx="3566160" cy="4572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t>Assertion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07408"/>
            <a:ext cx="6858000" cy="7589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Which properties were exercised?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Read coverage separately from failures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C66A20"/>
                </a:solidFill>
                <a:latin typeface="Aptos"/>
              </a:defRPr>
            </a:pPr>
            <a:r>
              <a:t>Can functional coverage be 100% while the DUT is wrong? Yes—this project demonstrates it.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04 / ADVANCED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Beyond smoke tests: systematic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Finite sweeps complement random testing and make coverage closure deliberate.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1472184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t>Control mutation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Legal base → add forbidden field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Also remove required SUB / ZBA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1472184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t>Boundary enumeration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32 shift/index values; counts 0–32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256 bytes; 32 GREV encodings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94176"/>
            <a:ext cx="50292" cy="1472184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t>Race-aware checking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Falling-edge drive, post-update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Reset/hold state in the predictor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94176"/>
            <a:ext cx="50292" cy="1472184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t>Reproducible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Effective seeds, isolated logs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Source and log SHA-256 fingerprints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t>Coverage closure uses 5,036 comparisons on the original DUT; failures remain visible.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04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Measured results: exercise achieved, bugs remain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Recorded baseline: 22 September 2026 • original DUT • coverage test seed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47672"/>
            <a:ext cx="3593592" cy="1289304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47672"/>
            <a:ext cx="50292" cy="1289304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32278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2563B7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3227832" cy="7040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runs: 3 pass / 23 fail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47672"/>
            <a:ext cx="3593592" cy="1289304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947672"/>
            <a:ext cx="50292" cy="1289304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039112"/>
            <a:ext cx="32278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87F83"/>
                </a:solidFill>
                <a:latin typeface="Aptos"/>
              </a:defRPr>
            </a:pPr>
            <a:r>
              <a:t>562 / 562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05456"/>
            <a:ext cx="3227832" cy="7040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functional bins hit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47672"/>
            <a:ext cx="3593592" cy="1289304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947672"/>
            <a:ext cx="50292" cy="1289304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039112"/>
            <a:ext cx="322783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C66A2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05456"/>
            <a:ext cx="3227832" cy="704087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open DUT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21024"/>
            <a:ext cx="2103120" cy="3108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3685032"/>
            <a:ext cx="5943600" cy="182880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488" y="3685032"/>
            <a:ext cx="5943600" cy="18288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3621024"/>
            <a:ext cx="2514600" cy="3383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087F83"/>
                </a:solidFill>
                <a:latin typeface="Aptos"/>
              </a:defRPr>
            </a:pPr>
            <a:r>
              <a:t>100.00%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15384"/>
            <a:ext cx="2103120" cy="3108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DUT blocks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4279392"/>
            <a:ext cx="5943600" cy="182880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61488" y="4279392"/>
            <a:ext cx="5943600" cy="18288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4215384"/>
            <a:ext cx="2514600" cy="3383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16 /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09744"/>
            <a:ext cx="2103120" cy="3108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DUT toggles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4873752"/>
            <a:ext cx="5943600" cy="182880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61488" y="4873752"/>
            <a:ext cx="3863934" cy="182880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06840" y="4809744"/>
            <a:ext cx="2514600" cy="3383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1">
                <a:solidFill>
                  <a:srgbClr val="2563B7"/>
                </a:solidFill>
                <a:latin typeface="Aptos"/>
              </a:defRPr>
            </a:pPr>
            <a:r>
              <a:t>1,230 / 1,892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C66A20"/>
                </a:solidFill>
                <a:latin typeface="Aptos"/>
              </a:defRPr>
            </a:pPr>
            <a:r>
              <a:t>3/3 scored expressions only. Toggle coverage is incomplete. No DUT correctness sign-off.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04 / BUG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Nine findings, four recurring defect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All open; one critical and eight major. Each has a seed-1 isolated reproducer.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1472184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2563B7"/>
                </a:solidFill>
                <a:latin typeface="Aptos"/>
              </a:defRPr>
            </a:pPr>
            <a:r>
              <a:t>Count / bit 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001: CPOP ignores upper half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009: CTZ reversal ordering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1472184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7352AD"/>
                </a:solidFill>
                <a:latin typeface="Aptos"/>
              </a:defRPr>
            </a:pPr>
            <a:r>
              <a:t>Data arrangement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002: PACK halves reversed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005: GREV swaps halfwords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694176"/>
            <a:ext cx="50292" cy="1472184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t>Source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003: CSR sources reversed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010: MAX chooses wrong operand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94176"/>
            <a:ext cx="5486400" cy="1472184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94176"/>
            <a:ext cx="50292" cy="1472184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31336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t>Missing rejection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07408"/>
            <a:ext cx="5120640" cy="68580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006: incomplete guards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007: missing SUB; 008: invalid GREV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50" b="1">
                <a:solidFill>
                  <a:srgbClr val="2563B7"/>
                </a:solidFill>
                <a:latin typeface="Aptos"/>
              </a:defRPr>
            </a:pPr>
            <a:r>
              <a:t>BUG-008 depends on CLARIF-004. BUG-004 was withdrawn; pure CSR bypass is legal.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04 / DEBUG ONE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MAX root cause: the selector is inverted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The isolated request removes unrelated controls and makes the cause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850392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10817352" cy="57607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0">
                <a:solidFill>
                  <a:srgbClr val="20334E"/>
                </a:solidFill>
                <a:latin typeface="Consolas"/>
              </a:defRPr>
            </a:pPr>
            <a:r>
              <a:t>bitmanip_minmax_sel_a = ge ^ ap_max;   // original RTL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3593592" cy="194767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0292" cy="1947672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383279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2563B7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59352"/>
            <a:ext cx="3227832" cy="11612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t>10 &gt;= 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t>ge = 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4178808"/>
            <a:ext cx="155448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3246120"/>
            <a:ext cx="3593592" cy="1947672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3246120"/>
            <a:ext cx="50292" cy="1947672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79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7352AD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59352"/>
            <a:ext cx="3227832" cy="11612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t>0 XOR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t>select_a =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178808"/>
            <a:ext cx="155448" cy="0"/>
          </a:xfrm>
          <a:prstGeom prst="line">
            <a:avLst/>
          </a:prstGeom>
          <a:ln w="25400">
            <a:solidFill>
              <a:srgbClr val="2563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92440" y="3246120"/>
            <a:ext cx="3593592" cy="194767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246120"/>
            <a:ext cx="50292" cy="1947672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3383279"/>
            <a:ext cx="322783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300" b="1">
                <a:solidFill>
                  <a:srgbClr val="C66A20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959352"/>
            <a:ext cx="3227832" cy="116128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t>a is selected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0">
                <a:solidFill>
                  <a:srgbClr val="20334E"/>
                </a:solidFill>
                <a:latin typeface="Aptos"/>
              </a:defRPr>
            </a:pPr>
            <a:r>
              <a:t>result =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Reproduce → isolate → inspect cause → propose correction → rerun related tests.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05 / CORRECT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What the exploratory RTL correction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The repository contains fix_v1 code. It is separate from the measured submission DUT.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11183112" cy="932688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10817352" cy="6583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Consolas"/>
              </a:defRPr>
            </a:pPr>
            <a:r>
              <a:t>// MAX: select using a signed comparison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Consolas"/>
              </a:defRPr>
            </a:pPr>
            <a:r>
              <a:t>corrected_result = ($signed(a_in) &gt; $signed(b_in)) ? a_in : b_in;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18688"/>
            <a:ext cx="242316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3328416"/>
            <a:ext cx="221284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218688"/>
            <a:ext cx="8759952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3328416"/>
            <a:ext cx="854964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Correction present in fix_v1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21608"/>
            <a:ext cx="2423160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813048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CPOP / CTZ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721608"/>
            <a:ext cx="87599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35808" y="3813048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Count all 32 bits; scan CTZ from bit 0, default 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97096"/>
            <a:ext cx="2423160" cy="4526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288536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PACK / GREV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197096"/>
            <a:ext cx="8759952" cy="4526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35808" y="4288536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Restore halfword order / reverse all four bytes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72583"/>
            <a:ext cx="2423160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4764023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CSR write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672583"/>
            <a:ext cx="87599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5808" y="4764023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csr_imm ? b_in : a_in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48071"/>
            <a:ext cx="2423160" cy="4526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5239511"/>
            <a:ext cx="2212848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Control checks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148071"/>
            <a:ext cx="8759952" cy="45262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35808" y="5239511"/>
            <a:ext cx="8549640" cy="3566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Separate guard logic and required-control checks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C66A20"/>
                </a:solidFill>
                <a:latin typeface="Aptos"/>
              </a:defRPr>
            </a:pPr>
            <a:r>
              <a:t>Code changes exist; corrected-DUT regression closure is not established by this evidence.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05 / CORRECT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When can we honestly call a bug fixed?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A code edit is the start of closure, not the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0292" cy="2441448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C66A20"/>
                </a:solidFill>
                <a:latin typeface="Aptos"/>
              </a:defRPr>
            </a:pPr>
            <a:r>
              <a:t>1  Reproduce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Original DUT fails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Same test and seed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55848" y="2240280"/>
            <a:ext cx="50292" cy="2441448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087F83"/>
                </a:solidFill>
                <a:latin typeface="Aptos"/>
              </a:defRPr>
            </a:pPr>
            <a:r>
              <a:t>2  Retest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Corrected DUT passes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Same expected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08776" y="2240280"/>
            <a:ext cx="50292" cy="244144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2563B7"/>
                </a:solidFill>
                <a:latin typeface="Aptos"/>
              </a:defRPr>
            </a:pPr>
            <a:r>
              <a:t>3  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Related boundaries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Full regression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2240280"/>
            <a:ext cx="2633472" cy="2441448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61704" y="2240280"/>
            <a:ext cx="50292" cy="2441448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44584" y="2377440"/>
            <a:ext cx="2267712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7352AD"/>
                </a:solidFill>
                <a:latin typeface="Aptos"/>
              </a:defRPr>
            </a:pPr>
            <a:r>
              <a:t>4 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953512"/>
            <a:ext cx="2267712" cy="165506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Source + seed + logs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000" b="0">
                <a:solidFill>
                  <a:srgbClr val="20334E"/>
                </a:solidFill>
                <a:latin typeface="Aptos"/>
              </a:defRPr>
            </a:pPr>
            <a:r>
              <a:t>Update bug disposition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C66A20"/>
                </a:solidFill>
                <a:latin typeface="Aptos"/>
              </a:defRPr>
            </a:pPr>
            <a:r>
              <a:t>Current status: nine original-DUT bugs open; fix_v1 remains exploratory.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05 /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What this verification 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A traceable path from requirements to reproducible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84248"/>
            <a:ext cx="5486400" cy="320040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0292" cy="32004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087F83"/>
                </a:solidFill>
                <a:latin typeface="Aptos"/>
              </a:defRPr>
            </a:pPr>
            <a:r>
              <a:t>Established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24140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17 operation classes exercised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865 predictor self-checks passed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562 functional bins exercised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Nine reproducible DUT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84248"/>
            <a:ext cx="5486400" cy="320040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84248"/>
            <a:ext cx="50292" cy="3200400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5120640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500" b="1">
                <a:solidFill>
                  <a:srgbClr val="C66A20"/>
                </a:solidFill>
                <a:latin typeface="Aptos"/>
              </a:defRPr>
            </a:pPr>
            <a:r>
              <a:t>Still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97480"/>
            <a:ext cx="5120640" cy="24140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Original RTL defects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Corrected-DUT validation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Incomplete toggle coverage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400" b="0">
                <a:solidFill>
                  <a:srgbClr val="20334E"/>
                </a:solidFill>
                <a:latin typeface="Aptos"/>
              </a:defRPr>
            </a:pPr>
            <a:r>
              <a:t>Three documented assumptions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1">
                <a:solidFill>
                  <a:srgbClr val="2563B7"/>
                </a:solidFill>
                <a:latin typeface="Aptos"/>
              </a:defRPr>
            </a:pPr>
            <a:r>
              <a:t>The deliverable is reproducible verification evidence, with clear limits and open findings.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APPENDIX /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Operation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32-bit results; shift/index uses b[4:0]; arithmetic wraps modulo 2³².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315468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11680"/>
            <a:ext cx="294436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Family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901952"/>
            <a:ext cx="8028431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2011680"/>
            <a:ext cx="7818119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Expected behavior / legal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04872"/>
            <a:ext cx="315468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OR / XOR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04872"/>
            <a:ext cx="8028431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2496312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Normal b, or inverted b with zbb=1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16936"/>
            <a:ext cx="3154680" cy="48920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008376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SRL / SRA / ROR / BINV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916936"/>
            <a:ext cx="8028431" cy="48920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7328" y="3008376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Logical / arithmetic / rotate / invert indexed bit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29000"/>
            <a:ext cx="315468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520440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SH2ADD / SUB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429000"/>
            <a:ext cx="8028431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7328" y="3520440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(a&lt;&lt;2)+b with ZBA; a-b without ZBA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41064"/>
            <a:ext cx="3154680" cy="48920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4032504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SLT / MAX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941064"/>
            <a:ext cx="8028431" cy="48920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67328" y="4032504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Require SUB; SLT allows unsigned; MAX is signed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53128"/>
            <a:ext cx="315468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4544568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CTZ / CPOP / SEXT.B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453128"/>
            <a:ext cx="8028431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67328" y="4544568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Trailing zeros (zero→32); set bits; sign-extend bit 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65192"/>
            <a:ext cx="3154680" cy="48920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056632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PACK / GREV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965192"/>
            <a:ext cx="8028431" cy="48920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67328" y="5056632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{b[15:0],a[15:0]}; byte reverse for b[4:0]=24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477256"/>
            <a:ext cx="3154680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5568696"/>
            <a:ext cx="2944368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CSR read / write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5477256"/>
            <a:ext cx="8028431" cy="4892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67328" y="5568696"/>
            <a:ext cx="7818119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Pure bypass; write selects b if immediate else a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APPENDIX /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Bug evidence: data-path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All examples reproduced on the original DUT, seed 1. Hex values have a 0x prefix.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01168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180136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965960"/>
            <a:ext cx="438912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4328" y="2075688"/>
            <a:ext cx="4178807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Stimulus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965960"/>
            <a:ext cx="4782312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2075688"/>
            <a:ext cx="457200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Expected → 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201168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001 CPOP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468880"/>
            <a:ext cx="438912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24328" y="256032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a=0xFFFF0000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468880"/>
            <a:ext cx="4782312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3448" y="256032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16 →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201168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10896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002 PACK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3017520"/>
            <a:ext cx="438912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24328" y="310896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a=0x1234, b=0x5678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017520"/>
            <a:ext cx="4782312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8" y="310896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0x56781234 → 0x12345678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66160"/>
            <a:ext cx="201168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003 CSR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3566160"/>
            <a:ext cx="438912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24328" y="365760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a=0x33334444, b=0x11112222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566160"/>
            <a:ext cx="4782312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13448" y="365760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Immediate and register sources reversed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14800"/>
            <a:ext cx="201168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4206240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005 GREV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4114800"/>
            <a:ext cx="438912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24328" y="4206240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a=0x12345678, b=24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114800"/>
            <a:ext cx="4782312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13448" y="4206240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0x78563412 → 0x56781234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663440"/>
            <a:ext cx="201168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754879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009 CTZ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4663440"/>
            <a:ext cx="438912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24328" y="4754879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a=1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4663440"/>
            <a:ext cx="4782312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13448" y="4754879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 →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212079"/>
            <a:ext cx="201168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" y="5303519"/>
            <a:ext cx="180136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010 MAX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5212079"/>
            <a:ext cx="438912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24328" y="5303519"/>
            <a:ext cx="4178807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a=10, b=20; max+sub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5212079"/>
            <a:ext cx="4782312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13448" y="5303519"/>
            <a:ext cx="457200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20 → 10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APPENDIX /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Bug evidence: control guards and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Invalid captured requests require zero result and error=1 under the adopted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19456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198424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965960"/>
            <a:ext cx="4416552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2075688"/>
            <a:ext cx="4206240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Invalid request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4032" y="1965960"/>
            <a:ext cx="457200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2075688"/>
            <a:ext cx="436168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219456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198424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006 • 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468880"/>
            <a:ext cx="4416552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7208" y="2560320"/>
            <a:ext cx="420624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Empty ap; no CSR 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4032" y="2468880"/>
            <a:ext cx="45720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2560320"/>
            <a:ext cx="436168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error=0 instead of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219456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108960"/>
            <a:ext cx="198424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007 • Major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3017520"/>
            <a:ext cx="4416552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3108960"/>
            <a:ext cx="420624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SLT or MAX without SUB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4032" y="3017520"/>
            <a:ext cx="4572000" cy="52578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3108960"/>
            <a:ext cx="436168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error=0; MAX may return nonzero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66160"/>
            <a:ext cx="219456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198424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008 • Major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3566160"/>
            <a:ext cx="4416552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7208" y="3657600"/>
            <a:ext cx="4206240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GREV with b[4:0]=5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4032" y="3566160"/>
            <a:ext cx="4572000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3657600"/>
            <a:ext cx="4361688" cy="4297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Aptos"/>
              </a:defRPr>
            </a:pPr>
            <a:r>
              <a:t>error=0 under CLARIF-004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34256"/>
            <a:ext cx="11183112" cy="1207008"/>
          </a:xfrm>
          <a:prstGeom prst="roundRect">
            <a:avLst>
              <a:gd name="adj" fmla="val 12000"/>
            </a:avLst>
          </a:prstGeom>
          <a:solidFill>
            <a:srgbClr val="F0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4334256"/>
            <a:ext cx="50292" cy="1207008"/>
          </a:xfrm>
          <a:prstGeom prst="rect">
            <a:avLst/>
          </a:prstGeom>
          <a:solidFill>
            <a:srgbClr val="735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425696"/>
            <a:ext cx="10817352" cy="3931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100" b="1">
                <a:solidFill>
                  <a:srgbClr val="7352AD"/>
                </a:solidFill>
                <a:latin typeface="Aptos"/>
              </a:defRPr>
            </a:pPr>
            <a:r>
              <a:t>Recorded assumptions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92040"/>
            <a:ext cx="10817352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001: timing/reset/scan   •   004: invalid GREV   •   005: pure CSR read versus conflict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APPENDIX /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Assertion and coverage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Use properties, functional bins, and code metrics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577840" cy="3648456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5212079" cy="337413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reset_suppresses_error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reset_clears_result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result_holds_when_invalid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valid_result_is_registered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one_primary_operation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empty_valid_request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live_error_when_invalid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csr_conflict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sh2add_requires_zba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sub_rejects_zba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slt_requires_sub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max_requires_sub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20334E"/>
                </a:solidFill>
                <a:latin typeface="Consolas"/>
              </a:defRPr>
            </a:pPr>
            <a:r>
              <a:t>grev_encoding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965960"/>
            <a:ext cx="5358384" cy="1600200"/>
          </a:xfrm>
          <a:prstGeom prst="roundRect">
            <a:avLst>
              <a:gd name="adj" fmla="val 12000"/>
            </a:avLst>
          </a:prstGeom>
          <a:solidFill>
            <a:srgbClr val="E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27648" y="1965960"/>
            <a:ext cx="50292" cy="16002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03120"/>
            <a:ext cx="4992624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087F83"/>
                </a:solidFill>
                <a:latin typeface="Aptos"/>
              </a:defRPr>
            </a:pPr>
            <a:r>
              <a:t>Functional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79191"/>
            <a:ext cx="4992624" cy="81381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Operations × patterns; valid/error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900" b="0">
                <a:solidFill>
                  <a:srgbClr val="20334E"/>
                </a:solidFill>
                <a:latin typeface="Aptos"/>
              </a:defRPr>
            </a:pPr>
            <a:r>
              <a:t>Shift/index; CTZ/CPOP count;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794760"/>
            <a:ext cx="5358384" cy="181051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3794760"/>
            <a:ext cx="50292" cy="1810512"/>
          </a:xfrm>
          <a:prstGeom prst="rect">
            <a:avLst/>
          </a:prstGeom>
          <a:solidFill>
            <a:srgbClr val="C66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931920"/>
            <a:ext cx="4992624" cy="44805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2200" b="1">
                <a:solidFill>
                  <a:srgbClr val="C66A20"/>
                </a:solidFill>
                <a:latin typeface="Aptos"/>
              </a:defRPr>
            </a:pPr>
            <a:r>
              <a:t>Measurement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507992"/>
            <a:ext cx="4992624" cy="102412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11/13 assertion coverage ≠ pass 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3 scored expressions ≠ every expression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0">
                <a:solidFill>
                  <a:srgbClr val="20334E"/>
                </a:solidFill>
                <a:latin typeface="Aptos"/>
              </a:defRPr>
            </a:pPr>
            <a:r>
              <a:t>65.01% toggles; no FSM claim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APPENDIX /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Reproduce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Run from the repository root with Xcelium and a working Cadence license.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3291840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10817352" cy="30175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# Passing setup checks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make -C sim run TEST=bmu_model_self_test SEED=1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make -C sim run TEST=bmu_timing_reset_test SEED=1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# Full regression and isolated MAX failure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make -C sim regression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make -C sim run TEST=bmu_bug_010_test SEED=1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# Coverage extraction after the coverage 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20334E"/>
                </a:solidFill>
                <a:latin typeface="Consolas"/>
              </a:defRPr>
            </a:pPr>
            <a:r>
              <a:t>imc -exec sim/scripts/report_coverage.tcl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1">
                <a:solidFill>
                  <a:srgbClr val="C66A20"/>
                </a:solidFill>
                <a:latin typeface="Aptos"/>
              </a:defRPr>
            </a:pPr>
            <a:r>
              <a:t>Expected DUT failures remain failures. Zero UVM fatals does not mean every test passed.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058400" cy="27432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1">
                <a:solidFill>
                  <a:srgbClr val="087F83"/>
                </a:solidFill>
                <a:latin typeface="Aptos"/>
              </a:defRPr>
            </a:pPr>
            <a:r>
              <a:t>APPENDIX /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064240" cy="62179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3000" b="1">
                <a:solidFill>
                  <a:srgbClr val="20334E"/>
                </a:solidFill>
                <a:latin typeface="Aptos"/>
              </a:defRPr>
            </a:pPr>
            <a:r>
              <a:t>Where to find the supporting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11064240" cy="539496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700" b="0">
                <a:solidFill>
                  <a:srgbClr val="586B82"/>
                </a:solidFill>
                <a:latin typeface="Aptos"/>
              </a:defRPr>
            </a:pPr>
            <a:r>
              <a:t>The README is the project walkthrough; these files hold the detailed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8138160" cy="201168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900" b="0">
                <a:solidFill>
                  <a:srgbClr val="586B82"/>
                </a:solidFill>
                <a:latin typeface="Aptos"/>
              </a:defRPr>
            </a:pPr>
            <a:r>
              <a:t>BMU VERIFICATION  /  JHT127  /  ORIGINAL-DUT BASELINE: 22 SEP 2026</a:t>
            </a:r>
          </a:p>
        </p:txBody>
      </p:sp>
      <p:sp>
        <p:nvSpPr>
          <p:cNvPr id="7" name="TextBox 6">
            <a:hlinkClick r:id="rId3" action="ppaction://hlinksldjump"/>
          </p:cNvPr>
          <p:cNvSpPr txBox="1"/>
          <p:nvPr/>
        </p:nvSpPr>
        <p:spPr>
          <a:xfrm>
            <a:off x="10561320" y="6473952"/>
            <a:ext cx="640080" cy="237744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000" b="1">
                <a:solidFill>
                  <a:srgbClr val="2563B7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586B82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383280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075688"/>
            <a:ext cx="3172968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965960"/>
            <a:ext cx="7799831" cy="475488"/>
          </a:xfrm>
          <a:prstGeom prst="rect">
            <a:avLst/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95928" y="2075688"/>
            <a:ext cx="7589519" cy="301752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2563B7"/>
                </a:solidFill>
                <a:latin typeface="Aptos"/>
              </a:defRPr>
            </a:pPr>
            <a:r>
              <a:t>Repository artifact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68880"/>
            <a:ext cx="338328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560320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What was required?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468880"/>
            <a:ext cx="7799831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5928" y="2560320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docs/00_spec/BMU_Specification_v1.2.pdf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3383280" cy="516635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099816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What was tested?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008376"/>
            <a:ext cx="7799831" cy="516635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95928" y="3099816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docs/02_test_plan/BMU_Test_Plan.md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47872"/>
            <a:ext cx="338328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" y="3639312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What failed?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547872"/>
            <a:ext cx="7799831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95928" y="3639312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docs/04_bug_reports/BMU_Bug_Log.md + results/bugs/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87368"/>
            <a:ext cx="3383280" cy="516635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4178807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What ran?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087368"/>
            <a:ext cx="7799831" cy="516635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28" y="4178807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results/reports/regression_summary.csv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26864"/>
            <a:ext cx="338328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4718303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What produced the results?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4626864"/>
            <a:ext cx="7799831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95928" y="4718303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results/reports/run_manifest.json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66359"/>
            <a:ext cx="3383280" cy="516635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5257799"/>
            <a:ext cx="3172968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What are the limits?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5166359"/>
            <a:ext cx="7799831" cy="516635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95928" y="5257799"/>
            <a:ext cx="7589519" cy="420623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20334E"/>
                </a:solidFill>
                <a:latin typeface="Aptos"/>
              </a:defRPr>
            </a:pPr>
            <a:r>
              <a:t>docs/08_signoff/BMU_Signoff_Report.md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97296"/>
            <a:ext cx="11183112" cy="484632"/>
          </a:xfrm>
          <a:prstGeom prst="roundRect">
            <a:avLst>
              <a:gd name="adj" fmla="val 12000"/>
            </a:avLst>
          </a:prstGeom>
          <a:solidFill>
            <a:srgbClr val="EA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879592"/>
            <a:ext cx="10789920" cy="320040"/>
          </a:xfrm>
          <a:prstGeom prst="rect">
            <a:avLst/>
          </a:prstGeom>
          <a:noFill/>
        </p:spPr>
        <p:txBody>
          <a:bodyPr wrap="square" lIns="0" tIns="18288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2563B7"/>
                </a:solidFill>
                <a:latin typeface="Aptos"/>
              </a:defRPr>
            </a:pPr>
            <a:r>
              <a:t>Questions? Return to MENU to revisit any part of the verification story.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3014</Words>
  <Application>Microsoft Office PowerPoint</Application>
  <PresentationFormat>Widescreen</PresentationFormat>
  <Paragraphs>548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BMU Verification | From Specification to Bug Evidence</dc:title>
  <dc:subject>Training project: original-DUT verification, findings, and exploratory RTL corrections</dc:subject>
  <dc:creator>JHT127</dc:creator>
  <cp:keywords>BMU, SystemVerilog, UVM, verification, functional coverage</cp:keywords>
  <dc:description>generated using python-pptx</dc:description>
  <cp:lastModifiedBy>Luna Thaher</cp:lastModifiedBy>
  <cp:revision>2</cp:revision>
  <dcterms:created xsi:type="dcterms:W3CDTF">2013-01-27T09:14:16Z</dcterms:created>
  <dcterms:modified xsi:type="dcterms:W3CDTF">2026-09-23T12:22:27Z</dcterms:modified>
  <cp:category/>
</cp:coreProperties>
</file>