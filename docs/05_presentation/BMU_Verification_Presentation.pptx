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869680" y="914400"/>
            <a:ext cx="1828800" cy="1828800"/>
          </a:xfrm>
          <a:prstGeom prst="ellipse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2743200"/>
            <a:ext cx="2103120" cy="2103120"/>
          </a:xfrm>
          <a:prstGeom prst="ellipse">
            <a:avLst/>
          </a:prstGeom>
          <a:solidFill>
            <a:srgbClr val="CEEA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863840" y="3840480"/>
            <a:ext cx="1828800" cy="1828800"/>
          </a:xfrm>
          <a:prstGeom prst="ellipse">
            <a:avLst/>
          </a:prstGeom>
          <a:solidFill>
            <a:srgbClr val="DCD6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457200"/>
            <a:ext cx="4114800" cy="4572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b="1" sz="1100">
                <a:solidFill>
                  <a:srgbClr val="2A333D"/>
                </a:solidFill>
                <a:latin typeface="Aptos"/>
              </a:rPr>
              <a:t>VERIFICATION PROJECT | BMU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5943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3000">
                <a:solidFill>
                  <a:srgbClr val="2A333D"/>
                </a:solidFill>
                <a:latin typeface="Aptos"/>
              </a:rPr>
              <a:t>RISC-V BMU</a:t>
            </a:r>
          </a:p>
          <a:p>
            <a:r>
              <a:rPr sz="1800">
                <a:solidFill>
                  <a:srgbClr val="59708B"/>
                </a:solidFill>
                <a:latin typeface="Aptos"/>
              </a:rPr>
              <a:t>Design Verification Project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200400"/>
            <a:ext cx="2926080" cy="1371600"/>
          </a:xfrm>
          <a:prstGeom prst="roundRect">
            <a:avLst/>
          </a:prstGeom>
          <a:solidFill>
            <a:srgbClr val="FFE0BD"/>
          </a:solidFill>
          <a:ln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3310128"/>
            <a:ext cx="26060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Scope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Spec-driven verification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Bug tracking &amp; 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23360" y="3200400"/>
            <a:ext cx="2926080" cy="137160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87952" y="3310128"/>
            <a:ext cx="260604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Method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Assertions + coverage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Independent reference model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846320"/>
            <a:ext cx="6126480" cy="1097280"/>
          </a:xfrm>
          <a:prstGeom prst="roundRect">
            <a:avLst/>
          </a:prstGeom>
          <a:solidFill>
            <a:srgbClr val="DCD6F7"/>
          </a:solidFill>
          <a:ln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956048"/>
            <a:ext cx="5806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Core message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560320"/>
            <a:ext cx="2560320" cy="2194560"/>
          </a:xfrm>
          <a:prstGeom prst="roundRect">
            <a:avLst/>
          </a:prstGeom>
          <a:solidFill>
            <a:srgbClr val="FFFFFF"/>
          </a:solidFill>
          <a:ln w="1">
            <a:solidFill>
              <a:srgbClr val="F3B5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b="1" sz="1400">
                <a:solidFill>
                  <a:srgbClr val="2A333D"/>
                </a:solidFill>
              </a:rPr>
              <a:t>What I delivered</a:t>
            </a:r>
          </a:p>
          <a:p>
            <a:r>
              <a:rPr sz="1100">
                <a:solidFill>
                  <a:srgbClr val="59708B"/>
                </a:solidFill>
              </a:rPr>
              <a:t>UVM environment</a:t>
            </a:r>
          </a:p>
          <a:p>
            <a:r>
              <a:rPr sz="1100">
                <a:solidFill>
                  <a:srgbClr val="59708B"/>
                </a:solidFill>
              </a:rPr>
              <a:t>Real testbench</a:t>
            </a:r>
          </a:p>
          <a:p>
            <a:r>
              <a:rPr sz="1100">
                <a:solidFill>
                  <a:srgbClr val="59708B"/>
                </a:solidFill>
              </a:rPr>
              <a:t>Assertions</a:t>
            </a:r>
          </a:p>
          <a:p>
            <a:r>
              <a:rPr sz="1100">
                <a:solidFill>
                  <a:srgbClr val="59708B"/>
                </a:solidFill>
              </a:rPr>
              <a:t>Bug register</a:t>
            </a:r>
          </a:p>
          <a:p>
            <a:r>
              <a:rPr sz="1100">
                <a:solidFill>
                  <a:srgbClr val="59708B"/>
                </a:solidFill>
              </a:rPr>
              <a:t>CI checks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Project 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What I was trying to prove and why it mattered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303520" cy="3291840"/>
          </a:xfrm>
          <a:prstGeom prst="roundRect">
            <a:avLst/>
          </a:prstGeom>
          <a:solidFill>
            <a:srgbClr val="FFE0BD"/>
          </a:solidFill>
          <a:ln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47088"/>
            <a:ext cx="5029200" cy="3154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Validate the delivered BMU RTL against the spec.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Build a verification environment that checks the DUT independently.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Capture real defects with traceable evidence instead of assumptions.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Keep the original RTL intact and separate the fix investigation clearly.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Turn the repo into a portfolio-ready, professional engineering package.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828800"/>
            <a:ext cx="4389120" cy="210312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6832" y="1938528"/>
            <a:ext cx="406908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Why this matters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480560"/>
            <a:ext cx="4023360" cy="1280160"/>
          </a:xfrm>
          <a:prstGeom prst="roundRect">
            <a:avLst/>
          </a:prstGeom>
          <a:solidFill>
            <a:srgbClr val="DCD6F7"/>
          </a:solidFill>
          <a:ln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9712" y="4590288"/>
            <a:ext cx="37033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My contribution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Verification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From stimulus to scoreboard to bug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011680" cy="1371600"/>
          </a:xfrm>
          <a:prstGeom prst="roundRect">
            <a:avLst/>
          </a:prstGeom>
          <a:solidFill>
            <a:srgbClr val="FFE0BD"/>
          </a:solidFill>
          <a:ln w="1"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A333D"/>
                </a:solidFill>
              </a:rPr>
              <a:t>Spec + clarifications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2103120"/>
            <a:ext cx="2011680" cy="1371600"/>
          </a:xfrm>
          <a:prstGeom prst="roundRect">
            <a:avLst/>
          </a:prstGeom>
          <a:solidFill>
            <a:srgbClr val="CEEADD"/>
          </a:solidFill>
          <a:ln w="1"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A333D"/>
                </a:solidFill>
              </a:rPr>
              <a:t>UVM testbench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577840" y="2103120"/>
            <a:ext cx="2011680" cy="1371600"/>
          </a:xfrm>
          <a:prstGeom prst="roundRect">
            <a:avLst/>
          </a:prstGeom>
          <a:solidFill>
            <a:srgbClr val="DCD6F7"/>
          </a:solidFill>
          <a:ln w="1"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A333D"/>
                </a:solidFill>
              </a:rPr>
              <a:t>Reference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103120"/>
            <a:ext cx="2011680" cy="1371600"/>
          </a:xfrm>
          <a:prstGeom prst="roundRect">
            <a:avLst/>
          </a:prstGeom>
          <a:solidFill>
            <a:srgbClr val="FFFFFF"/>
          </a:solidFill>
          <a:ln w="1">
            <a:solidFill>
              <a:srgbClr val="C8C8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2A333D"/>
                </a:solidFill>
              </a:rPr>
              <a:t>Scoreboard / assertions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834640" y="2651760"/>
            <a:ext cx="822960" cy="228600"/>
          </a:xfrm>
          <a:prstGeom prst="rightArrow">
            <a:avLst/>
          </a:prstGeom>
          <a:solidFill>
            <a:srgbClr val="AF8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ight Arrow 10"/>
          <p:cNvSpPr/>
          <p:nvPr/>
        </p:nvSpPr>
        <p:spPr>
          <a:xfrm>
            <a:off x="5212080" y="2651760"/>
            <a:ext cx="822960" cy="228600"/>
          </a:xfrm>
          <a:prstGeom prst="rightArrow">
            <a:avLst/>
          </a:prstGeom>
          <a:solidFill>
            <a:srgbClr val="AF8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2651760"/>
            <a:ext cx="822960" cy="228600"/>
          </a:xfrm>
          <a:prstGeom prst="rightArrow">
            <a:avLst/>
          </a:prstGeom>
          <a:solidFill>
            <a:srgbClr val="AF80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05840" y="4389120"/>
            <a:ext cx="4572000" cy="1371600"/>
          </a:xfrm>
          <a:prstGeom prst="roundRect">
            <a:avLst/>
          </a:prstGeom>
          <a:solidFill>
            <a:srgbClr val="FFE0BD"/>
          </a:solidFill>
          <a:ln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70432" y="4498848"/>
            <a:ext cx="42519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What this gives us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Real mismatch detection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Traceable bug documentation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4389120"/>
            <a:ext cx="4572000" cy="137160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4498848"/>
            <a:ext cx="425196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What matters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What I actually tested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The repo contains real verification flows, not placeholders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669280" cy="356616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847088"/>
            <a:ext cx="5394960" cy="3429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Directed tests: nominal and error conditions.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Gap-check reproducer tests for known bug scenarios.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Corner and random legal/illegal sweeps.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Coverage-closure and regression-style runs.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Examples: bmu_gap_checks_test, bmu_nominal_directed_test, bmu_error_directed_test, bmu_coverage_closure_test.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4389120" cy="1920240"/>
          </a:xfrm>
          <a:prstGeom prst="roundRect">
            <a:avLst/>
          </a:prstGeom>
          <a:solidFill>
            <a:srgbClr val="FFE0BD"/>
          </a:solidFill>
          <a:ln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712" y="2029968"/>
            <a:ext cx="4069080" cy="1737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Test philosophy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389120"/>
            <a:ext cx="4389120" cy="1280160"/>
          </a:xfrm>
          <a:prstGeom prst="roundRect">
            <a:avLst/>
          </a:prstGeom>
          <a:solidFill>
            <a:srgbClr val="DCD6F7"/>
          </a:solidFill>
          <a:ln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39712" y="4498848"/>
            <a:ext cx="406908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Result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Assertions and CI quality gates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I made the repo more trustworthy, not just more complete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5120640" cy="3200400"/>
          </a:xfrm>
          <a:prstGeom prst="roundRect">
            <a:avLst/>
          </a:prstGeom>
          <a:solidFill>
            <a:srgbClr val="DCD6F7"/>
          </a:solidFill>
          <a:ln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938528"/>
            <a:ext cx="4846320" cy="3063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Assertions checked reset, valid gating, invalid control combinations, GREV rules, and co-requisite logic.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These caught protocol-level mistakes even before scoreboard mismatch analysis.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I also set up a CI guard for documentation quality and accidental RTL drift.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The local check was: Documentation checks passed.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That means the repo is not just a dump of files — it is a disciplined verification package.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920240"/>
            <a:ext cx="4389120" cy="1554480"/>
          </a:xfrm>
          <a:prstGeom prst="roundRect">
            <a:avLst/>
          </a:prstGeom>
          <a:solidFill>
            <a:srgbClr val="F3B5C2"/>
          </a:solidFill>
          <a:ln>
            <a:solidFill>
              <a:srgbClr val="F3B5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56832" y="2029968"/>
            <a:ext cx="40690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CI evidence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Markdown lint: 0 issues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No unapproved RTL drift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4023360"/>
            <a:ext cx="4389120" cy="146304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56832" y="4133088"/>
            <a:ext cx="40690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Why it matters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Defects I found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The evidence was real, traceable, and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45920"/>
            <a:ext cx="2743200" cy="2560320"/>
          </a:xfrm>
          <a:prstGeom prst="roundRect">
            <a:avLst/>
          </a:prstGeom>
          <a:solidFill>
            <a:srgbClr val="F3B5C2"/>
          </a:solidFill>
          <a:ln>
            <a:solidFill>
              <a:srgbClr val="F3B5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6112" y="1755648"/>
            <a:ext cx="242316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BMU-BUG-006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This is a critical guard issue.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645920"/>
            <a:ext cx="2560320" cy="2560320"/>
          </a:xfrm>
          <a:prstGeom prst="roundRect">
            <a:avLst/>
          </a:prstGeom>
          <a:solidFill>
            <a:srgbClr val="FFE0BD"/>
          </a:solidFill>
          <a:ln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13631" y="1755648"/>
            <a:ext cx="22402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BMU-BUG-007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The DUT did not enforce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1645920"/>
            <a:ext cx="2560320" cy="256032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73952" y="1755648"/>
            <a:ext cx="22402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BMU-BUG-009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1645920"/>
            <a:ext cx="2560320" cy="2560320"/>
          </a:xfrm>
          <a:prstGeom prst="roundRect">
            <a:avLst/>
          </a:prstGeom>
          <a:solidFill>
            <a:srgbClr val="DCD6F7"/>
          </a:solidFill>
          <a:ln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34272" y="1755648"/>
            <a:ext cx="224028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BMU-BUG-001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828800" y="4572000"/>
            <a:ext cx="8046720" cy="109728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993392" y="4681728"/>
            <a:ext cx="772668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Bug log status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Evidence and outputs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Numbers and logs I used to support the 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926080" cy="2103120"/>
          </a:xfrm>
          <a:prstGeom prst="roundRect">
            <a:avLst/>
          </a:prstGeom>
          <a:solidFill>
            <a:srgbClr val="FFE0BD"/>
          </a:solidFill>
          <a:ln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38528"/>
            <a:ext cx="26060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Regression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2 failed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from the directed regression run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0" y="1828800"/>
            <a:ext cx="2834640" cy="210312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79392" y="1938528"/>
            <a:ext cx="251460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Gap check run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real DUT behavior captured in logs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1828800"/>
            <a:ext cx="3840480" cy="2103120"/>
          </a:xfrm>
          <a:prstGeom prst="roundRect">
            <a:avLst/>
          </a:prstGeom>
          <a:solidFill>
            <a:srgbClr val="DCD6F7"/>
          </a:solidFill>
          <a:ln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79792" y="1938528"/>
            <a:ext cx="35204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Coverage snapshot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63.32%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bmu_coverage_closure_test_4</a:t>
            </a:r>
          </a:p>
          <a:p>
            <a:pPr algn="l">
              <a:spcAft>
                <a:spcPts val="400"/>
              </a:spcAft>
            </a:pPr>
            <a:r>
              <a:rPr sz="1050">
                <a:solidFill>
                  <a:srgbClr val="59708B"/>
                </a:solidFill>
                <a:latin typeface="Aptos"/>
              </a:rPr>
              <a:t>100.00% functional coverage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828800" y="4754880"/>
            <a:ext cx="8229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93392" y="4864608"/>
            <a:ext cx="79095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Professional statement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Extra work I completed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Not just tests — full project hygiene and documentation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5303520" cy="3383280"/>
          </a:xfrm>
          <a:prstGeom prst="roundRect">
            <a:avLst/>
          </a:prstGeom>
          <a:solidFill>
            <a:srgbClr val="FFE0BD"/>
          </a:solidFill>
          <a:ln>
            <a:solidFill>
              <a:srgbClr val="FFE0B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938528"/>
            <a:ext cx="5029200" cy="3246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Separated original RTL from fix-version investigation files.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Kept the original DUT untouched and clearly named the fix artifacts.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Organized docs, bug records, coverage summaries, and signoff material in a clean structure.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Created professional spreadsheet-style CSV deliverables for the test plan, verification plan, and bug log.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Polished the repo README and kept the project presentation-ready.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920240"/>
            <a:ext cx="4297680" cy="210312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48272" y="2029968"/>
            <a:ext cx="3977640" cy="1920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Repo care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640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2600">
                <a:solidFill>
                  <a:srgbClr val="2A333D"/>
                </a:solidFill>
                <a:latin typeface="Aptos"/>
              </a:rPr>
              <a:t>Important takeaway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32588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300">
                <a:solidFill>
                  <a:srgbClr val="59708B"/>
                </a:solidFill>
                <a:latin typeface="Aptos"/>
              </a:rPr>
              <a:t>I built a complete verification package, not just a code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52560" y="749808"/>
            <a:ext cx="20116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b="1" sz="1000">
                <a:solidFill>
                  <a:srgbClr val="AF8091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828800"/>
            <a:ext cx="5303520" cy="3474720"/>
          </a:xfrm>
          <a:prstGeom prst="roundRect">
            <a:avLst/>
          </a:prstGeom>
          <a:solidFill>
            <a:srgbClr val="DCD6F7"/>
          </a:solidFill>
          <a:ln>
            <a:solidFill>
              <a:srgbClr val="DCD6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1938528"/>
            <a:ext cx="502920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The project shows a complete verification lifecycle.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I traced the DUT to the spec, built tests, added assertions, and captured the bug evidence.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I also kept the fix investigation isolated, so the original delivered RTL remains honest and traceable.</a:t>
            </a:r>
          </a:p>
          <a:p>
            <a:pPr algn="l">
              <a:spcAft>
                <a:spcPts val="600"/>
              </a:spcAft>
            </a:pPr>
            <a:r>
              <a:rPr sz="1200">
                <a:solidFill>
                  <a:srgbClr val="2A333D"/>
                </a:solidFill>
                <a:latin typeface="Aptos"/>
              </a:rPr>
              <a:t>That is the kind of work professors expect to see in a serious verification project: clear thinking, evidence, and structure.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011680"/>
            <a:ext cx="4206240" cy="2743200"/>
          </a:xfrm>
          <a:prstGeom prst="roundRect">
            <a:avLst/>
          </a:prstGeom>
          <a:solidFill>
            <a:srgbClr val="CEEADD"/>
          </a:solidFill>
          <a:ln>
            <a:solidFill>
              <a:srgbClr val="CEEA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9712" y="2121408"/>
            <a:ext cx="3886200" cy="2560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1600">
                <a:solidFill>
                  <a:srgbClr val="2A333D"/>
                </a:solidFill>
                <a:latin typeface="Aptos"/>
              </a:rPr>
              <a:t>When I present this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F3B5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058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>
                <a:solidFill>
                  <a:srgbClr val="2A333D"/>
                </a:solidFill>
                <a:latin typeface="Aptos"/>
              </a:rPr>
              <a:t>Thank you</a:t>
            </a:r>
          </a:p>
          <a:p>
            <a:r>
              <a:rPr sz="1800">
                <a:solidFill>
                  <a:srgbClr val="59708B"/>
                </a:solidFill>
                <a:latin typeface="Aptos"/>
              </a:rPr>
              <a:t>Questions?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657600"/>
            <a:ext cx="10058400" cy="1463040"/>
          </a:xfrm>
          <a:prstGeom prst="roundRect">
            <a:avLst/>
          </a:prstGeom>
          <a:solidFill>
            <a:srgbClr val="FFFFFF"/>
          </a:solidFill>
          <a:ln w="1">
            <a:solidFill>
              <a:srgbClr val="F3B5C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>
                <a:solidFill>
                  <a:srgbClr val="2A333D"/>
                </a:solidFill>
                <a:latin typeface="Aptos"/>
              </a:rPr>
              <a:t>I can explain the verification flow, the bug logic, the CI checks, and the repo structure in under 10 minutes — while keeping it easy for non-experts to follow.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