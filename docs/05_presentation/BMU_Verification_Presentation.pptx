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914400"/>
            <a:ext cx="1828800" cy="1828800"/>
          </a:xfrm>
          <a:prstGeom prst="ellipse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2743200"/>
            <a:ext cx="2011680" cy="2011680"/>
          </a:xfrm>
          <a:prstGeom prst="ellipse">
            <a:avLst/>
          </a:prstGeom>
          <a:solidFill>
            <a:srgbClr val="CE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3840480"/>
            <a:ext cx="1828800" cy="1828800"/>
          </a:xfrm>
          <a:prstGeom prst="ellipse">
            <a:avLst/>
          </a:prstGeom>
          <a:solidFill>
            <a:srgbClr val="DCD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57200"/>
            <a:ext cx="4114800" cy="457200"/>
          </a:xfrm>
          <a:prstGeom prst="rect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100">
                <a:solidFill>
                  <a:srgbClr val="2A333D"/>
                </a:solidFill>
                <a:latin typeface="Aptos"/>
              </a:rPr>
              <a:t>VERIFICATION PROJECT | BMU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2A333D"/>
                </a:solidFill>
                <a:latin typeface="Aptos"/>
              </a:rPr>
              <a:t>RISC-V BMU</a:t>
            </a:r>
          </a:p>
          <a:p>
            <a:r>
              <a:rPr sz="1800">
                <a:solidFill>
                  <a:srgbClr val="59708B"/>
                </a:solidFill>
                <a:latin typeface="Aptos"/>
              </a:rPr>
              <a:t>Design Verification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2880360" cy="1463040"/>
          </a:xfrm>
          <a:prstGeom prst="roundRect">
            <a:avLst/>
          </a:prstGeom>
          <a:solidFill>
            <a:srgbClr val="FFE0BD"/>
          </a:solidFill>
          <a:ln>
            <a:solidFill>
              <a:srgbClr val="FF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310128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Scope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Spec-driven verification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Bug tracking &amp;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3200400"/>
            <a:ext cx="2880360" cy="1463040"/>
          </a:xfrm>
          <a:prstGeom prst="roundRect">
            <a:avLst/>
          </a:prstGeom>
          <a:solidFill>
            <a:srgbClr val="CEEADD"/>
          </a:solidFill>
          <a:ln>
            <a:solidFill>
              <a:srgbClr val="CEE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2231" y="3310128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Method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Assertions + coverage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Independent reference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0600"/>
            <a:ext cx="6035040" cy="1005840"/>
          </a:xfrm>
          <a:prstGeom prst="roundRect">
            <a:avLst/>
          </a:prstGeom>
          <a:solidFill>
            <a:srgbClr val="DCD6F7"/>
          </a:solidFill>
          <a:ln>
            <a:solidFill>
              <a:srgbClr val="DCD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910328"/>
            <a:ext cx="5715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Main message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Not just tests — a credible verification package.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560320"/>
            <a:ext cx="2560320" cy="2194560"/>
          </a:xfrm>
          <a:prstGeom prst="roundRect">
            <a:avLst/>
          </a:prstGeom>
          <a:solidFill>
            <a:srgbClr val="FFFFFF"/>
          </a:solidFill>
          <a:ln w="1">
            <a:solidFill>
              <a:srgbClr val="F3B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A333D"/>
                </a:solidFill>
              </a:rPr>
              <a:t>Actual project facts</a:t>
            </a:r>
          </a:p>
          <a:p>
            <a:r>
              <a:rPr sz="1100">
                <a:solidFill>
                  <a:srgbClr val="59708B"/>
                </a:solidFill>
              </a:rPr>
              <a:t>8 open bug IDs</a:t>
            </a:r>
          </a:p>
          <a:p>
            <a:r>
              <a:rPr sz="1100">
                <a:solidFill>
                  <a:srgbClr val="59708B"/>
                </a:solidFill>
              </a:rPr>
              <a:t>1 passed / 2 failed regression</a:t>
            </a:r>
          </a:p>
          <a:p>
            <a:r>
              <a:rPr sz="1100">
                <a:solidFill>
                  <a:srgbClr val="59708B"/>
                </a:solidFill>
              </a:rPr>
              <a:t>100% closure 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>
                <a:solidFill>
                  <a:srgbClr val="2A333D"/>
                </a:solidFill>
                <a:latin typeface="Aptos"/>
              </a:rPr>
              <a:t>What I accomplished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9708B"/>
                </a:solidFill>
                <a:latin typeface="Aptos"/>
              </a:rPr>
              <a:t>The project is not only about RTL; it is about verification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74980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AF8091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577840" cy="3474720"/>
          </a:xfrm>
          <a:prstGeom prst="roundRect">
            <a:avLst/>
          </a:prstGeom>
          <a:solidFill>
            <a:srgbClr val="FFE0BD"/>
          </a:solidFill>
          <a:ln>
            <a:solidFill>
              <a:srgbClr val="FF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5303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Built a UVM verification environment in tb/ for the BMU DUT.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Created directed and random tests for valid, invalid, corner, and guard cases.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Added protocol assertions to check reset, validity, and illegal-control behavior.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Captured real bug evidence in the bug register and kept the original DUT untouched.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Kept the repo clean, structured, and traceable for a professional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4297680" cy="1920240"/>
          </a:xfrm>
          <a:prstGeom prst="roundRect">
            <a:avLst/>
          </a:prstGeom>
          <a:solidFill>
            <a:srgbClr val="CEEADD"/>
          </a:solidFill>
          <a:ln>
            <a:solidFill>
              <a:srgbClr val="CEE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938528"/>
            <a:ext cx="39776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Why it matters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297680"/>
            <a:ext cx="4297680" cy="1280160"/>
          </a:xfrm>
          <a:prstGeom prst="roundRect">
            <a:avLst/>
          </a:prstGeom>
          <a:solidFill>
            <a:srgbClr val="DCD6F7"/>
          </a:solidFill>
          <a:ln>
            <a:solidFill>
              <a:srgbClr val="DCD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4407408"/>
            <a:ext cx="3977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Evidence-based stance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>
                <a:solidFill>
                  <a:srgbClr val="2A333D"/>
                </a:solidFill>
                <a:latin typeface="Aptos"/>
              </a:rPr>
              <a:t>Verification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9708B"/>
                </a:solidFill>
                <a:latin typeface="Aptos"/>
              </a:rPr>
              <a:t>Spec-driven flow with independent reference checking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74980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AF809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011680" cy="1280160"/>
          </a:xfrm>
          <a:prstGeom prst="roundRect">
            <a:avLst/>
          </a:prstGeom>
          <a:solidFill>
            <a:srgbClr val="FFE0BD"/>
          </a:solidFill>
          <a:ln w="1">
            <a:solidFill>
              <a:srgbClr val="FF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2A333D"/>
                </a:solidFill>
                <a:latin typeface="Aptos"/>
              </a:rPr>
              <a:t>Spec &amp; clarification 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286000"/>
            <a:ext cx="2011680" cy="1280160"/>
          </a:xfrm>
          <a:prstGeom prst="roundRect">
            <a:avLst/>
          </a:prstGeom>
          <a:solidFill>
            <a:srgbClr val="CEEADD"/>
          </a:solidFill>
          <a:ln w="1">
            <a:solidFill>
              <a:srgbClr val="CEE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2A333D"/>
                </a:solidFill>
                <a:latin typeface="Aptos"/>
              </a:rPr>
              <a:t>UVM testbench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2286000"/>
            <a:ext cx="2011680" cy="1280160"/>
          </a:xfrm>
          <a:prstGeom prst="roundRect">
            <a:avLst/>
          </a:prstGeom>
          <a:solidFill>
            <a:srgbClr val="DCD6F7"/>
          </a:solidFill>
          <a:ln w="1">
            <a:solidFill>
              <a:srgbClr val="DCD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2A333D"/>
                </a:solidFill>
                <a:latin typeface="Aptos"/>
              </a:rPr>
              <a:t>Reference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286000"/>
            <a:ext cx="2011680" cy="1280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C8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2A333D"/>
                </a:solidFill>
                <a:latin typeface="Aptos"/>
              </a:rPr>
              <a:t>Scoreboard + assertions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43200" y="2743200"/>
            <a:ext cx="640080" cy="228600"/>
          </a:xfrm>
          <a:prstGeom prst="rightArrow">
            <a:avLst/>
          </a:prstGeom>
          <a:solidFill>
            <a:srgbClr val="AF8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120640" y="2743200"/>
            <a:ext cx="640080" cy="228600"/>
          </a:xfrm>
          <a:prstGeom prst="rightArrow">
            <a:avLst/>
          </a:prstGeom>
          <a:solidFill>
            <a:srgbClr val="AF8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498079" y="2743200"/>
            <a:ext cx="640080" cy="228600"/>
          </a:xfrm>
          <a:prstGeom prst="rightArrow">
            <a:avLst/>
          </a:prstGeom>
          <a:solidFill>
            <a:srgbClr val="AF8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5029200" cy="1280160"/>
          </a:xfrm>
          <a:prstGeom prst="roundRect">
            <a:avLst/>
          </a:prstGeom>
          <a:solidFill>
            <a:srgbClr val="FFE0BD"/>
          </a:solidFill>
          <a:ln>
            <a:solidFill>
              <a:srgbClr val="FF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498848"/>
            <a:ext cx="4709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Why this is strong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389120"/>
            <a:ext cx="4389120" cy="1280160"/>
          </a:xfrm>
          <a:prstGeom prst="roundRect">
            <a:avLst/>
          </a:prstGeom>
          <a:solidFill>
            <a:srgbClr val="CEEADD"/>
          </a:solidFill>
          <a:ln>
            <a:solidFill>
              <a:srgbClr val="CEE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4498848"/>
            <a:ext cx="4069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Outcome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>
                <a:solidFill>
                  <a:srgbClr val="2A333D"/>
                </a:solidFill>
                <a:latin typeface="Aptos"/>
              </a:rPr>
              <a:t>Tests that actually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9708B"/>
                </a:solidFill>
                <a:latin typeface="Aptos"/>
              </a:rPr>
              <a:t>Real verification runs, not placeholders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74980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AF8091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3474720"/>
          </a:xfrm>
          <a:prstGeom prst="roundRect">
            <a:avLst/>
          </a:prstGeom>
          <a:solidFill>
            <a:srgbClr val="CEEADD"/>
          </a:solidFill>
          <a:ln>
            <a:solidFill>
              <a:srgbClr val="CEE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52120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bmu_gap_checks_test: targeted bug reproduction and mismatch capture.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bmu_nominal_directed_test: valid-operation nominal validation.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bmu_error_directed_test: invalid-control and guard checks.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bmu_legal_random_test and bmu_error_random_test: broad random legal/illegal sweeps.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bmu_coverage_closure_test: coverage-focused closure run with seed 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4389120" cy="1828800"/>
          </a:xfrm>
          <a:prstGeom prst="roundRect">
            <a:avLst/>
          </a:prstGeom>
          <a:solidFill>
            <a:srgbClr val="FFE0BD"/>
          </a:solidFill>
          <a:ln>
            <a:solidFill>
              <a:srgbClr val="FF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938528"/>
            <a:ext cx="4069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Test philosophy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206240"/>
            <a:ext cx="4389120" cy="1280160"/>
          </a:xfrm>
          <a:prstGeom prst="roundRect">
            <a:avLst/>
          </a:prstGeom>
          <a:solidFill>
            <a:srgbClr val="DCD6F7"/>
          </a:solidFill>
          <a:ln>
            <a:solidFill>
              <a:srgbClr val="DCD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4315968"/>
            <a:ext cx="4069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>
                <a:solidFill>
                  <a:srgbClr val="2A333D"/>
                </a:solidFill>
                <a:latin typeface="Aptos"/>
              </a:rPr>
              <a:t>Assertions and CI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9708B"/>
                </a:solidFill>
                <a:latin typeface="Aptos"/>
              </a:rPr>
              <a:t>I improved the verification quality and repo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74980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AF8091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566160"/>
          </a:xfrm>
          <a:prstGeom prst="roundRect">
            <a:avLst/>
          </a:prstGeom>
          <a:solidFill>
            <a:srgbClr val="DCD6F7"/>
          </a:solidFill>
          <a:ln>
            <a:solidFill>
              <a:srgbClr val="DCD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Assertions checked reset behavior, valid gating, GREV invalid encoding, and SUB co-requisites.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The bug register documents issues such as invalid guard acceptance and CTZ mismatch.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The CI docs check ran locally and returned: Documentation checks passed.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The guard also rejects unapproved RTL drift under rtl/ beyond the approved 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389120" cy="1645920"/>
          </a:xfrm>
          <a:prstGeom prst="roundRect">
            <a:avLst/>
          </a:prstGeom>
          <a:solidFill>
            <a:srgbClr val="F3B5C2"/>
          </a:solidFill>
          <a:ln>
            <a:solidFill>
              <a:srgbClr val="F3B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938528"/>
            <a:ext cx="4069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CI evidence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Documentation checks passed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No unapproved RTL drift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4389120" cy="1371600"/>
          </a:xfrm>
          <a:prstGeom prst="roundRect">
            <a:avLst/>
          </a:prstGeom>
          <a:solidFill>
            <a:srgbClr val="CEEADD"/>
          </a:solidFill>
          <a:ln>
            <a:solidFill>
              <a:srgbClr val="CEE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4133088"/>
            <a:ext cx="4069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Why it matters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>
                <a:solidFill>
                  <a:srgbClr val="2A333D"/>
                </a:solidFill>
                <a:latin typeface="Aptos"/>
              </a:rPr>
              <a:t>Key defects I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9708B"/>
                </a:solidFill>
                <a:latin typeface="Aptos"/>
              </a:rPr>
              <a:t>These are real, traceable, and left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74980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AF809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560320" cy="2468880"/>
          </a:xfrm>
          <a:prstGeom prst="roundRect">
            <a:avLst/>
          </a:prstGeom>
          <a:solidFill>
            <a:srgbClr val="F3B5C2"/>
          </a:solidFill>
          <a:ln>
            <a:solidFill>
              <a:srgbClr val="F3B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2240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BMU-BUG-006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This is a critical guard issue.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2468880"/>
          </a:xfrm>
          <a:prstGeom prst="roundRect">
            <a:avLst/>
          </a:prstGeom>
          <a:solidFill>
            <a:srgbClr val="FFE0BD"/>
          </a:solidFill>
          <a:ln>
            <a:solidFill>
              <a:srgbClr val="FF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1755648"/>
            <a:ext cx="2240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BMU-BUG-007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The DUT did not enforce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2560320" cy="2468880"/>
          </a:xfrm>
          <a:prstGeom prst="roundRect">
            <a:avLst/>
          </a:prstGeom>
          <a:solidFill>
            <a:srgbClr val="CEEADD"/>
          </a:solidFill>
          <a:ln>
            <a:solidFill>
              <a:srgbClr val="CEE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755648"/>
            <a:ext cx="2240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BMU-BUG-009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645920"/>
            <a:ext cx="1828800" cy="2468880"/>
          </a:xfrm>
          <a:prstGeom prst="roundRect">
            <a:avLst/>
          </a:prstGeom>
          <a:solidFill>
            <a:srgbClr val="DCD6F7"/>
          </a:solidFill>
          <a:ln>
            <a:solidFill>
              <a:srgbClr val="DCD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82912" y="1755648"/>
            <a:ext cx="15087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BMU-BUG-001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4572000"/>
            <a:ext cx="7863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6272" y="4681728"/>
            <a:ext cx="7543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>
                <a:solidFill>
                  <a:srgbClr val="2A333D"/>
                </a:solidFill>
                <a:latin typeface="Aptos"/>
              </a:rPr>
              <a:t>Measured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9708B"/>
                </a:solidFill>
                <a:latin typeface="Aptos"/>
              </a:rPr>
              <a:t>These numbers come from the project logs and coverage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74980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AF8091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2011680"/>
          </a:xfrm>
          <a:prstGeom prst="roundRect">
            <a:avLst/>
          </a:prstGeom>
          <a:solidFill>
            <a:srgbClr val="FFE0BD"/>
          </a:solidFill>
          <a:ln>
            <a:solidFill>
              <a:srgbClr val="FF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2606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Regression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2 failed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from the directed regression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828800"/>
            <a:ext cx="2743200" cy="2011680"/>
          </a:xfrm>
          <a:prstGeom prst="roundRect">
            <a:avLst/>
          </a:prstGeom>
          <a:solidFill>
            <a:srgbClr val="CEEADD"/>
          </a:solidFill>
          <a:ln>
            <a:solidFill>
              <a:srgbClr val="CEE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6512" y="1938528"/>
            <a:ext cx="2423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Gap check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63.32% functional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828800"/>
            <a:ext cx="3931920" cy="2011680"/>
          </a:xfrm>
          <a:prstGeom prst="roundRect">
            <a:avLst/>
          </a:prstGeom>
          <a:solidFill>
            <a:srgbClr val="DCD6F7"/>
          </a:solidFill>
          <a:ln>
            <a:solidFill>
              <a:srgbClr val="DCD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1938528"/>
            <a:ext cx="3611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Closure run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100.00% functional coverage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59708B"/>
                </a:solidFill>
                <a:latin typeface="Aptos"/>
              </a:rPr>
              <a:t>seed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4572000"/>
            <a:ext cx="8961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4681728"/>
            <a:ext cx="8641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Professional interpretation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>
                <a:solidFill>
                  <a:srgbClr val="2A333D"/>
                </a:solidFill>
                <a:latin typeface="Aptos"/>
              </a:rPr>
              <a:t>Repo structure and project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9708B"/>
                </a:solidFill>
                <a:latin typeface="Aptos"/>
              </a:rPr>
              <a:t>The work is organized for review, not just for code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74980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AF8091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3383280"/>
          </a:xfrm>
          <a:prstGeom prst="roundRect">
            <a:avLst/>
          </a:prstGeom>
          <a:solidFill>
            <a:srgbClr val="FFE0BD"/>
          </a:solidFill>
          <a:ln>
            <a:solidFill>
              <a:srgbClr val="FF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50292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rtl/ contains the original RTL plus clearly isolated fix-version artifacts.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tb/ contains the UVM environment, interface, packages, assertions, and tests.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docs/ holds the spec, verification plan, bug register, coverage, signoff, and presentation files.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results/ stores simulator logs, coverage results, and bug evidence.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The repo is structured to make the story easy to defend during review or presentation.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4480560" cy="2194560"/>
          </a:xfrm>
          <a:prstGeom prst="roundRect">
            <a:avLst/>
          </a:prstGeom>
          <a:solidFill>
            <a:srgbClr val="CEEADD"/>
          </a:solidFill>
          <a:ln>
            <a:solidFill>
              <a:srgbClr val="CEE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2029968"/>
            <a:ext cx="4160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Extra effort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>
                <a:solidFill>
                  <a:srgbClr val="2A333D"/>
                </a:solidFill>
                <a:latin typeface="Apto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9708B"/>
                </a:solidFill>
                <a:latin typeface="Aptos"/>
              </a:rPr>
              <a:t>This is a complete verification story, not just a code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74980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AF8091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5486400" cy="3383280"/>
          </a:xfrm>
          <a:prstGeom prst="roundRect">
            <a:avLst/>
          </a:prstGeom>
          <a:solidFill>
            <a:srgbClr val="DCD6F7"/>
          </a:solidFill>
          <a:ln>
            <a:solidFill>
              <a:srgbClr val="DCD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38528"/>
            <a:ext cx="5212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I traced the DUT against the specification and the clarification log.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I built the testbench, assertions, coverage flow, and evidence package.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I captured the defects honestly and kept the original RTL separate from the fix investigation.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2A333D"/>
                </a:solidFill>
                <a:latin typeface="Aptos"/>
              </a:rPr>
              <a:t>That is exactly the kind of engineering narrative professors want to hear: evidence, structure, and honesty.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828800"/>
            <a:ext cx="3749039" cy="2651760"/>
          </a:xfrm>
          <a:prstGeom prst="roundRect">
            <a:avLst/>
          </a:prstGeom>
          <a:solidFill>
            <a:srgbClr val="CEEADD"/>
          </a:solidFill>
          <a:ln>
            <a:solidFill>
              <a:srgbClr val="CEE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2" y="1938528"/>
            <a:ext cx="342899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600">
                <a:solidFill>
                  <a:srgbClr val="2A333D"/>
                </a:solidFill>
                <a:latin typeface="Aptos"/>
              </a:rPr>
              <a:t>Presenter note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A333D"/>
                </a:solidFill>
                <a:latin typeface="Aptos"/>
              </a:rPr>
              <a:t>Thank you</a:t>
            </a:r>
          </a:p>
          <a:p>
            <a:r>
              <a:rPr sz="1800">
                <a:solidFill>
                  <a:srgbClr val="59708B"/>
                </a:solidFill>
                <a:latin typeface="Aptos"/>
              </a:rP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10058400" cy="1463040"/>
          </a:xfrm>
          <a:prstGeom prst="roundRect">
            <a:avLst/>
          </a:prstGeom>
          <a:solidFill>
            <a:srgbClr val="FFFFFF"/>
          </a:solidFill>
          <a:ln w="1">
            <a:solidFill>
              <a:srgbClr val="F3B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A333D"/>
                </a:solidFill>
                <a:latin typeface="Aptos"/>
              </a:rPr>
              <a:t>This project shows a real verification workflow: spec -&gt; test -&gt; compare -&gt; evidence -&gt; documented defects.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